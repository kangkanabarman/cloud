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examiners and colleagues. Welcome to the technical evaluation presentation for MediCloud, our Cloud-Based Hospital Management System designed for the FT-III Cloud Computing curriculum.
This presentation is strictly organized into the three evaluation criteria outlined in the assessment rubric:
1. Problem Analysis &amp; Cloud Design (2 Marks)
2. Implementation &amp; Technical Execution (4 Marks)
3. Results &amp; Technical Evaluation (2 Marks)
Across the next slides, we will demonstrate both our conceptual cloud design for an enterprise AWS production deployment and our fully functioning prototype with automated verification tests and benchmarked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slide 2, we establish the problem space that motivated MediCloud. Legacy healthcare infrastructure suffers from 4 fundamental vulnerabilities:
1. Single Point of Failure: Most small and medium clinics rely on a single physical server in a backroom closet. If the power supply dies or a hard drive fails, the hospital goes dark.
2. Privacy Breaches: Without strict role-based isolation, any receptionist or billing agent can read confidential diagnostic notes and prescriptions.
3. Rigid Capacity: On peak mornings, doctors trying to enter consultations encounter database lockups and high latencies.
4. Deficient Disaster Recovery: Manual backups are rarely tested, and recovery takes days.
MediCloud was designed from the ground up to eliminate these risks using enterprise cloud paradigms.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breaks down our technical requirements into Functional and Non-Functional specifications.
On the Functional side, the system must support 3 distinct roles: Administrators, Doctors, and Receptionists. A key requirement is FR-04: Clinical records must be accessible only to authenticated clinicians, while Receptionists must receive a hard 403 Forbidden denial.
On the Non-Functional side, healthcare operations demand rigorous reliability: 99.95% target availability, RTO under 15 minutes, RPO under 5 minutes, sub-millisecond query retrieval, and defense-in-depth cryptography including bcrypt-12 hashing and KMS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addresses the rubric requirement for 'Selection of IaaS/PaaS/SaaS'.
We compared all three paradigms against four critical healthcare criteria: maintenance overhead, architectural control, data privacy, and cost.
Why not raw IaaS (EC2 VMs)? Setting up manual MySQL replication across data centers, writing failover watchdog scripts, and handling OS security patches introduces unacceptable human error risk.
Why not SaaS? Commercial SaaS hospital platforms are expensive per-seat licenses, store clinical data in black-box multi-tenant environments, and prevent custom RBAC extensions.
Our Selection: A Managed PaaS Hybrid. AWS Elastic Beanstalk for compute, Amazon RDS Multi-AZ for managed relational data, and Amazon S3 for document storage. This provides the optimal sweet spot: enterprise resilience, full code sovereignty, and minimal operational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provides the complete end-to-end architectural blueprint of our proposed AWS deployment.
Traffic flows cleanly through 6 decoupled tiers:
- Tier 1 (Edge): Route 53 routes requests through AWS WAF to filter malicious queries and CloudFront for edge caching.
- Tier 2 (Ingress): Application Load Balancer distributes requests across two Availability Zones.
- Tier 3 (Compute): Elastic Beanstalk autoscales Node.js instances in private subnets.
- Tier 4 (Data): Amazon RDS MySQL 8.0 synchronously replicates commits between AZ-A and AZ-B.
- Tier 5 (Storage): S3 stores attachments using KMS Customer Managed Keys.
- Tier 6 (Telemetry): CloudWatch alarms and CloudTrail ensure strict auditability.
This architecture achieves true defense-in-depth and zero single point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Section 2: Implementation &amp; Technical Execution (4 Marks).
Slide 6 illustrates our network security design using Amazon VPC. We partitioned our 10.0.0.0/16 address space into 3 distinct tiers across 2 Availability Zones:
1. Public Subnets: Only host the ALB and NAT Gateways.
2. Private App Subnets: Host our Elastic Beanstalk EC2 instances. Crucially, they possess zero public IP addresses, eliminating direct attack surfaces.
3. Private DB Subnets: Dedicated strictly to RDS MySQL with zero internet routing.
Notice the security group chaining on the right: Instead of using IP whitelists, sg-app only accepts port 8080 from sg-alb, and sg-db only accepts port 3306 from sg-app. Even if an attacker scans public IPs, the database is physically and logically unreachable.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showcases our configuration files and deployment execution.
In the project repository, we created .ebextensions/01_app.config which declares the Elastic Beanstalk environment:
- Node Version 20 running on Amazon Linux 2023 with an Nginx reverse proxy.
- Nginx handles compression and request forwarding to Node.js on port 8080.
- Procfile defines the web entrypoint.
- The ALB listener attaches an ACM SSL certificate and conducts health checks against /api/health.
If any application node experiences a database disconnect or unhandled exception, /api/health returns a non-200 code, and the Auto Scaling Group terminates and replaces the node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slide 8, we detail the database architecture and cloud migration pipeline.
We decoupled our database code in src/db/index.js. In local development, the application runs on SQLite with Write-Ahead Logging and enforced foreign keys.
For production deployment to Amazon RDS for MySQL 8.0, we developed an automated migration script: npm run migrate:mysql.
This script extracts all active tables, converts datatypes to MySQL InnoDB standards, and writes database/mysql_dump.sql.
The target Amazon RDS instance is configured as db.t3.medium with Multi-AZ synchronous replication and storage autoscaling, providing automated failover and PITR.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demonstrates our security architecture. Rather than relying on a single defensive measure, MediCloud enforces Defense-in-Depth across four pillars:
1. Password Hashing: Bcrypt with 12 salt rounds ensures passwords cannot be compromised through credential stuffing or leaked hash tables.
2. SQL Injection Immunity: Every single database interaction utilizes parameterized bindings. In our automated test suite, we simulate SQL injection strings like ' OR 1=1 -- and verify zero data leakage.
3. Session Protection: Express sessions are serialized into HttpOnly and SameSite=Lax cookies, completely blocking XSS script hijacking.
4. Rate Limiting &amp; Helmet: We throttle brute-force password guessing to 10 attempts per 15 minutes, and apply Helmet CSP and HSTS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details our Role-Based Access Control matrix.
A cornerstone of cloud healthcare governance is the Principle of Least Privilege:
- Receptionists can register patients and schedule appointments, but when attempting to query /api/medical-records, the server executes canAccessClinicalNotes and returns an immediate 403 Forbidden error.
- Doctors can author clinical notes and view their assigned patient roster, but cannot access administrative endpoints or trigger database snapshots.
- Administrators manage users, view non-sensitive audit trails, and trigger cryptographic backups.
Crucially, our RBAC checks are executed entirely on the server side in Express middleware, rendering client-side tampering completely ineffective.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highlights our automated testing and verification suite.
Rather than presenting unverified code, we built an exhaustive test suite using the Node.js native test runner and Supertest in tests/api.test.js:
- 30 tests across 9 test suites.
- 100% pass rate in under 2 seconds.
Crucially, our suite includes rigorous Negative Tests. We don't just test the happy path; we verify that unauthenticated calls receive 401, doctors accessing administrative user lists receive 403, and receptionists calling clinical endpoints receive 403.
We also test appointment constraints: scheduling an appointment in the past returns a 400 Bad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summarizes our working implementation spanning 12 distinct views.
The application is built with a Single Page Application (SPA) architecture using semantic HTML5, Vanilla CSS3 with custom properties, and modern modular ES6 JavaScript.
It features:
- An interactive Main Dashboard with live telemetry.
- Real-time Patient and Appointment management with past-date validation.
- Medical Records with live clinical note authoring for Doctors and simulated 403 Forbidden cards for Receptionists.
- Full Administrator user governance, audit logging, and cryptographic snapshot verification.
- Dedicated Cloud Architecture, Monitoring, and Evaluation pages with live in-browser benchmark runners.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Section 3: Results &amp; Technical Evaluation (2 Marks).
Slide 13 presents our empirical performance benchmark results, collected via GET /api/evaluation/benchmark-latency:
- Patient search queries execute in an average of 0.24ms.
- Complex relational join queries involving Appointments, Patients, and Doctors complete in 0.35ms.
- Total API health roundtrips average 1.2ms.
Why is it so fast? In local development, SQLite Write-Ahead Logging allows non-blocking concurrent reads.
When deployed to Amazon RDS MySQL Multi-AZ, intra-region fiber networking ensures sub-5ms roundtrip query latencies, delivering instantaneous page updates to doctors and nurses.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addresses Scalability and High Availability.
Scalability in MediCloud occurs on both compute and database tiers:
- On Compute: Elastic Beanstalk autoscales from a baseline of 2 instances up to 6 instances when response time exceeds 1.5 seconds or CPU exceeds 75%.
- On Database: Amazon RDS Storage Auto-Scaling automatically increases the gp3 volume size from 50GB up to 500GB without manual DBA intervention or downtime.
For High Availability, our target is a 99.95% SLA. By spreading ALB and RDS instances across two separate physical Availability Zones, hardware failures in AZ-A trigger an automatic DNS failover to the synchronous standby in AZ-B within 60 to 120 seconds with zero data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evaluates Disaster Recovery and Business Continuity against quantitative SLA targets:
1. Recovery Point Objective (RPO) &lt; 5 minutes: Achieved because Amazon RDS continuously streams binary transaction logs to S3. Even during a total server loss, uncommitted transactions are at most 5 minutes old.
2. Recovery Time Objective (RTO) &lt; 15 minutes: In a standard hardware outage, automatic failover takes just 60 to 120 seconds. In catastrophic corruption, full cluster recreation from S3 takes under 14 minutes.
In our local prototype, we implemented live snapshot triggers, SHA-256 cryptographic verification, and a mandatory pre-restore safeguard backup so that no restore can corrupt active clinical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presents our AWS Financial and Cost Analysis.
A frequent viva question in FT-III is: 'How much does your cloud solution actually cost?'
Using AWS Pricing Calculator benchmarks for US-East-1 on-demand pricing:
- Compute (2 x t3.small in ASG): $30.36/mo
- Application Load Balancer: $22.50/mo
- Managed RDS MySQL 8.0 db.t3.medium Multi-AZ: $98.40/mo (accounting for 50.7% of total cost, representing our high-availability insurance policy)
- S3 Storage &amp; KMS: $1.50/mo
- CloudWatch Monitoring: $7.20/mo
- NAT Gateway: $34.10/mo
Total On-Demand: $194.06 / month.
Furthermore, by adopting 1-Year Reserved Instances and AWS Compute Savings Plans, this budget drops to just $132.50/month.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delivers our Technical Justification and Compliance Matrix.
We evaluated MediCloud against 7 core healthcare information principles (ACC-01 through BC-01).
Every principle is validated in both our local prototype implementation and mapped to the target AWS cloud architecture.
For example, under INT-01 (Data Integrity), parameterized queries protect against SQL injection locally, while AWS WAF provides network-level SQLi inspection.
Under BC-01 (Contingency Planning), local SHA-256 snapshots correspond to automated Multi-AZ failover and 35-day PITR in Amazon 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presentation:
MediCloud successfully delivers across all three evaluation dimensions:
1. In Problem Analysis &amp; Cloud Design: We analyzed legacy hospital constraints, formalized functional &amp; non-functional requirements, justified our PaaS hybrid model, and architected an enterprise Multi-AZ VPC blueprint.
2. In Implementation &amp; Technical Execution: We developed a fully working 12-view application, verified 30 automated security tests, implemented deny-by-default RBAC, and engineered an automated SQLite-to-Amazon RDS MySQL migration pipeline.
3. In Results &amp; Evaluation: We benchmarked sub-millisecond query latencies, established an RPO under 5 minutes and RTO under 15 minutes, provided a transparent $194.06/month AWS cost breakdown, and technically justified compliance.
Thank you for your time. We are now open for viva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D9488"/>
          </a:solidFill>
          <a:ln w="12700">
            <a:solidFill>
              <a:srgbClr val="0D9488"/>
            </a:solidFill>
            <a:prstDash val="solid"/>
          </a:ln>
        </p:spPr>
      </p:sp>
      <p:sp>
        <p:nvSpPr>
          <p:cNvPr id="3" name="Shape 1"/>
          <p:cNvSpPr/>
          <p:nvPr/>
        </p:nvSpPr>
        <p:spPr>
          <a:xfrm>
            <a:off x="914400" y="914400"/>
            <a:ext cx="4206240" cy="347472"/>
          </a:xfrm>
          <a:prstGeom prst="roundRect">
            <a:avLst>
              <a:gd name="adj" fmla="val 39474"/>
            </a:avLst>
          </a:prstGeom>
          <a:solidFill>
            <a:srgbClr val="1E293B"/>
          </a:solidFill>
          <a:ln w="12700">
            <a:solidFill>
              <a:srgbClr val="0D9488"/>
            </a:solidFill>
            <a:prstDash val="solid"/>
          </a:ln>
        </p:spPr>
      </p:sp>
      <p:sp>
        <p:nvSpPr>
          <p:cNvPr id="4" name="Text 2"/>
          <p:cNvSpPr/>
          <p:nvPr/>
        </p:nvSpPr>
        <p:spPr>
          <a:xfrm>
            <a:off x="914400" y="914400"/>
            <a:ext cx="4206240" cy="347472"/>
          </a:xfrm>
          <a:prstGeom prst="rect">
            <a:avLst/>
          </a:prstGeom>
          <a:noFill/>
          <a:ln/>
        </p:spPr>
        <p:txBody>
          <a:bodyPr wrap="square" rtlCol="0" anchor="ctr"/>
          <a:lstStyle/>
          <a:p>
            <a:pPr algn="ctr" indent="0" marL="0">
              <a:buNone/>
            </a:pPr>
            <a:r>
              <a:rPr lang="en-US" sz="1000" b="1" dirty="0">
                <a:solidFill>
                  <a:srgbClr val="0D9488"/>
                </a:solidFill>
                <a:latin typeface="Arial" pitchFamily="34" charset="0"/>
                <a:ea typeface="Arial" pitchFamily="34" charset="-122"/>
                <a:cs typeface="Arial" pitchFamily="34" charset="-120"/>
              </a:rPr>
              <a:t>☁️ CLOUD COMPUTING FT-III • EVALUATION DECK</a:t>
            </a:r>
            <a:endParaRPr lang="en-US" sz="1000" dirty="0"/>
          </a:p>
        </p:txBody>
      </p:sp>
      <p:sp>
        <p:nvSpPr>
          <p:cNvPr id="5" name="Text 3"/>
          <p:cNvSpPr/>
          <p:nvPr/>
        </p:nvSpPr>
        <p:spPr>
          <a:xfrm>
            <a:off x="914400" y="1417320"/>
            <a:ext cx="10332720" cy="146304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MediCloud — Cloud-Based Hospital</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Management System (HMS)</a:t>
            </a:r>
            <a:endParaRPr lang="en-US" sz="3400" dirty="0"/>
          </a:p>
        </p:txBody>
      </p:sp>
      <p:sp>
        <p:nvSpPr>
          <p:cNvPr id="6" name="Text 4"/>
          <p:cNvSpPr/>
          <p:nvPr/>
        </p:nvSpPr>
        <p:spPr>
          <a:xfrm>
            <a:off x="914400" y="2971800"/>
            <a:ext cx="10332720" cy="457200"/>
          </a:xfrm>
          <a:prstGeom prst="rect">
            <a:avLst/>
          </a:prstGeom>
          <a:noFill/>
          <a:ln/>
        </p:spPr>
        <p:txBody>
          <a:bodyPr wrap="square" rtlCol="0" anchor="t"/>
          <a:lstStyle/>
          <a:p>
            <a:pPr indent="0" marL="0">
              <a:buNone/>
            </a:pPr>
            <a:r>
              <a:rPr lang="en-US" sz="1500" dirty="0">
                <a:solidFill>
                  <a:srgbClr val="94A3B8"/>
                </a:solidFill>
                <a:latin typeface="Arial" pitchFamily="34" charset="0"/>
                <a:ea typeface="Arial" pitchFamily="34" charset="-122"/>
                <a:cs typeface="Arial" pitchFamily="34" charset="-120"/>
              </a:rPr>
              <a:t>A Secure, Highly Available Multi-AZ Cloud Architecture &amp; Production Prototype</a:t>
            </a:r>
            <a:endParaRPr lang="en-US" sz="1500" dirty="0"/>
          </a:p>
        </p:txBody>
      </p:sp>
      <p:sp>
        <p:nvSpPr>
          <p:cNvPr id="7" name="Shape 5"/>
          <p:cNvSpPr/>
          <p:nvPr/>
        </p:nvSpPr>
        <p:spPr>
          <a:xfrm>
            <a:off x="914400" y="3566160"/>
            <a:ext cx="3291840" cy="2240280"/>
          </a:xfrm>
          <a:prstGeom prst="roundRect">
            <a:avLst>
              <a:gd name="adj" fmla="val 4082"/>
            </a:avLst>
          </a:prstGeom>
          <a:solidFill>
            <a:srgbClr val="132338"/>
          </a:solidFill>
          <a:ln w="12700">
            <a:solidFill>
              <a:srgbClr val="2A4365"/>
            </a:solidFill>
            <a:prstDash val="solid"/>
          </a:ln>
        </p:spPr>
      </p:sp>
      <p:sp>
        <p:nvSpPr>
          <p:cNvPr id="8" name="Shape 6"/>
          <p:cNvSpPr/>
          <p:nvPr/>
        </p:nvSpPr>
        <p:spPr>
          <a:xfrm>
            <a:off x="914400" y="3566160"/>
            <a:ext cx="3291840" cy="73152"/>
          </a:xfrm>
          <a:prstGeom prst="rect">
            <a:avLst/>
          </a:prstGeom>
          <a:solidFill>
            <a:srgbClr val="0D9488"/>
          </a:solidFill>
          <a:ln w="12700">
            <a:solidFill>
              <a:srgbClr val="0D9488"/>
            </a:solidFill>
            <a:prstDash val="solid"/>
          </a:ln>
        </p:spPr>
      </p:sp>
      <p:sp>
        <p:nvSpPr>
          <p:cNvPr id="9" name="Text 7"/>
          <p:cNvSpPr/>
          <p:nvPr/>
        </p:nvSpPr>
        <p:spPr>
          <a:xfrm>
            <a:off x="1097280" y="3703320"/>
            <a:ext cx="292608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Problem Analysis &amp; Cloud Design</a:t>
            </a:r>
            <a:endParaRPr lang="en-US" sz="1200" dirty="0"/>
          </a:p>
        </p:txBody>
      </p:sp>
      <p:sp>
        <p:nvSpPr>
          <p:cNvPr id="10" name="Shape 8"/>
          <p:cNvSpPr/>
          <p:nvPr/>
        </p:nvSpPr>
        <p:spPr>
          <a:xfrm>
            <a:off x="1097280" y="4160520"/>
            <a:ext cx="1097280" cy="228600"/>
          </a:xfrm>
          <a:prstGeom prst="roundRect">
            <a:avLst>
              <a:gd name="adj" fmla="val 20000"/>
            </a:avLst>
          </a:prstGeom>
          <a:solidFill>
            <a:srgbClr val="0D9488"/>
          </a:solidFill>
          <a:ln w="12700">
            <a:solidFill>
              <a:srgbClr val="0D9488"/>
            </a:solidFill>
            <a:prstDash val="solid"/>
          </a:ln>
        </p:spPr>
      </p:sp>
      <p:sp>
        <p:nvSpPr>
          <p:cNvPr id="11" name="Text 9"/>
          <p:cNvSpPr/>
          <p:nvPr/>
        </p:nvSpPr>
        <p:spPr>
          <a:xfrm>
            <a:off x="1097280" y="4160520"/>
            <a:ext cx="1097280" cy="2286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 MARKS</a:t>
            </a:r>
            <a:endParaRPr lang="en-US" sz="850" dirty="0"/>
          </a:p>
        </p:txBody>
      </p:sp>
      <p:sp>
        <p:nvSpPr>
          <p:cNvPr id="12" name="Text 10"/>
          <p:cNvSpPr/>
          <p:nvPr/>
        </p:nvSpPr>
        <p:spPr>
          <a:xfrm>
            <a:off x="1097280" y="4434840"/>
            <a:ext cx="2926080" cy="1280160"/>
          </a:xfrm>
          <a:prstGeom prst="rect">
            <a:avLst/>
          </a:prstGeom>
          <a:noFill/>
          <a:ln/>
        </p:spPr>
        <p:txBody>
          <a:bodyPr wrap="square" rtlCol="0" anchor="t"/>
          <a:lstStyle/>
          <a:p>
            <a:pPr indent="0" marL="0">
              <a:lnSpc>
                <a:spcPts val="1600"/>
              </a:lnSpc>
              <a:buNone/>
            </a:pPr>
            <a:r>
              <a:rPr lang="en-US" sz="950" dirty="0">
                <a:solidFill>
                  <a:srgbClr val="CBD5E1"/>
                </a:solidFill>
                <a:latin typeface="Arial" pitchFamily="34" charset="0"/>
                <a:ea typeface="Arial" pitchFamily="34" charset="-122"/>
                <a:cs typeface="Arial" pitchFamily="34" charset="-120"/>
              </a:rPr>
              <a:t>• Problem Identification &amp; Clinical Needs</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Functional &amp; Non-Functional Specs</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Multi-Tier Cloud Architecture</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Service Selection (IaaS / PaaS / SaaS)</a:t>
            </a:r>
            <a:endParaRPr lang="en-US" sz="950" dirty="0"/>
          </a:p>
        </p:txBody>
      </p:sp>
      <p:sp>
        <p:nvSpPr>
          <p:cNvPr id="13" name="Shape 11"/>
          <p:cNvSpPr/>
          <p:nvPr/>
        </p:nvSpPr>
        <p:spPr>
          <a:xfrm>
            <a:off x="4480560" y="3566160"/>
            <a:ext cx="3291840" cy="2240280"/>
          </a:xfrm>
          <a:prstGeom prst="roundRect">
            <a:avLst>
              <a:gd name="adj" fmla="val 4082"/>
            </a:avLst>
          </a:prstGeom>
          <a:solidFill>
            <a:srgbClr val="132338"/>
          </a:solidFill>
          <a:ln w="12700">
            <a:solidFill>
              <a:srgbClr val="2A4365"/>
            </a:solidFill>
            <a:prstDash val="solid"/>
          </a:ln>
        </p:spPr>
      </p:sp>
      <p:sp>
        <p:nvSpPr>
          <p:cNvPr id="14" name="Shape 12"/>
          <p:cNvSpPr/>
          <p:nvPr/>
        </p:nvSpPr>
        <p:spPr>
          <a:xfrm>
            <a:off x="4480560" y="3566160"/>
            <a:ext cx="3291840" cy="73152"/>
          </a:xfrm>
          <a:prstGeom prst="rect">
            <a:avLst/>
          </a:prstGeom>
          <a:solidFill>
            <a:srgbClr val="0284C7"/>
          </a:solidFill>
          <a:ln w="12700">
            <a:solidFill>
              <a:srgbClr val="0284C7"/>
            </a:solidFill>
            <a:prstDash val="solid"/>
          </a:ln>
        </p:spPr>
      </p:sp>
      <p:sp>
        <p:nvSpPr>
          <p:cNvPr id="15" name="Text 13"/>
          <p:cNvSpPr/>
          <p:nvPr/>
        </p:nvSpPr>
        <p:spPr>
          <a:xfrm>
            <a:off x="4663440" y="3703320"/>
            <a:ext cx="292608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Implementation &amp; Technical Execution</a:t>
            </a:r>
            <a:endParaRPr lang="en-US" sz="1200" dirty="0"/>
          </a:p>
        </p:txBody>
      </p:sp>
      <p:sp>
        <p:nvSpPr>
          <p:cNvPr id="16" name="Shape 14"/>
          <p:cNvSpPr/>
          <p:nvPr/>
        </p:nvSpPr>
        <p:spPr>
          <a:xfrm>
            <a:off x="4663440" y="4160520"/>
            <a:ext cx="1097280" cy="228600"/>
          </a:xfrm>
          <a:prstGeom prst="roundRect">
            <a:avLst>
              <a:gd name="adj" fmla="val 20000"/>
            </a:avLst>
          </a:prstGeom>
          <a:solidFill>
            <a:srgbClr val="0284C7"/>
          </a:solidFill>
          <a:ln w="12700">
            <a:solidFill>
              <a:srgbClr val="0284C7"/>
            </a:solidFill>
            <a:prstDash val="solid"/>
          </a:ln>
        </p:spPr>
      </p:sp>
      <p:sp>
        <p:nvSpPr>
          <p:cNvPr id="17" name="Text 15"/>
          <p:cNvSpPr/>
          <p:nvPr/>
        </p:nvSpPr>
        <p:spPr>
          <a:xfrm>
            <a:off x="4663440" y="4160520"/>
            <a:ext cx="1097280" cy="2286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 MARKS</a:t>
            </a:r>
            <a:endParaRPr lang="en-US" sz="850" dirty="0"/>
          </a:p>
        </p:txBody>
      </p:sp>
      <p:sp>
        <p:nvSpPr>
          <p:cNvPr id="18" name="Text 16"/>
          <p:cNvSpPr/>
          <p:nvPr/>
        </p:nvSpPr>
        <p:spPr>
          <a:xfrm>
            <a:off x="4663440" y="4434840"/>
            <a:ext cx="2926080" cy="1280160"/>
          </a:xfrm>
          <a:prstGeom prst="rect">
            <a:avLst/>
          </a:prstGeom>
          <a:noFill/>
          <a:ln/>
        </p:spPr>
        <p:txBody>
          <a:bodyPr wrap="square" rtlCol="0" anchor="t"/>
          <a:lstStyle/>
          <a:p>
            <a:pPr indent="0" marL="0">
              <a:lnSpc>
                <a:spcPts val="1600"/>
              </a:lnSpc>
              <a:buNone/>
            </a:pPr>
            <a:r>
              <a:rPr lang="en-US" sz="950" dirty="0">
                <a:solidFill>
                  <a:srgbClr val="CBD5E1"/>
                </a:solidFill>
                <a:latin typeface="Arial" pitchFamily="34" charset="0"/>
                <a:ea typeface="Arial" pitchFamily="34" charset="-122"/>
                <a:cs typeface="Arial" pitchFamily="34" charset="-120"/>
              </a:rPr>
              <a:t>• Multi-AZ VPC Networking &amp; Security</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AWS Beanstalk &amp; Configuration (.ebextensions)</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SQLite to Amazon RDS MySQL Migration</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Server-Side RBAC &amp; Defense-in-Depth</a:t>
            </a:r>
            <a:endParaRPr lang="en-US" sz="950" dirty="0"/>
          </a:p>
        </p:txBody>
      </p:sp>
      <p:sp>
        <p:nvSpPr>
          <p:cNvPr id="19" name="Shape 17"/>
          <p:cNvSpPr/>
          <p:nvPr/>
        </p:nvSpPr>
        <p:spPr>
          <a:xfrm>
            <a:off x="8046720" y="3566160"/>
            <a:ext cx="3291840" cy="2240280"/>
          </a:xfrm>
          <a:prstGeom prst="roundRect">
            <a:avLst>
              <a:gd name="adj" fmla="val 4082"/>
            </a:avLst>
          </a:prstGeom>
          <a:solidFill>
            <a:srgbClr val="132338"/>
          </a:solidFill>
          <a:ln w="12700">
            <a:solidFill>
              <a:srgbClr val="2A4365"/>
            </a:solidFill>
            <a:prstDash val="solid"/>
          </a:ln>
        </p:spPr>
      </p:sp>
      <p:sp>
        <p:nvSpPr>
          <p:cNvPr id="20" name="Shape 18"/>
          <p:cNvSpPr/>
          <p:nvPr/>
        </p:nvSpPr>
        <p:spPr>
          <a:xfrm>
            <a:off x="8046720" y="3566160"/>
            <a:ext cx="3291840" cy="73152"/>
          </a:xfrm>
          <a:prstGeom prst="rect">
            <a:avLst/>
          </a:prstGeom>
          <a:solidFill>
            <a:srgbClr val="10B981"/>
          </a:solidFill>
          <a:ln w="12700">
            <a:solidFill>
              <a:srgbClr val="10B981"/>
            </a:solidFill>
            <a:prstDash val="solid"/>
          </a:ln>
        </p:spPr>
      </p:sp>
      <p:sp>
        <p:nvSpPr>
          <p:cNvPr id="21" name="Text 19"/>
          <p:cNvSpPr/>
          <p:nvPr/>
        </p:nvSpPr>
        <p:spPr>
          <a:xfrm>
            <a:off x="8229600" y="3703320"/>
            <a:ext cx="292608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Results &amp; Technical Evaluation</a:t>
            </a:r>
            <a:endParaRPr lang="en-US" sz="1200" dirty="0"/>
          </a:p>
        </p:txBody>
      </p:sp>
      <p:sp>
        <p:nvSpPr>
          <p:cNvPr id="22" name="Shape 20"/>
          <p:cNvSpPr/>
          <p:nvPr/>
        </p:nvSpPr>
        <p:spPr>
          <a:xfrm>
            <a:off x="8229600" y="4160520"/>
            <a:ext cx="1097280" cy="228600"/>
          </a:xfrm>
          <a:prstGeom prst="roundRect">
            <a:avLst>
              <a:gd name="adj" fmla="val 20000"/>
            </a:avLst>
          </a:prstGeom>
          <a:solidFill>
            <a:srgbClr val="10B981"/>
          </a:solidFill>
          <a:ln w="12700">
            <a:solidFill>
              <a:srgbClr val="10B981"/>
            </a:solidFill>
            <a:prstDash val="solid"/>
          </a:ln>
        </p:spPr>
      </p:sp>
      <p:sp>
        <p:nvSpPr>
          <p:cNvPr id="23" name="Text 21"/>
          <p:cNvSpPr/>
          <p:nvPr/>
        </p:nvSpPr>
        <p:spPr>
          <a:xfrm>
            <a:off x="8229600" y="4160520"/>
            <a:ext cx="1097280" cy="2286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 MARKS</a:t>
            </a:r>
            <a:endParaRPr lang="en-US" sz="850" dirty="0"/>
          </a:p>
        </p:txBody>
      </p:sp>
      <p:sp>
        <p:nvSpPr>
          <p:cNvPr id="24" name="Text 22"/>
          <p:cNvSpPr/>
          <p:nvPr/>
        </p:nvSpPr>
        <p:spPr>
          <a:xfrm>
            <a:off x="8229600" y="4434840"/>
            <a:ext cx="2926080" cy="1280160"/>
          </a:xfrm>
          <a:prstGeom prst="rect">
            <a:avLst/>
          </a:prstGeom>
          <a:noFill/>
          <a:ln/>
        </p:spPr>
        <p:txBody>
          <a:bodyPr wrap="square" rtlCol="0" anchor="t"/>
          <a:lstStyle/>
          <a:p>
            <a:pPr indent="0" marL="0">
              <a:lnSpc>
                <a:spcPts val="1600"/>
              </a:lnSpc>
              <a:buNone/>
            </a:pPr>
            <a:r>
              <a:rPr lang="en-US" sz="950" dirty="0">
                <a:solidFill>
                  <a:srgbClr val="CBD5E1"/>
                </a:solidFill>
                <a:latin typeface="Arial" pitchFamily="34" charset="0"/>
                <a:ea typeface="Arial" pitchFamily="34" charset="-122"/>
                <a:cs typeface="Arial" pitchFamily="34" charset="-120"/>
              </a:rPr>
              <a:t>• Live Query Latency Benchmarks (&lt;0.4ms)</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High Availability &amp; Auto-Scaling (ASG)</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AWS Monthly Cost Breakdown ($194.06/mo)</a:t>
            </a:r>
            <a:endParaRPr lang="en-US" sz="950" dirty="0"/>
          </a:p>
          <a:p>
            <a:pPr indent="0" marL="0">
              <a:lnSpc>
                <a:spcPts val="1600"/>
              </a:lnSpc>
              <a:buNone/>
            </a:pPr>
            <a:r>
              <a:rPr lang="en-US" sz="950" dirty="0">
                <a:solidFill>
                  <a:srgbClr val="CBD5E1"/>
                </a:solidFill>
                <a:latin typeface="Arial" pitchFamily="34" charset="0"/>
                <a:ea typeface="Arial" pitchFamily="34" charset="-122"/>
                <a:cs typeface="Arial" pitchFamily="34" charset="-120"/>
              </a:rPr>
              <a:t>• Disaster Recovery (RPO &lt;5m, RTO &lt;15m)</a:t>
            </a:r>
            <a:endParaRPr lang="en-US" sz="950" dirty="0"/>
          </a:p>
        </p:txBody>
      </p:sp>
      <p:sp>
        <p:nvSpPr>
          <p:cNvPr id="25" name="Text 23"/>
          <p:cNvSpPr/>
          <p:nvPr/>
        </p:nvSpPr>
        <p:spPr>
          <a:xfrm>
            <a:off x="914400" y="6035040"/>
            <a:ext cx="1033272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Full-Stack Cloud Prototype: Node.js 20 • Express.js • Amazon RDS MySQL 8.0 • SQLite WAL • 30/30 Unit &amp; Security Tests Passing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1: PROBLEM ANALYSIS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Problem Identification &amp; Healthcare Infrastructure Challenges</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Why traditional healthcare IT systems fail and the compelling need for cloud transformation</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257800" cy="2103120"/>
          </a:xfrm>
          <a:prstGeom prst="roundRect">
            <a:avLst>
              <a:gd name="adj" fmla="val 4348"/>
            </a:avLst>
          </a:prstGeom>
          <a:solidFill>
            <a:srgbClr val="FFFFFF"/>
          </a:solidFill>
          <a:ln w="12700">
            <a:solidFill>
              <a:srgbClr val="E2E8F0"/>
            </a:solidFill>
            <a:prstDash val="solid"/>
          </a:ln>
        </p:spPr>
      </p:sp>
      <p:sp>
        <p:nvSpPr>
          <p:cNvPr id="11" name="Shape 9"/>
          <p:cNvSpPr/>
          <p:nvPr/>
        </p:nvSpPr>
        <p:spPr>
          <a:xfrm>
            <a:off x="960120" y="1828800"/>
            <a:ext cx="594360" cy="411480"/>
          </a:xfrm>
          <a:prstGeom prst="roundRect">
            <a:avLst>
              <a:gd name="adj" fmla="val 17778"/>
            </a:avLst>
          </a:prstGeom>
          <a:solidFill>
            <a:srgbClr val="E0F2FE"/>
          </a:solidFill>
          <a:ln w="12700">
            <a:solidFill>
              <a:srgbClr val="0284C7"/>
            </a:solidFill>
            <a:prstDash val="solid"/>
          </a:ln>
        </p:spPr>
      </p:sp>
      <p:sp>
        <p:nvSpPr>
          <p:cNvPr id="12" name="Text 10"/>
          <p:cNvSpPr/>
          <p:nvPr/>
        </p:nvSpPr>
        <p:spPr>
          <a:xfrm>
            <a:off x="960120" y="1828800"/>
            <a:ext cx="594360" cy="41148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01</a:t>
            </a:r>
            <a:endParaRPr lang="en-US" sz="1400" dirty="0"/>
          </a:p>
        </p:txBody>
      </p:sp>
      <p:sp>
        <p:nvSpPr>
          <p:cNvPr id="13" name="Text 11"/>
          <p:cNvSpPr/>
          <p:nvPr/>
        </p:nvSpPr>
        <p:spPr>
          <a:xfrm>
            <a:off x="1691640" y="1828800"/>
            <a:ext cx="4114800" cy="411480"/>
          </a:xfrm>
          <a:prstGeom prst="rect">
            <a:avLst/>
          </a:prstGeom>
          <a:noFill/>
          <a:ln/>
        </p:spPr>
        <p:txBody>
          <a:bodyPr wrap="square" rtlCol="0" anchor="ctr"/>
          <a:lstStyle/>
          <a:p>
            <a:pPr indent="0" marL="0">
              <a:buNone/>
            </a:pPr>
            <a:r>
              <a:rPr lang="en-US" sz="1300" b="1" dirty="0">
                <a:solidFill>
                  <a:srgbClr val="0F2B46"/>
                </a:solidFill>
                <a:latin typeface="Arial" pitchFamily="34" charset="0"/>
                <a:ea typeface="Arial" pitchFamily="34" charset="-122"/>
                <a:cs typeface="Arial" pitchFamily="34" charset="-120"/>
              </a:rPr>
              <a:t>Single Point of Failure (SPOF)</a:t>
            </a:r>
            <a:endParaRPr lang="en-US" sz="1300" dirty="0"/>
          </a:p>
        </p:txBody>
      </p:sp>
      <p:sp>
        <p:nvSpPr>
          <p:cNvPr id="14" name="Text 12"/>
          <p:cNvSpPr/>
          <p:nvPr/>
        </p:nvSpPr>
        <p:spPr>
          <a:xfrm>
            <a:off x="960120" y="2377440"/>
            <a:ext cx="4800600" cy="868680"/>
          </a:xfrm>
          <a:prstGeom prst="rect">
            <a:avLst/>
          </a:prstGeom>
          <a:noFill/>
          <a:ln/>
        </p:spPr>
        <p:txBody>
          <a:bodyPr wrap="square" rtlCol="0" anchor="t"/>
          <a:lstStyle/>
          <a:p>
            <a:pPr indent="0" marL="0">
              <a:lnSpc>
                <a:spcPts val="1500"/>
              </a:lnSpc>
              <a:buNone/>
            </a:pPr>
            <a:r>
              <a:rPr lang="en-US" sz="950" dirty="0">
                <a:solidFill>
                  <a:srgbClr val="0F172A"/>
                </a:solidFill>
                <a:latin typeface="Arial" pitchFamily="34" charset="0"/>
                <a:ea typeface="Arial" pitchFamily="34" charset="-122"/>
                <a:cs typeface="Arial" pitchFamily="34" charset="-120"/>
              </a:rPr>
              <a:t>On-premises legacy hospital servers lack redundancy. Unplanned power or hardware outages paralyze emergency wards, surgery queues, and prescription lookups, directly endangering patient safety.</a:t>
            </a:r>
            <a:endParaRPr lang="en-US" sz="950" dirty="0"/>
          </a:p>
        </p:txBody>
      </p:sp>
      <p:sp>
        <p:nvSpPr>
          <p:cNvPr id="15" name="Shape 13"/>
          <p:cNvSpPr/>
          <p:nvPr/>
        </p:nvSpPr>
        <p:spPr>
          <a:xfrm>
            <a:off x="960120" y="3291840"/>
            <a:ext cx="2560320" cy="274320"/>
          </a:xfrm>
          <a:prstGeom prst="roundRect">
            <a:avLst>
              <a:gd name="adj" fmla="val 16667"/>
            </a:avLst>
          </a:prstGeom>
          <a:solidFill>
            <a:srgbClr val="FEE2E2"/>
          </a:solidFill>
          <a:ln w="6350">
            <a:solidFill>
              <a:srgbClr val="EF4444"/>
            </a:solidFill>
            <a:prstDash val="solid"/>
          </a:ln>
        </p:spPr>
      </p:sp>
      <p:sp>
        <p:nvSpPr>
          <p:cNvPr id="16" name="Text 14"/>
          <p:cNvSpPr/>
          <p:nvPr/>
        </p:nvSpPr>
        <p:spPr>
          <a:xfrm>
            <a:off x="960120" y="3291840"/>
            <a:ext cx="2560320" cy="27432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 Downtime: Hours to Days</a:t>
            </a:r>
            <a:endParaRPr lang="en-US" sz="850" dirty="0"/>
          </a:p>
        </p:txBody>
      </p:sp>
      <p:sp>
        <p:nvSpPr>
          <p:cNvPr id="17" name="Shape 15"/>
          <p:cNvSpPr/>
          <p:nvPr/>
        </p:nvSpPr>
        <p:spPr>
          <a:xfrm>
            <a:off x="6172200" y="1600200"/>
            <a:ext cx="5257800" cy="2103120"/>
          </a:xfrm>
          <a:prstGeom prst="roundRect">
            <a:avLst>
              <a:gd name="adj" fmla="val 4348"/>
            </a:avLst>
          </a:prstGeom>
          <a:solidFill>
            <a:srgbClr val="FFFFFF"/>
          </a:solidFill>
          <a:ln w="12700">
            <a:solidFill>
              <a:srgbClr val="E2E8F0"/>
            </a:solidFill>
            <a:prstDash val="solid"/>
          </a:ln>
        </p:spPr>
      </p:sp>
      <p:sp>
        <p:nvSpPr>
          <p:cNvPr id="18" name="Shape 16"/>
          <p:cNvSpPr/>
          <p:nvPr/>
        </p:nvSpPr>
        <p:spPr>
          <a:xfrm>
            <a:off x="6400800" y="1828800"/>
            <a:ext cx="594360" cy="411480"/>
          </a:xfrm>
          <a:prstGeom prst="roundRect">
            <a:avLst>
              <a:gd name="adj" fmla="val 17778"/>
            </a:avLst>
          </a:prstGeom>
          <a:solidFill>
            <a:srgbClr val="E0F2FE"/>
          </a:solidFill>
          <a:ln w="12700">
            <a:solidFill>
              <a:srgbClr val="0284C7"/>
            </a:solidFill>
            <a:prstDash val="solid"/>
          </a:ln>
        </p:spPr>
      </p:sp>
      <p:sp>
        <p:nvSpPr>
          <p:cNvPr id="19" name="Text 17"/>
          <p:cNvSpPr/>
          <p:nvPr/>
        </p:nvSpPr>
        <p:spPr>
          <a:xfrm>
            <a:off x="6400800" y="1828800"/>
            <a:ext cx="594360" cy="41148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02</a:t>
            </a:r>
            <a:endParaRPr lang="en-US" sz="1400" dirty="0"/>
          </a:p>
        </p:txBody>
      </p:sp>
      <p:sp>
        <p:nvSpPr>
          <p:cNvPr id="20" name="Text 18"/>
          <p:cNvSpPr/>
          <p:nvPr/>
        </p:nvSpPr>
        <p:spPr>
          <a:xfrm>
            <a:off x="7132320" y="1828800"/>
            <a:ext cx="4114800" cy="411480"/>
          </a:xfrm>
          <a:prstGeom prst="rect">
            <a:avLst/>
          </a:prstGeom>
          <a:noFill/>
          <a:ln/>
        </p:spPr>
        <p:txBody>
          <a:bodyPr wrap="square" rtlCol="0" anchor="ctr"/>
          <a:lstStyle/>
          <a:p>
            <a:pPr indent="0" marL="0">
              <a:buNone/>
            </a:pPr>
            <a:r>
              <a:rPr lang="en-US" sz="1300" b="1" dirty="0">
                <a:solidFill>
                  <a:srgbClr val="0F2B46"/>
                </a:solidFill>
                <a:latin typeface="Arial" pitchFamily="34" charset="0"/>
                <a:ea typeface="Arial" pitchFamily="34" charset="-122"/>
                <a:cs typeface="Arial" pitchFamily="34" charset="-120"/>
              </a:rPr>
              <a:t>Uncontrolled Access &amp; Data Leaks</a:t>
            </a:r>
            <a:endParaRPr lang="en-US" sz="1300" dirty="0"/>
          </a:p>
        </p:txBody>
      </p:sp>
      <p:sp>
        <p:nvSpPr>
          <p:cNvPr id="21" name="Text 19"/>
          <p:cNvSpPr/>
          <p:nvPr/>
        </p:nvSpPr>
        <p:spPr>
          <a:xfrm>
            <a:off x="6400800" y="2377440"/>
            <a:ext cx="4800600" cy="868680"/>
          </a:xfrm>
          <a:prstGeom prst="rect">
            <a:avLst/>
          </a:prstGeom>
          <a:noFill/>
          <a:ln/>
        </p:spPr>
        <p:txBody>
          <a:bodyPr wrap="square" rtlCol="0" anchor="t"/>
          <a:lstStyle/>
          <a:p>
            <a:pPr indent="0" marL="0">
              <a:lnSpc>
                <a:spcPts val="1500"/>
              </a:lnSpc>
              <a:buNone/>
            </a:pPr>
            <a:r>
              <a:rPr lang="en-US" sz="950" dirty="0">
                <a:solidFill>
                  <a:srgbClr val="0F172A"/>
                </a:solidFill>
                <a:latin typeface="Arial" pitchFamily="34" charset="0"/>
                <a:ea typeface="Arial" pitchFamily="34" charset="-122"/>
                <a:cs typeface="Arial" pitchFamily="34" charset="-120"/>
              </a:rPr>
              <a:t>Shared administrative credentials and lack of role-based segregation allow unauthorized desk staff to browse sensitive psychiatric and oncological clinical notes, violating fundamental patient privacy.</a:t>
            </a:r>
            <a:endParaRPr lang="en-US" sz="950" dirty="0"/>
          </a:p>
        </p:txBody>
      </p:sp>
      <p:sp>
        <p:nvSpPr>
          <p:cNvPr id="22" name="Shape 20"/>
          <p:cNvSpPr/>
          <p:nvPr/>
        </p:nvSpPr>
        <p:spPr>
          <a:xfrm>
            <a:off x="6400800" y="3291840"/>
            <a:ext cx="2560320" cy="274320"/>
          </a:xfrm>
          <a:prstGeom prst="roundRect">
            <a:avLst>
              <a:gd name="adj" fmla="val 16667"/>
            </a:avLst>
          </a:prstGeom>
          <a:solidFill>
            <a:srgbClr val="FEE2E2"/>
          </a:solidFill>
          <a:ln w="6350">
            <a:solidFill>
              <a:srgbClr val="EF4444"/>
            </a:solidFill>
            <a:prstDash val="solid"/>
          </a:ln>
        </p:spPr>
      </p:sp>
      <p:sp>
        <p:nvSpPr>
          <p:cNvPr id="23" name="Text 21"/>
          <p:cNvSpPr/>
          <p:nvPr/>
        </p:nvSpPr>
        <p:spPr>
          <a:xfrm>
            <a:off x="6400800" y="3291840"/>
            <a:ext cx="2560320" cy="27432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 Severe Compliance Breaches</a:t>
            </a:r>
            <a:endParaRPr lang="en-US" sz="850" dirty="0"/>
          </a:p>
        </p:txBody>
      </p:sp>
      <p:sp>
        <p:nvSpPr>
          <p:cNvPr id="24" name="Shape 22"/>
          <p:cNvSpPr/>
          <p:nvPr/>
        </p:nvSpPr>
        <p:spPr>
          <a:xfrm>
            <a:off x="731520" y="3886200"/>
            <a:ext cx="5257800" cy="2103120"/>
          </a:xfrm>
          <a:prstGeom prst="roundRect">
            <a:avLst>
              <a:gd name="adj" fmla="val 4348"/>
            </a:avLst>
          </a:prstGeom>
          <a:solidFill>
            <a:srgbClr val="FFFFFF"/>
          </a:solidFill>
          <a:ln w="12700">
            <a:solidFill>
              <a:srgbClr val="E2E8F0"/>
            </a:solidFill>
            <a:prstDash val="solid"/>
          </a:ln>
        </p:spPr>
      </p:sp>
      <p:sp>
        <p:nvSpPr>
          <p:cNvPr id="25" name="Shape 23"/>
          <p:cNvSpPr/>
          <p:nvPr/>
        </p:nvSpPr>
        <p:spPr>
          <a:xfrm>
            <a:off x="960120" y="4114800"/>
            <a:ext cx="594360" cy="411480"/>
          </a:xfrm>
          <a:prstGeom prst="roundRect">
            <a:avLst>
              <a:gd name="adj" fmla="val 17778"/>
            </a:avLst>
          </a:prstGeom>
          <a:solidFill>
            <a:srgbClr val="E0F2FE"/>
          </a:solidFill>
          <a:ln w="12700">
            <a:solidFill>
              <a:srgbClr val="0284C7"/>
            </a:solidFill>
            <a:prstDash val="solid"/>
          </a:ln>
        </p:spPr>
      </p:sp>
      <p:sp>
        <p:nvSpPr>
          <p:cNvPr id="26" name="Text 24"/>
          <p:cNvSpPr/>
          <p:nvPr/>
        </p:nvSpPr>
        <p:spPr>
          <a:xfrm>
            <a:off x="960120" y="4114800"/>
            <a:ext cx="594360" cy="41148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03</a:t>
            </a:r>
            <a:endParaRPr lang="en-US" sz="1400" dirty="0"/>
          </a:p>
        </p:txBody>
      </p:sp>
      <p:sp>
        <p:nvSpPr>
          <p:cNvPr id="27" name="Text 25"/>
          <p:cNvSpPr/>
          <p:nvPr/>
        </p:nvSpPr>
        <p:spPr>
          <a:xfrm>
            <a:off x="1691640" y="4114800"/>
            <a:ext cx="4114800" cy="411480"/>
          </a:xfrm>
          <a:prstGeom prst="rect">
            <a:avLst/>
          </a:prstGeom>
          <a:noFill/>
          <a:ln/>
        </p:spPr>
        <p:txBody>
          <a:bodyPr wrap="square" rtlCol="0" anchor="ctr"/>
          <a:lstStyle/>
          <a:p>
            <a:pPr indent="0" marL="0">
              <a:buNone/>
            </a:pPr>
            <a:r>
              <a:rPr lang="en-US" sz="1300" b="1" dirty="0">
                <a:solidFill>
                  <a:srgbClr val="0F2B46"/>
                </a:solidFill>
                <a:latin typeface="Arial" pitchFamily="34" charset="0"/>
                <a:ea typeface="Arial" pitchFamily="34" charset="-122"/>
                <a:cs typeface="Arial" pitchFamily="34" charset="-120"/>
              </a:rPr>
              <a:t>Rigid Capacity &amp; High Latency</a:t>
            </a:r>
            <a:endParaRPr lang="en-US" sz="1300" dirty="0"/>
          </a:p>
        </p:txBody>
      </p:sp>
      <p:sp>
        <p:nvSpPr>
          <p:cNvPr id="28" name="Text 26"/>
          <p:cNvSpPr/>
          <p:nvPr/>
        </p:nvSpPr>
        <p:spPr>
          <a:xfrm>
            <a:off x="960120" y="4663440"/>
            <a:ext cx="4800600" cy="868680"/>
          </a:xfrm>
          <a:prstGeom prst="rect">
            <a:avLst/>
          </a:prstGeom>
          <a:noFill/>
          <a:ln/>
        </p:spPr>
        <p:txBody>
          <a:bodyPr wrap="square" rtlCol="0" anchor="t"/>
          <a:lstStyle/>
          <a:p>
            <a:pPr indent="0" marL="0">
              <a:lnSpc>
                <a:spcPts val="1500"/>
              </a:lnSpc>
              <a:buNone/>
            </a:pPr>
            <a:r>
              <a:rPr lang="en-US" sz="950" dirty="0">
                <a:solidFill>
                  <a:srgbClr val="0F172A"/>
                </a:solidFill>
                <a:latin typeface="Arial" pitchFamily="34" charset="0"/>
                <a:ea typeface="Arial" pitchFamily="34" charset="-122"/>
                <a:cs typeface="Arial" pitchFamily="34" charset="-120"/>
              </a:rPr>
              <a:t>Fixed on-site servers fail to scale during seasonal disease outbreaks or morning appointment surges. Concurrency bottlenecks result in request timeouts and frozen client interfaces.</a:t>
            </a:r>
            <a:endParaRPr lang="en-US" sz="950" dirty="0"/>
          </a:p>
        </p:txBody>
      </p:sp>
      <p:sp>
        <p:nvSpPr>
          <p:cNvPr id="29" name="Shape 27"/>
          <p:cNvSpPr/>
          <p:nvPr/>
        </p:nvSpPr>
        <p:spPr>
          <a:xfrm>
            <a:off x="960120" y="5577840"/>
            <a:ext cx="2560320" cy="274320"/>
          </a:xfrm>
          <a:prstGeom prst="roundRect">
            <a:avLst>
              <a:gd name="adj" fmla="val 16667"/>
            </a:avLst>
          </a:prstGeom>
          <a:solidFill>
            <a:srgbClr val="FEE2E2"/>
          </a:solidFill>
          <a:ln w="6350">
            <a:solidFill>
              <a:srgbClr val="EF4444"/>
            </a:solidFill>
            <a:prstDash val="solid"/>
          </a:ln>
        </p:spPr>
      </p:sp>
      <p:sp>
        <p:nvSpPr>
          <p:cNvPr id="30" name="Text 28"/>
          <p:cNvSpPr/>
          <p:nvPr/>
        </p:nvSpPr>
        <p:spPr>
          <a:xfrm>
            <a:off x="960120" y="5577840"/>
            <a:ext cx="2560320" cy="27432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 Zero Elasticity Under Load</a:t>
            </a:r>
            <a:endParaRPr lang="en-US" sz="850" dirty="0"/>
          </a:p>
        </p:txBody>
      </p:sp>
      <p:sp>
        <p:nvSpPr>
          <p:cNvPr id="31" name="Shape 29"/>
          <p:cNvSpPr/>
          <p:nvPr/>
        </p:nvSpPr>
        <p:spPr>
          <a:xfrm>
            <a:off x="6172200" y="3886200"/>
            <a:ext cx="5257800" cy="2103120"/>
          </a:xfrm>
          <a:prstGeom prst="roundRect">
            <a:avLst>
              <a:gd name="adj" fmla="val 4348"/>
            </a:avLst>
          </a:prstGeom>
          <a:solidFill>
            <a:srgbClr val="FFFFFF"/>
          </a:solidFill>
          <a:ln w="12700">
            <a:solidFill>
              <a:srgbClr val="E2E8F0"/>
            </a:solidFill>
            <a:prstDash val="solid"/>
          </a:ln>
        </p:spPr>
      </p:sp>
      <p:sp>
        <p:nvSpPr>
          <p:cNvPr id="32" name="Shape 30"/>
          <p:cNvSpPr/>
          <p:nvPr/>
        </p:nvSpPr>
        <p:spPr>
          <a:xfrm>
            <a:off x="6400800" y="4114800"/>
            <a:ext cx="594360" cy="411480"/>
          </a:xfrm>
          <a:prstGeom prst="roundRect">
            <a:avLst>
              <a:gd name="adj" fmla="val 17778"/>
            </a:avLst>
          </a:prstGeom>
          <a:solidFill>
            <a:srgbClr val="E0F2FE"/>
          </a:solidFill>
          <a:ln w="12700">
            <a:solidFill>
              <a:srgbClr val="0284C7"/>
            </a:solidFill>
            <a:prstDash val="solid"/>
          </a:ln>
        </p:spPr>
      </p:sp>
      <p:sp>
        <p:nvSpPr>
          <p:cNvPr id="33" name="Text 31"/>
          <p:cNvSpPr/>
          <p:nvPr/>
        </p:nvSpPr>
        <p:spPr>
          <a:xfrm>
            <a:off x="6400800" y="4114800"/>
            <a:ext cx="594360" cy="41148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04</a:t>
            </a:r>
            <a:endParaRPr lang="en-US" sz="1400" dirty="0"/>
          </a:p>
        </p:txBody>
      </p:sp>
      <p:sp>
        <p:nvSpPr>
          <p:cNvPr id="34" name="Text 32"/>
          <p:cNvSpPr/>
          <p:nvPr/>
        </p:nvSpPr>
        <p:spPr>
          <a:xfrm>
            <a:off x="7132320" y="4114800"/>
            <a:ext cx="4114800" cy="411480"/>
          </a:xfrm>
          <a:prstGeom prst="rect">
            <a:avLst/>
          </a:prstGeom>
          <a:noFill/>
          <a:ln/>
        </p:spPr>
        <p:txBody>
          <a:bodyPr wrap="square" rtlCol="0" anchor="ctr"/>
          <a:lstStyle/>
          <a:p>
            <a:pPr indent="0" marL="0">
              <a:buNone/>
            </a:pPr>
            <a:r>
              <a:rPr lang="en-US" sz="1300" b="1" dirty="0">
                <a:solidFill>
                  <a:srgbClr val="0F2B46"/>
                </a:solidFill>
                <a:latin typeface="Arial" pitchFamily="34" charset="0"/>
                <a:ea typeface="Arial" pitchFamily="34" charset="-122"/>
                <a:cs typeface="Arial" pitchFamily="34" charset="-120"/>
              </a:rPr>
              <a:t>Disaster Recovery Deficits</a:t>
            </a:r>
            <a:endParaRPr lang="en-US" sz="1300" dirty="0"/>
          </a:p>
        </p:txBody>
      </p:sp>
      <p:sp>
        <p:nvSpPr>
          <p:cNvPr id="35" name="Text 33"/>
          <p:cNvSpPr/>
          <p:nvPr/>
        </p:nvSpPr>
        <p:spPr>
          <a:xfrm>
            <a:off x="6400800" y="4663440"/>
            <a:ext cx="4800600" cy="868680"/>
          </a:xfrm>
          <a:prstGeom prst="rect">
            <a:avLst/>
          </a:prstGeom>
          <a:noFill/>
          <a:ln/>
        </p:spPr>
        <p:txBody>
          <a:bodyPr wrap="square" rtlCol="0" anchor="t"/>
          <a:lstStyle/>
          <a:p>
            <a:pPr indent="0" marL="0">
              <a:lnSpc>
                <a:spcPts val="1500"/>
              </a:lnSpc>
              <a:buNone/>
            </a:pPr>
            <a:r>
              <a:rPr lang="en-US" sz="950" dirty="0">
                <a:solidFill>
                  <a:srgbClr val="0F172A"/>
                </a:solidFill>
                <a:latin typeface="Arial" pitchFamily="34" charset="0"/>
                <a:ea typeface="Arial" pitchFamily="34" charset="-122"/>
                <a:cs typeface="Arial" pitchFamily="34" charset="-120"/>
              </a:rPr>
              <a:t>Manual tape or local disk backups are performed inconsistently. Without automated multi-site replication, ransomware attacks or localized physical disasters cause irrecoverable clinical data loss.</a:t>
            </a:r>
            <a:endParaRPr lang="en-US" sz="950" dirty="0"/>
          </a:p>
        </p:txBody>
      </p:sp>
      <p:sp>
        <p:nvSpPr>
          <p:cNvPr id="36" name="Shape 34"/>
          <p:cNvSpPr/>
          <p:nvPr/>
        </p:nvSpPr>
        <p:spPr>
          <a:xfrm>
            <a:off x="6400800" y="5577840"/>
            <a:ext cx="2560320" cy="274320"/>
          </a:xfrm>
          <a:prstGeom prst="roundRect">
            <a:avLst>
              <a:gd name="adj" fmla="val 16667"/>
            </a:avLst>
          </a:prstGeom>
          <a:solidFill>
            <a:srgbClr val="FEE2E2"/>
          </a:solidFill>
          <a:ln w="6350">
            <a:solidFill>
              <a:srgbClr val="EF4444"/>
            </a:solidFill>
            <a:prstDash val="solid"/>
          </a:ln>
        </p:spPr>
      </p:sp>
      <p:sp>
        <p:nvSpPr>
          <p:cNvPr id="37" name="Text 35"/>
          <p:cNvSpPr/>
          <p:nvPr/>
        </p:nvSpPr>
        <p:spPr>
          <a:xfrm>
            <a:off x="6400800" y="5577840"/>
            <a:ext cx="2560320" cy="274320"/>
          </a:xfrm>
          <a:prstGeom prst="rect">
            <a:avLst/>
          </a:prstGeom>
          <a:noFill/>
          <a:ln/>
        </p:spPr>
        <p:txBody>
          <a:bodyPr wrap="square"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 Unacceptable RPO &amp; RTO</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1: REQUIREMENTS ANALYSIS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Functional &amp; Non-Functional System Requirements</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Comprehensive technical specifications driving the cloud system architecture</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257800" cy="4572000"/>
          </a:xfrm>
          <a:prstGeom prst="roundRect">
            <a:avLst>
              <a:gd name="adj" fmla="val 2000"/>
            </a:avLst>
          </a:prstGeom>
          <a:solidFill>
            <a:srgbClr val="FFFFFF"/>
          </a:solidFill>
          <a:ln w="12700">
            <a:solidFill>
              <a:srgbClr val="E2E8F0"/>
            </a:solidFill>
            <a:prstDash val="solid"/>
          </a:ln>
        </p:spPr>
      </p:sp>
      <p:sp>
        <p:nvSpPr>
          <p:cNvPr id="11" name="Shape 9"/>
          <p:cNvSpPr/>
          <p:nvPr/>
        </p:nvSpPr>
        <p:spPr>
          <a:xfrm>
            <a:off x="731520" y="1600200"/>
            <a:ext cx="5257800" cy="457200"/>
          </a:xfrm>
          <a:prstGeom prst="rect">
            <a:avLst/>
          </a:prstGeom>
          <a:solidFill>
            <a:srgbClr val="0F2B46"/>
          </a:solidFill>
          <a:ln w="12700">
            <a:solidFill>
              <a:srgbClr val="0F2B46"/>
            </a:solidFill>
            <a:prstDash val="solid"/>
          </a:ln>
        </p:spPr>
      </p:sp>
      <p:sp>
        <p:nvSpPr>
          <p:cNvPr id="12" name="Text 10"/>
          <p:cNvSpPr/>
          <p:nvPr/>
        </p:nvSpPr>
        <p:spPr>
          <a:xfrm>
            <a:off x="914400" y="1600200"/>
            <a:ext cx="4892040" cy="45720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FUNCTIONAL REQUIREMENTS (FR)</a:t>
            </a:r>
            <a:endParaRPr lang="en-US" sz="1100" dirty="0"/>
          </a:p>
        </p:txBody>
      </p:sp>
      <p:sp>
        <p:nvSpPr>
          <p:cNvPr id="13" name="Text 11"/>
          <p:cNvSpPr/>
          <p:nvPr/>
        </p:nvSpPr>
        <p:spPr>
          <a:xfrm>
            <a:off x="914400" y="214884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FR-01: Multi-Role Authentication</a:t>
            </a:r>
            <a:endParaRPr lang="en-US" sz="950" dirty="0"/>
          </a:p>
        </p:txBody>
      </p:sp>
      <p:sp>
        <p:nvSpPr>
          <p:cNvPr id="14" name="Text 12"/>
          <p:cNvSpPr/>
          <p:nvPr/>
        </p:nvSpPr>
        <p:spPr>
          <a:xfrm>
            <a:off x="1143000" y="2368296"/>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Granular credential login for ADMIN, DOCTOR, and RECEPTIONIST with secure HttpOnly cookie session management.</a:t>
            </a:r>
            <a:endParaRPr lang="en-US" sz="850" dirty="0"/>
          </a:p>
        </p:txBody>
      </p:sp>
      <p:sp>
        <p:nvSpPr>
          <p:cNvPr id="15" name="Text 13"/>
          <p:cNvSpPr/>
          <p:nvPr/>
        </p:nvSpPr>
        <p:spPr>
          <a:xfrm>
            <a:off x="914400" y="2807208"/>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FR-02: Patient Registration &amp; Search</a:t>
            </a:r>
            <a:endParaRPr lang="en-US" sz="950" dirty="0"/>
          </a:p>
        </p:txBody>
      </p:sp>
      <p:sp>
        <p:nvSpPr>
          <p:cNvPr id="16" name="Text 14"/>
          <p:cNvSpPr/>
          <p:nvPr/>
        </p:nvSpPr>
        <p:spPr>
          <a:xfrm>
            <a:off x="1143000" y="3026664"/>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Comprehensive demographic capture (Blood Group, DOB, Allergies) with live full-text search and pagination.</a:t>
            </a:r>
            <a:endParaRPr lang="en-US" sz="850" dirty="0"/>
          </a:p>
        </p:txBody>
      </p:sp>
      <p:sp>
        <p:nvSpPr>
          <p:cNvPr id="17" name="Text 15"/>
          <p:cNvSpPr/>
          <p:nvPr/>
        </p:nvSpPr>
        <p:spPr>
          <a:xfrm>
            <a:off x="914400" y="3465576"/>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FR-03: Real-Time Appointment Queue</a:t>
            </a:r>
            <a:endParaRPr lang="en-US" sz="950" dirty="0"/>
          </a:p>
        </p:txBody>
      </p:sp>
      <p:sp>
        <p:nvSpPr>
          <p:cNvPr id="18" name="Text 16"/>
          <p:cNvSpPr/>
          <p:nvPr/>
        </p:nvSpPr>
        <p:spPr>
          <a:xfrm>
            <a:off x="1143000" y="3685032"/>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Booking workflow with doctor validation, slot collision checks, past-date rejection, and status lifecycle.</a:t>
            </a:r>
            <a:endParaRPr lang="en-US" sz="850" dirty="0"/>
          </a:p>
        </p:txBody>
      </p:sp>
      <p:sp>
        <p:nvSpPr>
          <p:cNvPr id="19" name="Text 17"/>
          <p:cNvSpPr/>
          <p:nvPr/>
        </p:nvSpPr>
        <p:spPr>
          <a:xfrm>
            <a:off x="914400" y="4123944"/>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FR-04: Isolated Clinical EHR Records</a:t>
            </a:r>
            <a:endParaRPr lang="en-US" sz="950" dirty="0"/>
          </a:p>
        </p:txBody>
      </p:sp>
      <p:sp>
        <p:nvSpPr>
          <p:cNvPr id="20" name="Text 18"/>
          <p:cNvSpPr/>
          <p:nvPr/>
        </p:nvSpPr>
        <p:spPr>
          <a:xfrm>
            <a:off x="1143000" y="4343400"/>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Doctors author vitals, diagnoses, and prescriptions. Front-desk staff strictly forbidden (HTTP 403) from access.</a:t>
            </a:r>
            <a:endParaRPr lang="en-US" sz="850" dirty="0"/>
          </a:p>
        </p:txBody>
      </p:sp>
      <p:sp>
        <p:nvSpPr>
          <p:cNvPr id="21" name="Text 19"/>
          <p:cNvSpPr/>
          <p:nvPr/>
        </p:nvSpPr>
        <p:spPr>
          <a:xfrm>
            <a:off x="914400" y="4782312"/>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FR-05: Backup &amp; Disaster Recovery API</a:t>
            </a:r>
            <a:endParaRPr lang="en-US" sz="950" dirty="0"/>
          </a:p>
        </p:txBody>
      </p:sp>
      <p:sp>
        <p:nvSpPr>
          <p:cNvPr id="22" name="Text 20"/>
          <p:cNvSpPr/>
          <p:nvPr/>
        </p:nvSpPr>
        <p:spPr>
          <a:xfrm>
            <a:off x="1143000" y="5001768"/>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Administrators trigger live database cryptographic snapshots with SHA-256 integrity verification and safeguard restoration.</a:t>
            </a:r>
            <a:endParaRPr lang="en-US" sz="850" dirty="0"/>
          </a:p>
        </p:txBody>
      </p:sp>
      <p:sp>
        <p:nvSpPr>
          <p:cNvPr id="23" name="Text 21"/>
          <p:cNvSpPr/>
          <p:nvPr/>
        </p:nvSpPr>
        <p:spPr>
          <a:xfrm>
            <a:off x="914400" y="544068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FR-06: Tamper-Evident Audit Logging</a:t>
            </a:r>
            <a:endParaRPr lang="en-US" sz="950" dirty="0"/>
          </a:p>
        </p:txBody>
      </p:sp>
      <p:sp>
        <p:nvSpPr>
          <p:cNvPr id="24" name="Text 22"/>
          <p:cNvSpPr/>
          <p:nvPr/>
        </p:nvSpPr>
        <p:spPr>
          <a:xfrm>
            <a:off x="1143000" y="5660136"/>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Relational audit trail recording actor ID, IP address, timestamp, and action without logging sensitive patient PII.</a:t>
            </a:r>
            <a:endParaRPr lang="en-US" sz="850" dirty="0"/>
          </a:p>
        </p:txBody>
      </p:sp>
      <p:sp>
        <p:nvSpPr>
          <p:cNvPr id="25" name="Shape 23"/>
          <p:cNvSpPr/>
          <p:nvPr/>
        </p:nvSpPr>
        <p:spPr>
          <a:xfrm>
            <a:off x="6199632" y="1600200"/>
            <a:ext cx="5257800" cy="4572000"/>
          </a:xfrm>
          <a:prstGeom prst="roundRect">
            <a:avLst>
              <a:gd name="adj" fmla="val 2000"/>
            </a:avLst>
          </a:prstGeom>
          <a:solidFill>
            <a:srgbClr val="FFFFFF"/>
          </a:solidFill>
          <a:ln w="12700">
            <a:solidFill>
              <a:srgbClr val="E2E8F0"/>
            </a:solidFill>
            <a:prstDash val="solid"/>
          </a:ln>
        </p:spPr>
      </p:sp>
      <p:sp>
        <p:nvSpPr>
          <p:cNvPr id="26" name="Shape 24"/>
          <p:cNvSpPr/>
          <p:nvPr/>
        </p:nvSpPr>
        <p:spPr>
          <a:xfrm>
            <a:off x="6199632" y="1600200"/>
            <a:ext cx="5257800" cy="457200"/>
          </a:xfrm>
          <a:prstGeom prst="rect">
            <a:avLst/>
          </a:prstGeom>
          <a:solidFill>
            <a:srgbClr val="0D9488"/>
          </a:solidFill>
          <a:ln w="12700">
            <a:solidFill>
              <a:srgbClr val="0D9488"/>
            </a:solidFill>
            <a:prstDash val="solid"/>
          </a:ln>
        </p:spPr>
      </p:sp>
      <p:sp>
        <p:nvSpPr>
          <p:cNvPr id="27" name="Text 25"/>
          <p:cNvSpPr/>
          <p:nvPr/>
        </p:nvSpPr>
        <p:spPr>
          <a:xfrm>
            <a:off x="6382512" y="1600200"/>
            <a:ext cx="4892040" cy="45720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NON-FUNCTIONAL REQUIREMENTS (NFR)</a:t>
            </a:r>
            <a:endParaRPr lang="en-US" sz="1100" dirty="0"/>
          </a:p>
        </p:txBody>
      </p:sp>
      <p:sp>
        <p:nvSpPr>
          <p:cNvPr id="28" name="Text 26"/>
          <p:cNvSpPr/>
          <p:nvPr/>
        </p:nvSpPr>
        <p:spPr>
          <a:xfrm>
            <a:off x="6382512" y="2148840"/>
            <a:ext cx="4892040" cy="256032"/>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NFR-01: High Availability (99.95%)</a:t>
            </a:r>
            <a:endParaRPr lang="en-US" sz="950" dirty="0"/>
          </a:p>
        </p:txBody>
      </p:sp>
      <p:sp>
        <p:nvSpPr>
          <p:cNvPr id="29" name="Text 27"/>
          <p:cNvSpPr/>
          <p:nvPr/>
        </p:nvSpPr>
        <p:spPr>
          <a:xfrm>
            <a:off x="6611112" y="2368296"/>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Target SLA achieved via multi-AZ deployment with Application Load Balancer and automatic database failover.</a:t>
            </a:r>
            <a:endParaRPr lang="en-US" sz="850" dirty="0"/>
          </a:p>
        </p:txBody>
      </p:sp>
      <p:sp>
        <p:nvSpPr>
          <p:cNvPr id="30" name="Text 28"/>
          <p:cNvSpPr/>
          <p:nvPr/>
        </p:nvSpPr>
        <p:spPr>
          <a:xfrm>
            <a:off x="6382512" y="2807208"/>
            <a:ext cx="4892040" cy="256032"/>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NFR-02: Recovery Time Objective (RTO &lt; 15m)</a:t>
            </a:r>
            <a:endParaRPr lang="en-US" sz="950" dirty="0"/>
          </a:p>
        </p:txBody>
      </p:sp>
      <p:sp>
        <p:nvSpPr>
          <p:cNvPr id="31" name="Text 29"/>
          <p:cNvSpPr/>
          <p:nvPr/>
        </p:nvSpPr>
        <p:spPr>
          <a:xfrm>
            <a:off x="6611112" y="3026664"/>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Automated standby switchover completes in 60-120 seconds. Catastrophic snapshot restore completes in &lt; 15 minutes.</a:t>
            </a:r>
            <a:endParaRPr lang="en-US" sz="850" dirty="0"/>
          </a:p>
        </p:txBody>
      </p:sp>
      <p:sp>
        <p:nvSpPr>
          <p:cNvPr id="32" name="Text 30"/>
          <p:cNvSpPr/>
          <p:nvPr/>
        </p:nvSpPr>
        <p:spPr>
          <a:xfrm>
            <a:off x="6382512" y="3465576"/>
            <a:ext cx="4892040" cy="256032"/>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NFR-03: Recovery Point Objective (RPO &lt; 5m)</a:t>
            </a:r>
            <a:endParaRPr lang="en-US" sz="950" dirty="0"/>
          </a:p>
        </p:txBody>
      </p:sp>
      <p:sp>
        <p:nvSpPr>
          <p:cNvPr id="33" name="Text 31"/>
          <p:cNvSpPr/>
          <p:nvPr/>
        </p:nvSpPr>
        <p:spPr>
          <a:xfrm>
            <a:off x="6611112" y="3685032"/>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Continuous binary log streaming to Amazon S3 guarantees less than 5 minutes of maximum potential transaction data loss.</a:t>
            </a:r>
            <a:endParaRPr lang="en-US" sz="850" dirty="0"/>
          </a:p>
        </p:txBody>
      </p:sp>
      <p:sp>
        <p:nvSpPr>
          <p:cNvPr id="34" name="Text 32"/>
          <p:cNvSpPr/>
          <p:nvPr/>
        </p:nvSpPr>
        <p:spPr>
          <a:xfrm>
            <a:off x="6382512" y="4123944"/>
            <a:ext cx="4892040" cy="256032"/>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NFR-04: Sub-Millisecond DB Retrieval</a:t>
            </a:r>
            <a:endParaRPr lang="en-US" sz="950" dirty="0"/>
          </a:p>
        </p:txBody>
      </p:sp>
      <p:sp>
        <p:nvSpPr>
          <p:cNvPr id="35" name="Text 33"/>
          <p:cNvSpPr/>
          <p:nvPr/>
        </p:nvSpPr>
        <p:spPr>
          <a:xfrm>
            <a:off x="6611112" y="4343400"/>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Indexed query performance averaging under 1.0ms locally and under 5.0ms over AWS VPC private subnets.</a:t>
            </a:r>
            <a:endParaRPr lang="en-US" sz="850" dirty="0"/>
          </a:p>
        </p:txBody>
      </p:sp>
      <p:sp>
        <p:nvSpPr>
          <p:cNvPr id="36" name="Text 34"/>
          <p:cNvSpPr/>
          <p:nvPr/>
        </p:nvSpPr>
        <p:spPr>
          <a:xfrm>
            <a:off x="6382512" y="4782312"/>
            <a:ext cx="4892040" cy="256032"/>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NFR-05: Defense-in-Depth Cryptography</a:t>
            </a:r>
            <a:endParaRPr lang="en-US" sz="950" dirty="0"/>
          </a:p>
        </p:txBody>
      </p:sp>
      <p:sp>
        <p:nvSpPr>
          <p:cNvPr id="37" name="Text 35"/>
          <p:cNvSpPr/>
          <p:nvPr/>
        </p:nvSpPr>
        <p:spPr>
          <a:xfrm>
            <a:off x="6611112" y="5001768"/>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Salted bcrypt (12 rounds), TLS 1.3 in transit, AWS KMS AES-256 envelope encryption at rest, Helmet headers, IP rate limiting.</a:t>
            </a:r>
            <a:endParaRPr lang="en-US" sz="850" dirty="0"/>
          </a:p>
        </p:txBody>
      </p:sp>
      <p:sp>
        <p:nvSpPr>
          <p:cNvPr id="38" name="Text 36"/>
          <p:cNvSpPr/>
          <p:nvPr/>
        </p:nvSpPr>
        <p:spPr>
          <a:xfrm>
            <a:off x="6382512" y="5440680"/>
            <a:ext cx="4892040" cy="256032"/>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NFR-06: Principle of Least Privilege (RBAC)</a:t>
            </a:r>
            <a:endParaRPr lang="en-US" sz="950" dirty="0"/>
          </a:p>
        </p:txBody>
      </p:sp>
      <p:sp>
        <p:nvSpPr>
          <p:cNvPr id="39" name="Text 37"/>
          <p:cNvSpPr/>
          <p:nvPr/>
        </p:nvSpPr>
        <p:spPr>
          <a:xfrm>
            <a:off x="6611112" y="5660136"/>
            <a:ext cx="46634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Deny-by-default server-side authorization guards preventing horizontal and vertical privilege escalation.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1: CLOUD SERVICE SELECTION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Service Model Evaluation: IaaS vs PaaS vs SaaS</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Systematic evaluation and architectural justification for MediCloud cloud tiers</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1645920"/>
                <a:gridCol w="2926080"/>
                <a:gridCol w="3410712"/>
                <a:gridCol w="2743200"/>
              </a:tblGrid>
              <a:tr h="0">
                <a:tc>
                  <a:txBody>
                    <a:bodyPr/>
                    <a:lstStyle/>
                    <a:p>
                      <a:pPr indent="0" marL="0">
                        <a:buNone/>
                      </a:pPr>
                      <a:r>
                        <a:rPr lang="en-US" sz="950" b="1" dirty="0">
                          <a:solidFill>
                            <a:srgbClr val="FFFFFF"/>
                          </a:solidFill>
                        </a:rPr>
                        <a:t>Evaluation Dimension</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50" b="1" dirty="0">
                          <a:solidFill>
                            <a:srgbClr val="FFFFFF"/>
                          </a:solidFill>
                        </a:rPr>
                        <a:t>Infrastructure as a Service (IaaS)</a:t>
                      </a:r>
                      <a:endParaRPr lang="en-US" sz="950" dirty="0"/>
                    </a:p>
                    <a:p>
                      <a:pPr indent="0" marL="0">
                        <a:buNone/>
                      </a:pPr>
                      <a:r>
                        <a:rPr lang="en-US" sz="950" b="1" dirty="0">
                          <a:solidFill>
                            <a:srgbClr val="FFFFFF"/>
                          </a:solidFill>
                        </a:rPr>
                        <a:t>(e.g., Raw Amazon EC2 + Self-Hosted MySQL)</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50" b="1" dirty="0">
                          <a:solidFill>
                            <a:srgbClr val="FFFFFF"/>
                          </a:solidFill>
                        </a:rPr>
                        <a:t>Platform as a Service (PaaS)</a:t>
                      </a:r>
                      <a:endParaRPr lang="en-US" sz="950" dirty="0"/>
                    </a:p>
                    <a:p>
                      <a:pPr indent="0" marL="0">
                        <a:buNone/>
                      </a:pPr>
                      <a:r>
                        <a:rPr lang="en-US" sz="950" b="1" dirty="0">
                          <a:solidFill>
                            <a:srgbClr val="FFFFFF"/>
                          </a:solidFill>
                        </a:rPr>
                        <a:t>(AWS Elastic Beanstalk + Amazon RDS)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r>
                        <a:rPr lang="en-US" sz="950" b="1" dirty="0">
                          <a:solidFill>
                            <a:srgbClr val="FFFFFF"/>
                          </a:solidFill>
                        </a:rPr>
                        <a:t>Software as a Service (SaaS)</a:t>
                      </a:r>
                      <a:endParaRPr lang="en-US" sz="950" dirty="0"/>
                    </a:p>
                    <a:p>
                      <a:pPr indent="0" marL="0">
                        <a:buNone/>
                      </a:pPr>
                      <a:r>
                        <a:rPr lang="en-US" sz="950" b="1" dirty="0">
                          <a:solidFill>
                            <a:srgbClr val="FFFFFF"/>
                          </a:solidFill>
                        </a:rPr>
                        <a:t>(Commercial Off-the-Shelf HMS)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r>
              <a:tr h="0">
                <a:tc>
                  <a:txBody>
                    <a:bodyPr/>
                    <a:lstStyle/>
                    <a:p>
                      <a:pPr indent="0" marL="0">
                        <a:buNone/>
                      </a:pPr>
                      <a:r>
                        <a:rPr lang="en-US" sz="850" b="1" dirty="0">
                          <a:solidFill>
                            <a:srgbClr val="000000"/>
                          </a:solidFill>
                        </a:rPr>
                        <a:t>Administrative &amp; Maintenance Overhead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High: Manual OS patching, manual backup scripts, manual MySQL replica failover setup.</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15E59"/>
                          </a:solidFill>
                        </a:rPr>
                        <a:t>Low-to-Medium: AWS automates OS patching, health checks, Multi-AZ failover, and scaling.</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Zero: Vendor handles all infrastructure and updates.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Architectural Control &amp; Customization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Total: Complete root access to operating system, kernel, and daemons.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15E59"/>
                          </a:solidFill>
                        </a:rPr>
                        <a:t>Optimal: Full control over source code, database schemas, RBAC middleware, and VPC networking.</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Minimal: Rigid schemas; locked to vendor feature roadmap.</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Data Privacy &amp; Healthcare Compliance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Shared responsibility entirely on customer. High risk of human misconfiguration.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15E59"/>
                          </a:solidFill>
                        </a:rPr>
                        <a:t>Ideal: Encrypted in private subnets with Customer Managed Keys (AWS KMS); covered by AWS BAA.</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Multi-tenant third-party cloud. Difficult compliance auditing and data sovereignty risks.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Cost Efficiency &amp; Elasticity</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Pay-for-idle unless complex auto-scaling scripts are manually written.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15E59"/>
                          </a:solidFill>
                        </a:rPr>
                        <a:t>Pay-as-you-grow with native Auto Scaling Groups and RDS Storage Auto-Scaling ($194/mo baseline).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00000"/>
                          </a:solidFill>
                        </a:rPr>
                        <a:t>Expensive per-seat recurring subscription ($20-$80/user/month).</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900" b="1" dirty="0">
                          <a:solidFill>
                            <a:srgbClr val="000000"/>
                          </a:solidFill>
                        </a:rPr>
                        <a:t>Verdict for MediCloud</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EF4444"/>
                          </a:solidFill>
                        </a:rPr>
                        <a:t>❌ REJECTED: Overwhelming maintenance burden for clinical uptime SLA.</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SELECTED HYBRID PaaS: Elastic Beanstalk (PaaS App) + Amazon RDS (Managed DB) + Amazon S3 (Storage).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indent="0" marL="0">
                        <a:buNone/>
                      </a:pPr>
                      <a:r>
                        <a:rPr lang="en-US" sz="850" b="1" dirty="0">
                          <a:solidFill>
                            <a:srgbClr val="EF4444"/>
                          </a:solidFill>
                        </a:rPr>
                        <a:t>❌ REJECTED: Lack of architectural freedom and proprietary data lock-in.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Shape 8"/>
          <p:cNvSpPr/>
          <p:nvPr/>
        </p:nvSpPr>
        <p:spPr>
          <a:xfrm>
            <a:off x="731520" y="5257800"/>
            <a:ext cx="10725912" cy="1051560"/>
          </a:xfrm>
          <a:prstGeom prst="roundRect">
            <a:avLst>
              <a:gd name="adj" fmla="val 6957"/>
            </a:avLst>
          </a:prstGeom>
          <a:solidFill>
            <a:srgbClr val="CCFBF1"/>
          </a:solidFill>
          <a:ln w="12700">
            <a:solidFill>
              <a:srgbClr val="0D9488"/>
            </a:solidFill>
            <a:prstDash val="solid"/>
          </a:ln>
        </p:spPr>
      </p:sp>
      <p:sp>
        <p:nvSpPr>
          <p:cNvPr id="12" name="Text 9"/>
          <p:cNvSpPr/>
          <p:nvPr/>
        </p:nvSpPr>
        <p:spPr>
          <a:xfrm>
            <a:off x="914400" y="5349240"/>
            <a:ext cx="10332720" cy="228600"/>
          </a:xfrm>
          <a:prstGeom prst="rect">
            <a:avLst/>
          </a:prstGeom>
          <a:noFill/>
          <a:ln/>
        </p:spPr>
        <p:txBody>
          <a:bodyPr wrap="square" rtlCol="0" anchor="ctr"/>
          <a:lstStyle/>
          <a:p>
            <a:pPr indent="0" marL="0">
              <a:buNone/>
            </a:pPr>
            <a:r>
              <a:rPr lang="en-US" sz="950" b="1" dirty="0">
                <a:solidFill>
                  <a:srgbClr val="115E59"/>
                </a:solidFill>
                <a:latin typeface="Arial" pitchFamily="34" charset="0"/>
                <a:ea typeface="Arial" pitchFamily="34" charset="-122"/>
                <a:cs typeface="Arial" pitchFamily="34" charset="-120"/>
              </a:rPr>
              <a:t>💡 ARCHITECTURAL DECISION JUSTIFICATION:</a:t>
            </a:r>
            <a:endParaRPr lang="en-US" sz="950" dirty="0"/>
          </a:p>
        </p:txBody>
      </p:sp>
      <p:sp>
        <p:nvSpPr>
          <p:cNvPr id="13" name="Text 10"/>
          <p:cNvSpPr/>
          <p:nvPr/>
        </p:nvSpPr>
        <p:spPr>
          <a:xfrm>
            <a:off x="914400" y="5596128"/>
            <a:ext cx="10332720" cy="640080"/>
          </a:xfrm>
          <a:prstGeom prst="rect">
            <a:avLst/>
          </a:prstGeom>
          <a:noFill/>
          <a:ln/>
        </p:spPr>
        <p:txBody>
          <a:bodyPr wrap="square" rtlCol="0" anchor="ctr"/>
          <a:lstStyle/>
          <a:p>
            <a:pPr indent="0" marL="0">
              <a:lnSpc>
                <a:spcPts val="1400"/>
              </a:lnSpc>
              <a:buNone/>
            </a:pPr>
            <a:r>
              <a:rPr lang="en-US" sz="880" dirty="0">
                <a:solidFill>
                  <a:srgbClr val="0F2B46"/>
                </a:solidFill>
                <a:latin typeface="Arial" pitchFamily="34" charset="0"/>
                <a:ea typeface="Arial" pitchFamily="34" charset="-122"/>
                <a:cs typeface="Arial" pitchFamily="34" charset="-120"/>
              </a:rPr>
              <a:t>MediCloud adopts a Managed PaaS Hybrid Architecture. AWS Elastic Beanstalk provides automated provisioning, load balancing, and health monitoring while Amazon RDS MySQL 8.0 Multi-AZ completely removes the burden of manual database replication and failover. This achieves enterprise high availability without requiring an expensive dedicated 24/7 DevOps maintenance team.</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1: CLOUD ARCHITECTURE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Proposed Multi-Tier AWS Production Architecture</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High-availability, fault-tolerant design across two Availability Zones (AZ-A &amp; AZ-B)</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3474720" cy="2103120"/>
          </a:xfrm>
          <a:prstGeom prst="roundRect">
            <a:avLst>
              <a:gd name="adj" fmla="val 4348"/>
            </a:avLst>
          </a:prstGeom>
          <a:solidFill>
            <a:srgbClr val="FFFFFF"/>
          </a:solidFill>
          <a:ln w="12700">
            <a:solidFill>
              <a:srgbClr val="E2E8F0"/>
            </a:solidFill>
            <a:prstDash val="solid"/>
          </a:ln>
        </p:spPr>
      </p:sp>
      <p:sp>
        <p:nvSpPr>
          <p:cNvPr id="11" name="Shape 9"/>
          <p:cNvSpPr/>
          <p:nvPr/>
        </p:nvSpPr>
        <p:spPr>
          <a:xfrm>
            <a:off x="731520" y="1600200"/>
            <a:ext cx="3474720" cy="73152"/>
          </a:xfrm>
          <a:prstGeom prst="rect">
            <a:avLst/>
          </a:prstGeom>
          <a:solidFill>
            <a:srgbClr val="0F2B46"/>
          </a:solidFill>
          <a:ln w="12700">
            <a:solidFill>
              <a:srgbClr val="0F2B46"/>
            </a:solidFill>
            <a:prstDash val="solid"/>
          </a:ln>
        </p:spPr>
      </p:sp>
      <p:sp>
        <p:nvSpPr>
          <p:cNvPr id="12" name="Text 10"/>
          <p:cNvSpPr/>
          <p:nvPr/>
        </p:nvSpPr>
        <p:spPr>
          <a:xfrm>
            <a:off x="914400" y="1737360"/>
            <a:ext cx="3108960" cy="36576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Tier 1: Edge &amp; Ingress Tier</a:t>
            </a:r>
            <a:endParaRPr lang="en-US" sz="1100" dirty="0"/>
          </a:p>
        </p:txBody>
      </p:sp>
      <p:sp>
        <p:nvSpPr>
          <p:cNvPr id="13" name="Shape 11"/>
          <p:cNvSpPr/>
          <p:nvPr/>
        </p:nvSpPr>
        <p:spPr>
          <a:xfrm>
            <a:off x="914400" y="2148840"/>
            <a:ext cx="3108960" cy="256032"/>
          </a:xfrm>
          <a:prstGeom prst="roundRect">
            <a:avLst>
              <a:gd name="adj" fmla="val 17857"/>
            </a:avLst>
          </a:prstGeom>
          <a:solidFill>
            <a:srgbClr val="F8FAFC"/>
          </a:solidFill>
          <a:ln w="6350">
            <a:solidFill>
              <a:srgbClr val="E2E8F0"/>
            </a:solidFill>
            <a:prstDash val="solid"/>
          </a:ln>
        </p:spPr>
      </p:sp>
      <p:sp>
        <p:nvSpPr>
          <p:cNvPr id="14" name="Text 12"/>
          <p:cNvSpPr/>
          <p:nvPr/>
        </p:nvSpPr>
        <p:spPr>
          <a:xfrm>
            <a:off x="914400" y="2148840"/>
            <a:ext cx="3108960" cy="256032"/>
          </a:xfrm>
          <a:prstGeom prst="rect">
            <a:avLst/>
          </a:prstGeom>
          <a:noFill/>
          <a:ln/>
        </p:spPr>
        <p:txBody>
          <a:bodyPr wrap="square" rtlCol="0" anchor="ctr"/>
          <a:lstStyle/>
          <a:p>
            <a:pPr algn="ctr" indent="0" marL="0">
              <a:buNone/>
            </a:pPr>
            <a:r>
              <a:rPr lang="en-US" sz="800" b="1" dirty="0">
                <a:solidFill>
                  <a:srgbClr val="0F2B46"/>
                </a:solidFill>
                <a:latin typeface="Arial" pitchFamily="34" charset="0"/>
                <a:ea typeface="Arial" pitchFamily="34" charset="-122"/>
                <a:cs typeface="Arial" pitchFamily="34" charset="-120"/>
              </a:rPr>
              <a:t>Amazon Route 53 • AWS WAF • CloudFront CDN</a:t>
            </a:r>
            <a:endParaRPr lang="en-US" sz="800" dirty="0"/>
          </a:p>
        </p:txBody>
      </p:sp>
      <p:sp>
        <p:nvSpPr>
          <p:cNvPr id="15" name="Text 13"/>
          <p:cNvSpPr/>
          <p:nvPr/>
        </p:nvSpPr>
        <p:spPr>
          <a:xfrm>
            <a:off x="914400" y="2468880"/>
            <a:ext cx="3108960" cy="1143000"/>
          </a:xfrm>
          <a:prstGeom prst="rect">
            <a:avLst/>
          </a:prstGeom>
          <a:noFill/>
          <a:ln/>
        </p:spPr>
        <p:txBody>
          <a:bodyPr wrap="square" rtlCol="0" anchor="t"/>
          <a:lstStyle/>
          <a:p>
            <a:pPr indent="0" marL="0">
              <a:lnSpc>
                <a:spcPts val="1400"/>
              </a:lnSpc>
              <a:buNone/>
            </a:pPr>
            <a:r>
              <a:rPr lang="en-US" sz="880" dirty="0">
                <a:solidFill>
                  <a:srgbClr val="0F172A"/>
                </a:solidFill>
                <a:latin typeface="Arial" pitchFamily="34" charset="0"/>
                <a:ea typeface="Arial" pitchFamily="34" charset="-122"/>
                <a:cs typeface="Arial" pitchFamily="34" charset="-120"/>
              </a:rPr>
              <a:t>Global DNS routing, DDoS protection, Web Application Firewall blocking SQLi/XSS, and TLS 1.3 SSL termination at the edge.</a:t>
            </a:r>
            <a:endParaRPr lang="en-US" sz="880" dirty="0"/>
          </a:p>
        </p:txBody>
      </p:sp>
      <p:sp>
        <p:nvSpPr>
          <p:cNvPr id="16" name="Shape 14"/>
          <p:cNvSpPr/>
          <p:nvPr/>
        </p:nvSpPr>
        <p:spPr>
          <a:xfrm>
            <a:off x="4343400" y="1600200"/>
            <a:ext cx="3474720" cy="2103120"/>
          </a:xfrm>
          <a:prstGeom prst="roundRect">
            <a:avLst>
              <a:gd name="adj" fmla="val 4348"/>
            </a:avLst>
          </a:prstGeom>
          <a:solidFill>
            <a:srgbClr val="FFFFFF"/>
          </a:solidFill>
          <a:ln w="12700">
            <a:solidFill>
              <a:srgbClr val="E2E8F0"/>
            </a:solidFill>
            <a:prstDash val="solid"/>
          </a:ln>
        </p:spPr>
      </p:sp>
      <p:sp>
        <p:nvSpPr>
          <p:cNvPr id="17" name="Shape 15"/>
          <p:cNvSpPr/>
          <p:nvPr/>
        </p:nvSpPr>
        <p:spPr>
          <a:xfrm>
            <a:off x="4343400" y="1600200"/>
            <a:ext cx="3474720" cy="73152"/>
          </a:xfrm>
          <a:prstGeom prst="rect">
            <a:avLst/>
          </a:prstGeom>
          <a:solidFill>
            <a:srgbClr val="0284C7"/>
          </a:solidFill>
          <a:ln w="12700">
            <a:solidFill>
              <a:srgbClr val="0284C7"/>
            </a:solidFill>
            <a:prstDash val="solid"/>
          </a:ln>
        </p:spPr>
      </p:sp>
      <p:sp>
        <p:nvSpPr>
          <p:cNvPr id="18" name="Text 16"/>
          <p:cNvSpPr/>
          <p:nvPr/>
        </p:nvSpPr>
        <p:spPr>
          <a:xfrm>
            <a:off x="4526280" y="1737360"/>
            <a:ext cx="3108960" cy="36576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Tier 2: Load Balancing Tier</a:t>
            </a:r>
            <a:endParaRPr lang="en-US" sz="1100" dirty="0"/>
          </a:p>
        </p:txBody>
      </p:sp>
      <p:sp>
        <p:nvSpPr>
          <p:cNvPr id="19" name="Shape 17"/>
          <p:cNvSpPr/>
          <p:nvPr/>
        </p:nvSpPr>
        <p:spPr>
          <a:xfrm>
            <a:off x="4526280" y="2148840"/>
            <a:ext cx="3108960" cy="256032"/>
          </a:xfrm>
          <a:prstGeom prst="roundRect">
            <a:avLst>
              <a:gd name="adj" fmla="val 17857"/>
            </a:avLst>
          </a:prstGeom>
          <a:solidFill>
            <a:srgbClr val="F8FAFC"/>
          </a:solidFill>
          <a:ln w="6350">
            <a:solidFill>
              <a:srgbClr val="E2E8F0"/>
            </a:solidFill>
            <a:prstDash val="solid"/>
          </a:ln>
        </p:spPr>
      </p:sp>
      <p:sp>
        <p:nvSpPr>
          <p:cNvPr id="20" name="Text 18"/>
          <p:cNvSpPr/>
          <p:nvPr/>
        </p:nvSpPr>
        <p:spPr>
          <a:xfrm>
            <a:off x="4526280" y="2148840"/>
            <a:ext cx="3108960" cy="256032"/>
          </a:xfrm>
          <a:prstGeom prst="rect">
            <a:avLst/>
          </a:prstGeom>
          <a:noFill/>
          <a:ln/>
        </p:spPr>
        <p:txBody>
          <a:bodyPr wrap="square" rtlCol="0" anchor="ctr"/>
          <a:lstStyle/>
          <a:p>
            <a:pPr algn="ctr" indent="0" marL="0">
              <a:buNone/>
            </a:pPr>
            <a:r>
              <a:rPr lang="en-US" sz="800" b="1" dirty="0">
                <a:solidFill>
                  <a:srgbClr val="0284C7"/>
                </a:solidFill>
                <a:latin typeface="Arial" pitchFamily="34" charset="0"/>
                <a:ea typeface="Arial" pitchFamily="34" charset="-122"/>
                <a:cs typeface="Arial" pitchFamily="34" charset="-120"/>
              </a:rPr>
              <a:t>Application Load Balancer (ALB)</a:t>
            </a:r>
            <a:endParaRPr lang="en-US" sz="800" dirty="0"/>
          </a:p>
        </p:txBody>
      </p:sp>
      <p:sp>
        <p:nvSpPr>
          <p:cNvPr id="21" name="Text 19"/>
          <p:cNvSpPr/>
          <p:nvPr/>
        </p:nvSpPr>
        <p:spPr>
          <a:xfrm>
            <a:off x="4526280" y="2468880"/>
            <a:ext cx="3108960" cy="1143000"/>
          </a:xfrm>
          <a:prstGeom prst="rect">
            <a:avLst/>
          </a:prstGeom>
          <a:noFill/>
          <a:ln/>
        </p:spPr>
        <p:txBody>
          <a:bodyPr wrap="square" rtlCol="0" anchor="t"/>
          <a:lstStyle/>
          <a:p>
            <a:pPr indent="0" marL="0">
              <a:lnSpc>
                <a:spcPts val="1400"/>
              </a:lnSpc>
              <a:buNone/>
            </a:pPr>
            <a:r>
              <a:rPr lang="en-US" sz="880" dirty="0">
                <a:solidFill>
                  <a:srgbClr val="0F172A"/>
                </a:solidFill>
                <a:latin typeface="Arial" pitchFamily="34" charset="0"/>
                <a:ea typeface="Arial" pitchFamily="34" charset="-122"/>
                <a:cs typeface="Arial" pitchFamily="34" charset="-120"/>
              </a:rPr>
              <a:t>Dual-AZ public subnets terminating HTTPS, continuously polling /api/health every 15s and distributing traffic to private EC2 instances.</a:t>
            </a:r>
            <a:endParaRPr lang="en-US" sz="880" dirty="0"/>
          </a:p>
        </p:txBody>
      </p:sp>
      <p:sp>
        <p:nvSpPr>
          <p:cNvPr id="22" name="Shape 20"/>
          <p:cNvSpPr/>
          <p:nvPr/>
        </p:nvSpPr>
        <p:spPr>
          <a:xfrm>
            <a:off x="7955280" y="1600200"/>
            <a:ext cx="3474720" cy="2103120"/>
          </a:xfrm>
          <a:prstGeom prst="roundRect">
            <a:avLst>
              <a:gd name="adj" fmla="val 4348"/>
            </a:avLst>
          </a:prstGeom>
          <a:solidFill>
            <a:srgbClr val="FFFFFF"/>
          </a:solidFill>
          <a:ln w="12700">
            <a:solidFill>
              <a:srgbClr val="E2E8F0"/>
            </a:solidFill>
            <a:prstDash val="solid"/>
          </a:ln>
        </p:spPr>
      </p:sp>
      <p:sp>
        <p:nvSpPr>
          <p:cNvPr id="23" name="Shape 21"/>
          <p:cNvSpPr/>
          <p:nvPr/>
        </p:nvSpPr>
        <p:spPr>
          <a:xfrm>
            <a:off x="7955280" y="1600200"/>
            <a:ext cx="3474720" cy="73152"/>
          </a:xfrm>
          <a:prstGeom prst="rect">
            <a:avLst/>
          </a:prstGeom>
          <a:solidFill>
            <a:srgbClr val="0D9488"/>
          </a:solidFill>
          <a:ln w="12700">
            <a:solidFill>
              <a:srgbClr val="0D9488"/>
            </a:solidFill>
            <a:prstDash val="solid"/>
          </a:ln>
        </p:spPr>
      </p:sp>
      <p:sp>
        <p:nvSpPr>
          <p:cNvPr id="24" name="Text 22"/>
          <p:cNvSpPr/>
          <p:nvPr/>
        </p:nvSpPr>
        <p:spPr>
          <a:xfrm>
            <a:off x="8138160" y="1737360"/>
            <a:ext cx="3108960" cy="36576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Tier 3: Private Compute Tier</a:t>
            </a:r>
            <a:endParaRPr lang="en-US" sz="1100" dirty="0"/>
          </a:p>
        </p:txBody>
      </p:sp>
      <p:sp>
        <p:nvSpPr>
          <p:cNvPr id="25" name="Shape 23"/>
          <p:cNvSpPr/>
          <p:nvPr/>
        </p:nvSpPr>
        <p:spPr>
          <a:xfrm>
            <a:off x="8138160" y="2148840"/>
            <a:ext cx="3108960" cy="256032"/>
          </a:xfrm>
          <a:prstGeom prst="roundRect">
            <a:avLst>
              <a:gd name="adj" fmla="val 17857"/>
            </a:avLst>
          </a:prstGeom>
          <a:solidFill>
            <a:srgbClr val="F8FAFC"/>
          </a:solidFill>
          <a:ln w="6350">
            <a:solidFill>
              <a:srgbClr val="E2E8F0"/>
            </a:solidFill>
            <a:prstDash val="solid"/>
          </a:ln>
        </p:spPr>
      </p:sp>
      <p:sp>
        <p:nvSpPr>
          <p:cNvPr id="26" name="Text 24"/>
          <p:cNvSpPr/>
          <p:nvPr/>
        </p:nvSpPr>
        <p:spPr>
          <a:xfrm>
            <a:off x="8138160" y="2148840"/>
            <a:ext cx="3108960" cy="256032"/>
          </a:xfrm>
          <a:prstGeom prst="rect">
            <a:avLst/>
          </a:prstGeom>
          <a:noFill/>
          <a:ln/>
        </p:spPr>
        <p:txBody>
          <a:bodyPr wrap="square" rtlCol="0" anchor="ctr"/>
          <a:lstStyle/>
          <a:p>
            <a:pPr algn="ctr" indent="0" marL="0">
              <a:buNone/>
            </a:pPr>
            <a:r>
              <a:rPr lang="en-US" sz="800" b="1" dirty="0">
                <a:solidFill>
                  <a:srgbClr val="0D9488"/>
                </a:solidFill>
                <a:latin typeface="Arial" pitchFamily="34" charset="0"/>
                <a:ea typeface="Arial" pitchFamily="34" charset="-122"/>
                <a:cs typeface="Arial" pitchFamily="34" charset="-120"/>
              </a:rPr>
              <a:t>AWS Elastic Beanstalk (Auto-Scaling Group)</a:t>
            </a:r>
            <a:endParaRPr lang="en-US" sz="800" dirty="0"/>
          </a:p>
        </p:txBody>
      </p:sp>
      <p:sp>
        <p:nvSpPr>
          <p:cNvPr id="27" name="Text 25"/>
          <p:cNvSpPr/>
          <p:nvPr/>
        </p:nvSpPr>
        <p:spPr>
          <a:xfrm>
            <a:off x="8138160" y="2468880"/>
            <a:ext cx="3108960" cy="1143000"/>
          </a:xfrm>
          <a:prstGeom prst="rect">
            <a:avLst/>
          </a:prstGeom>
          <a:noFill/>
          <a:ln/>
        </p:spPr>
        <p:txBody>
          <a:bodyPr wrap="square" rtlCol="0" anchor="t"/>
          <a:lstStyle/>
          <a:p>
            <a:pPr indent="0" marL="0">
              <a:lnSpc>
                <a:spcPts val="1400"/>
              </a:lnSpc>
              <a:buNone/>
            </a:pPr>
            <a:r>
              <a:rPr lang="en-US" sz="880" dirty="0">
                <a:solidFill>
                  <a:srgbClr val="0F172A"/>
                </a:solidFill>
                <a:latin typeface="Arial" pitchFamily="34" charset="0"/>
                <a:ea typeface="Arial" pitchFamily="34" charset="-122"/>
                <a:cs typeface="Arial" pitchFamily="34" charset="-120"/>
              </a:rPr>
              <a:t>Stateless Node.js 20 Express application instances in private subnets (no public IPs). Elastic scaling from 2 to 6 instances based on traffic.</a:t>
            </a:r>
            <a:endParaRPr lang="en-US" sz="880" dirty="0"/>
          </a:p>
        </p:txBody>
      </p:sp>
      <p:sp>
        <p:nvSpPr>
          <p:cNvPr id="28" name="Shape 26"/>
          <p:cNvSpPr/>
          <p:nvPr/>
        </p:nvSpPr>
        <p:spPr>
          <a:xfrm>
            <a:off x="731520" y="3886200"/>
            <a:ext cx="3474720" cy="2103120"/>
          </a:xfrm>
          <a:prstGeom prst="roundRect">
            <a:avLst>
              <a:gd name="adj" fmla="val 4348"/>
            </a:avLst>
          </a:prstGeom>
          <a:solidFill>
            <a:srgbClr val="FFFFFF"/>
          </a:solidFill>
          <a:ln w="12700">
            <a:solidFill>
              <a:srgbClr val="E2E8F0"/>
            </a:solidFill>
            <a:prstDash val="solid"/>
          </a:ln>
        </p:spPr>
      </p:sp>
      <p:sp>
        <p:nvSpPr>
          <p:cNvPr id="29" name="Shape 27"/>
          <p:cNvSpPr/>
          <p:nvPr/>
        </p:nvSpPr>
        <p:spPr>
          <a:xfrm>
            <a:off x="731520" y="3886200"/>
            <a:ext cx="3474720" cy="73152"/>
          </a:xfrm>
          <a:prstGeom prst="rect">
            <a:avLst/>
          </a:prstGeom>
          <a:solidFill>
            <a:srgbClr val="0A192F"/>
          </a:solidFill>
          <a:ln w="12700">
            <a:solidFill>
              <a:srgbClr val="0A192F"/>
            </a:solidFill>
            <a:prstDash val="solid"/>
          </a:ln>
        </p:spPr>
      </p:sp>
      <p:sp>
        <p:nvSpPr>
          <p:cNvPr id="30" name="Text 28"/>
          <p:cNvSpPr/>
          <p:nvPr/>
        </p:nvSpPr>
        <p:spPr>
          <a:xfrm>
            <a:off x="914400" y="4023360"/>
            <a:ext cx="3108960" cy="36576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Tier 4: Managed Database Tier</a:t>
            </a:r>
            <a:endParaRPr lang="en-US" sz="1100" dirty="0"/>
          </a:p>
        </p:txBody>
      </p:sp>
      <p:sp>
        <p:nvSpPr>
          <p:cNvPr id="31" name="Shape 29"/>
          <p:cNvSpPr/>
          <p:nvPr/>
        </p:nvSpPr>
        <p:spPr>
          <a:xfrm>
            <a:off x="914400" y="4434840"/>
            <a:ext cx="3108960" cy="256032"/>
          </a:xfrm>
          <a:prstGeom prst="roundRect">
            <a:avLst>
              <a:gd name="adj" fmla="val 17857"/>
            </a:avLst>
          </a:prstGeom>
          <a:solidFill>
            <a:srgbClr val="F8FAFC"/>
          </a:solidFill>
          <a:ln w="6350">
            <a:solidFill>
              <a:srgbClr val="E2E8F0"/>
            </a:solidFill>
            <a:prstDash val="solid"/>
          </a:ln>
        </p:spPr>
      </p:sp>
      <p:sp>
        <p:nvSpPr>
          <p:cNvPr id="32" name="Text 30"/>
          <p:cNvSpPr/>
          <p:nvPr/>
        </p:nvSpPr>
        <p:spPr>
          <a:xfrm>
            <a:off x="914400" y="4434840"/>
            <a:ext cx="3108960" cy="256032"/>
          </a:xfrm>
          <a:prstGeom prst="rect">
            <a:avLst/>
          </a:prstGeom>
          <a:noFill/>
          <a:ln/>
        </p:spPr>
        <p:txBody>
          <a:bodyPr wrap="square" rtlCol="0" anchor="ctr"/>
          <a:lstStyle/>
          <a:p>
            <a:pPr algn="ctr" indent="0" marL="0">
              <a:buNone/>
            </a:pPr>
            <a:r>
              <a:rPr lang="en-US" sz="800" b="1" dirty="0">
                <a:solidFill>
                  <a:srgbClr val="0A192F"/>
                </a:solidFill>
                <a:latin typeface="Arial" pitchFamily="34" charset="0"/>
                <a:ea typeface="Arial" pitchFamily="34" charset="-122"/>
                <a:cs typeface="Arial" pitchFamily="34" charset="-120"/>
              </a:rPr>
              <a:t>Amazon RDS for MySQL 8.0 (Multi-AZ)</a:t>
            </a:r>
            <a:endParaRPr lang="en-US" sz="800" dirty="0"/>
          </a:p>
        </p:txBody>
      </p:sp>
      <p:sp>
        <p:nvSpPr>
          <p:cNvPr id="33" name="Text 31"/>
          <p:cNvSpPr/>
          <p:nvPr/>
        </p:nvSpPr>
        <p:spPr>
          <a:xfrm>
            <a:off x="914400" y="4754880"/>
            <a:ext cx="3108960" cy="1143000"/>
          </a:xfrm>
          <a:prstGeom prst="rect">
            <a:avLst/>
          </a:prstGeom>
          <a:noFill/>
          <a:ln/>
        </p:spPr>
        <p:txBody>
          <a:bodyPr wrap="square" rtlCol="0" anchor="t"/>
          <a:lstStyle/>
          <a:p>
            <a:pPr indent="0" marL="0">
              <a:lnSpc>
                <a:spcPts val="1400"/>
              </a:lnSpc>
              <a:buNone/>
            </a:pPr>
            <a:r>
              <a:rPr lang="en-US" sz="880" dirty="0">
                <a:solidFill>
                  <a:srgbClr val="0F172A"/>
                </a:solidFill>
                <a:latin typeface="Arial" pitchFamily="34" charset="0"/>
                <a:ea typeface="Arial" pitchFamily="34" charset="-122"/>
                <a:cs typeface="Arial" pitchFamily="34" charset="-120"/>
              </a:rPr>
              <a:t>Synchronous replication across dedicated private DB subnets. Primary instance in AZ-A automatically fails over to Standby in AZ-B in 60-120s.</a:t>
            </a:r>
            <a:endParaRPr lang="en-US" sz="880" dirty="0"/>
          </a:p>
        </p:txBody>
      </p:sp>
      <p:sp>
        <p:nvSpPr>
          <p:cNvPr id="34" name="Shape 32"/>
          <p:cNvSpPr/>
          <p:nvPr/>
        </p:nvSpPr>
        <p:spPr>
          <a:xfrm>
            <a:off x="4343400" y="3886200"/>
            <a:ext cx="3474720" cy="2103120"/>
          </a:xfrm>
          <a:prstGeom prst="roundRect">
            <a:avLst>
              <a:gd name="adj" fmla="val 4348"/>
            </a:avLst>
          </a:prstGeom>
          <a:solidFill>
            <a:srgbClr val="FFFFFF"/>
          </a:solidFill>
          <a:ln w="12700">
            <a:solidFill>
              <a:srgbClr val="E2E8F0"/>
            </a:solidFill>
            <a:prstDash val="solid"/>
          </a:ln>
        </p:spPr>
      </p:sp>
      <p:sp>
        <p:nvSpPr>
          <p:cNvPr id="35" name="Shape 33"/>
          <p:cNvSpPr/>
          <p:nvPr/>
        </p:nvSpPr>
        <p:spPr>
          <a:xfrm>
            <a:off x="4343400" y="3886200"/>
            <a:ext cx="3474720" cy="73152"/>
          </a:xfrm>
          <a:prstGeom prst="rect">
            <a:avLst/>
          </a:prstGeom>
          <a:solidFill>
            <a:srgbClr val="115E59"/>
          </a:solidFill>
          <a:ln w="12700">
            <a:solidFill>
              <a:srgbClr val="115E59"/>
            </a:solidFill>
            <a:prstDash val="solid"/>
          </a:ln>
        </p:spPr>
      </p:sp>
      <p:sp>
        <p:nvSpPr>
          <p:cNvPr id="36" name="Text 34"/>
          <p:cNvSpPr/>
          <p:nvPr/>
        </p:nvSpPr>
        <p:spPr>
          <a:xfrm>
            <a:off x="4526280" y="4023360"/>
            <a:ext cx="3108960" cy="36576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Tier 5: Encrypted Storage Vault</a:t>
            </a:r>
            <a:endParaRPr lang="en-US" sz="1100" dirty="0"/>
          </a:p>
        </p:txBody>
      </p:sp>
      <p:sp>
        <p:nvSpPr>
          <p:cNvPr id="37" name="Shape 35"/>
          <p:cNvSpPr/>
          <p:nvPr/>
        </p:nvSpPr>
        <p:spPr>
          <a:xfrm>
            <a:off x="4526280" y="4434840"/>
            <a:ext cx="3108960" cy="256032"/>
          </a:xfrm>
          <a:prstGeom prst="roundRect">
            <a:avLst>
              <a:gd name="adj" fmla="val 17857"/>
            </a:avLst>
          </a:prstGeom>
          <a:solidFill>
            <a:srgbClr val="F8FAFC"/>
          </a:solidFill>
          <a:ln w="6350">
            <a:solidFill>
              <a:srgbClr val="E2E8F0"/>
            </a:solidFill>
            <a:prstDash val="solid"/>
          </a:ln>
        </p:spPr>
      </p:sp>
      <p:sp>
        <p:nvSpPr>
          <p:cNvPr id="38" name="Text 36"/>
          <p:cNvSpPr/>
          <p:nvPr/>
        </p:nvSpPr>
        <p:spPr>
          <a:xfrm>
            <a:off x="4526280" y="4434840"/>
            <a:ext cx="3108960" cy="256032"/>
          </a:xfrm>
          <a:prstGeom prst="rect">
            <a:avLst/>
          </a:prstGeom>
          <a:noFill/>
          <a:ln/>
        </p:spPr>
        <p:txBody>
          <a:bodyPr wrap="square" rtlCol="0" anchor="ctr"/>
          <a:lstStyle/>
          <a:p>
            <a:pPr algn="ctr" indent="0" marL="0">
              <a:buNone/>
            </a:pPr>
            <a:r>
              <a:rPr lang="en-US" sz="800" b="1" dirty="0">
                <a:solidFill>
                  <a:srgbClr val="115E59"/>
                </a:solidFill>
                <a:latin typeface="Arial" pitchFamily="34" charset="0"/>
                <a:ea typeface="Arial" pitchFamily="34" charset="-122"/>
                <a:cs typeface="Arial" pitchFamily="34" charset="-120"/>
              </a:rPr>
              <a:t>Amazon S3 (SSE-KMS Customer Key)</a:t>
            </a:r>
            <a:endParaRPr lang="en-US" sz="800" dirty="0"/>
          </a:p>
        </p:txBody>
      </p:sp>
      <p:sp>
        <p:nvSpPr>
          <p:cNvPr id="39" name="Text 37"/>
          <p:cNvSpPr/>
          <p:nvPr/>
        </p:nvSpPr>
        <p:spPr>
          <a:xfrm>
            <a:off x="4526280" y="4754880"/>
            <a:ext cx="3108960" cy="1143000"/>
          </a:xfrm>
          <a:prstGeom prst="rect">
            <a:avLst/>
          </a:prstGeom>
          <a:noFill/>
          <a:ln/>
        </p:spPr>
        <p:txBody>
          <a:bodyPr wrap="square" rtlCol="0" anchor="t"/>
          <a:lstStyle/>
          <a:p>
            <a:pPr indent="0" marL="0">
              <a:lnSpc>
                <a:spcPts val="1400"/>
              </a:lnSpc>
              <a:buNone/>
            </a:pPr>
            <a:r>
              <a:rPr lang="en-US" sz="880" dirty="0">
                <a:solidFill>
                  <a:srgbClr val="0F172A"/>
                </a:solidFill>
                <a:latin typeface="Arial" pitchFamily="34" charset="0"/>
                <a:ea typeface="Arial" pitchFamily="34" charset="-122"/>
                <a:cs typeface="Arial" pitchFamily="34" charset="-120"/>
              </a:rPr>
              <a:t>Encrypted document vault for patient lab attachments and snapshot archives accessed exclusively via private VPC Gateway Endpoints.</a:t>
            </a:r>
            <a:endParaRPr lang="en-US" sz="880" dirty="0"/>
          </a:p>
        </p:txBody>
      </p:sp>
      <p:sp>
        <p:nvSpPr>
          <p:cNvPr id="40" name="Shape 38"/>
          <p:cNvSpPr/>
          <p:nvPr/>
        </p:nvSpPr>
        <p:spPr>
          <a:xfrm>
            <a:off x="7955280" y="3886200"/>
            <a:ext cx="3474720" cy="2103120"/>
          </a:xfrm>
          <a:prstGeom prst="roundRect">
            <a:avLst>
              <a:gd name="adj" fmla="val 4348"/>
            </a:avLst>
          </a:prstGeom>
          <a:solidFill>
            <a:srgbClr val="FFFFFF"/>
          </a:solidFill>
          <a:ln w="12700">
            <a:solidFill>
              <a:srgbClr val="E2E8F0"/>
            </a:solidFill>
            <a:prstDash val="solid"/>
          </a:ln>
        </p:spPr>
      </p:sp>
      <p:sp>
        <p:nvSpPr>
          <p:cNvPr id="41" name="Shape 39"/>
          <p:cNvSpPr/>
          <p:nvPr/>
        </p:nvSpPr>
        <p:spPr>
          <a:xfrm>
            <a:off x="7955280" y="3886200"/>
            <a:ext cx="3474720" cy="73152"/>
          </a:xfrm>
          <a:prstGeom prst="rect">
            <a:avLst/>
          </a:prstGeom>
          <a:solidFill>
            <a:srgbClr val="4F46E5"/>
          </a:solidFill>
          <a:ln w="12700">
            <a:solidFill>
              <a:srgbClr val="4F46E5"/>
            </a:solidFill>
            <a:prstDash val="solid"/>
          </a:ln>
        </p:spPr>
      </p:sp>
      <p:sp>
        <p:nvSpPr>
          <p:cNvPr id="42" name="Text 40"/>
          <p:cNvSpPr/>
          <p:nvPr/>
        </p:nvSpPr>
        <p:spPr>
          <a:xfrm>
            <a:off x="8138160" y="4023360"/>
            <a:ext cx="3108960" cy="36576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Tier 6: Observability &amp; Audit</a:t>
            </a:r>
            <a:endParaRPr lang="en-US" sz="1100" dirty="0"/>
          </a:p>
        </p:txBody>
      </p:sp>
      <p:sp>
        <p:nvSpPr>
          <p:cNvPr id="43" name="Shape 41"/>
          <p:cNvSpPr/>
          <p:nvPr/>
        </p:nvSpPr>
        <p:spPr>
          <a:xfrm>
            <a:off x="8138160" y="4434840"/>
            <a:ext cx="3108960" cy="256032"/>
          </a:xfrm>
          <a:prstGeom prst="roundRect">
            <a:avLst>
              <a:gd name="adj" fmla="val 17857"/>
            </a:avLst>
          </a:prstGeom>
          <a:solidFill>
            <a:srgbClr val="F8FAFC"/>
          </a:solidFill>
          <a:ln w="6350">
            <a:solidFill>
              <a:srgbClr val="E2E8F0"/>
            </a:solidFill>
            <a:prstDash val="solid"/>
          </a:ln>
        </p:spPr>
      </p:sp>
      <p:sp>
        <p:nvSpPr>
          <p:cNvPr id="44" name="Text 42"/>
          <p:cNvSpPr/>
          <p:nvPr/>
        </p:nvSpPr>
        <p:spPr>
          <a:xfrm>
            <a:off x="8138160" y="4434840"/>
            <a:ext cx="3108960" cy="256032"/>
          </a:xfrm>
          <a:prstGeom prst="rect">
            <a:avLst/>
          </a:prstGeom>
          <a:noFill/>
          <a:ln/>
        </p:spPr>
        <p:txBody>
          <a:bodyPr wrap="square" rtlCol="0" anchor="ctr"/>
          <a:lstStyle/>
          <a:p>
            <a:pPr algn="ctr" indent="0" marL="0">
              <a:buNone/>
            </a:pPr>
            <a:r>
              <a:rPr lang="en-US" sz="800" b="1" dirty="0">
                <a:solidFill>
                  <a:srgbClr val="4F46E5"/>
                </a:solidFill>
                <a:latin typeface="Arial" pitchFamily="34" charset="0"/>
                <a:ea typeface="Arial" pitchFamily="34" charset="-122"/>
                <a:cs typeface="Arial" pitchFamily="34" charset="-120"/>
              </a:rPr>
              <a:t>Amazon CloudWatch • AWS CloudTrail • IAM</a:t>
            </a:r>
            <a:endParaRPr lang="en-US" sz="800" dirty="0"/>
          </a:p>
        </p:txBody>
      </p:sp>
      <p:sp>
        <p:nvSpPr>
          <p:cNvPr id="45" name="Text 43"/>
          <p:cNvSpPr/>
          <p:nvPr/>
        </p:nvSpPr>
        <p:spPr>
          <a:xfrm>
            <a:off x="8138160" y="4754880"/>
            <a:ext cx="3108960" cy="1143000"/>
          </a:xfrm>
          <a:prstGeom prst="rect">
            <a:avLst/>
          </a:prstGeom>
          <a:noFill/>
          <a:ln/>
        </p:spPr>
        <p:txBody>
          <a:bodyPr wrap="square" rtlCol="0" anchor="t"/>
          <a:lstStyle/>
          <a:p>
            <a:pPr indent="0" marL="0">
              <a:lnSpc>
                <a:spcPts val="1400"/>
              </a:lnSpc>
              <a:buNone/>
            </a:pPr>
            <a:r>
              <a:rPr lang="en-US" sz="880" dirty="0">
                <a:solidFill>
                  <a:srgbClr val="0F172A"/>
                </a:solidFill>
                <a:latin typeface="Arial" pitchFamily="34" charset="0"/>
                <a:ea typeface="Arial" pitchFamily="34" charset="-122"/>
                <a:cs typeface="Arial" pitchFamily="34" charset="-120"/>
              </a:rPr>
              <a:t>Centralized log aggregation, real-time memory and query latency alarms, immutable API audit trails, and least-privilege IAM execution roles.</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Networking Architecture &amp; Amazon VPC Topology</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Secure subnet isolation, routing tables, and least-privilege security group design</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257800" cy="4572000"/>
          </a:xfrm>
          <a:prstGeom prst="roundRect">
            <a:avLst>
              <a:gd name="adj" fmla="val 2000"/>
            </a:avLst>
          </a:prstGeom>
          <a:solidFill>
            <a:srgbClr val="FFFFFF"/>
          </a:solidFill>
          <a:ln w="12700">
            <a:solidFill>
              <a:srgbClr val="E2E8F0"/>
            </a:solidFill>
            <a:prstDash val="solid"/>
          </a:ln>
        </p:spPr>
      </p:sp>
      <p:sp>
        <p:nvSpPr>
          <p:cNvPr id="11" name="Shape 9"/>
          <p:cNvSpPr/>
          <p:nvPr/>
        </p:nvSpPr>
        <p:spPr>
          <a:xfrm>
            <a:off x="731520" y="1600200"/>
            <a:ext cx="5257800" cy="411480"/>
          </a:xfrm>
          <a:prstGeom prst="rect">
            <a:avLst/>
          </a:prstGeom>
          <a:solidFill>
            <a:srgbClr val="0F2B46"/>
          </a:solidFill>
          <a:ln w="12700">
            <a:solidFill>
              <a:srgbClr val="0F2B46"/>
            </a:solidFill>
            <a:prstDash val="solid"/>
          </a:ln>
        </p:spPr>
      </p:sp>
      <p:sp>
        <p:nvSpPr>
          <p:cNvPr id="12" name="Text 10"/>
          <p:cNvSpPr/>
          <p:nvPr/>
        </p:nvSpPr>
        <p:spPr>
          <a:xfrm>
            <a:off x="914400" y="1600200"/>
            <a:ext cx="4892040" cy="41148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AMAZON VPC SUBMET DESIGN (10.0.0.0/16)</a:t>
            </a:r>
            <a:endParaRPr lang="en-US" sz="1050" dirty="0"/>
          </a:p>
        </p:txBody>
      </p:sp>
      <p:sp>
        <p:nvSpPr>
          <p:cNvPr id="13" name="Text 11"/>
          <p:cNvSpPr/>
          <p:nvPr/>
        </p:nvSpPr>
        <p:spPr>
          <a:xfrm>
            <a:off x="914400" y="2148840"/>
            <a:ext cx="3291840" cy="274320"/>
          </a:xfrm>
          <a:prstGeom prst="rect">
            <a:avLst/>
          </a:prstGeom>
          <a:noFill/>
          <a:ln/>
        </p:spPr>
        <p:txBody>
          <a:bodyPr wrap="square" rtlCol="0" anchor="ctr"/>
          <a:lstStyle/>
          <a:p>
            <a:pPr indent="0" marL="0">
              <a:buNone/>
            </a:pPr>
            <a:r>
              <a:rPr lang="en-US" sz="1000" b="1" dirty="0">
                <a:solidFill>
                  <a:srgbClr val="0F2B46"/>
                </a:solidFill>
                <a:latin typeface="Arial" pitchFamily="34" charset="0"/>
                <a:ea typeface="Arial" pitchFamily="34" charset="-122"/>
                <a:cs typeface="Arial" pitchFamily="34" charset="-120"/>
              </a:rPr>
              <a:t>Public Subnets (Multi-AZ)</a:t>
            </a:r>
            <a:endParaRPr lang="en-US" sz="1000" dirty="0"/>
          </a:p>
        </p:txBody>
      </p:sp>
      <p:sp>
        <p:nvSpPr>
          <p:cNvPr id="14" name="Shape 12"/>
          <p:cNvSpPr/>
          <p:nvPr/>
        </p:nvSpPr>
        <p:spPr>
          <a:xfrm>
            <a:off x="4389120" y="2148840"/>
            <a:ext cx="1417320" cy="228600"/>
          </a:xfrm>
          <a:prstGeom prst="roundRect">
            <a:avLst>
              <a:gd name="adj" fmla="val 20000"/>
            </a:avLst>
          </a:prstGeom>
          <a:solidFill>
            <a:srgbClr val="E0F2FE"/>
          </a:solidFill>
          <a:ln w="6350">
            <a:solidFill>
              <a:srgbClr val="0284C7"/>
            </a:solidFill>
            <a:prstDash val="solid"/>
          </a:ln>
        </p:spPr>
      </p:sp>
      <p:sp>
        <p:nvSpPr>
          <p:cNvPr id="15" name="Text 13"/>
          <p:cNvSpPr/>
          <p:nvPr/>
        </p:nvSpPr>
        <p:spPr>
          <a:xfrm>
            <a:off x="4389120" y="2148840"/>
            <a:ext cx="1417320" cy="228600"/>
          </a:xfrm>
          <a:prstGeom prst="rect">
            <a:avLst/>
          </a:prstGeom>
          <a:noFill/>
          <a:ln/>
        </p:spPr>
        <p:txBody>
          <a:bodyPr wrap="square" rtlCol="0" anchor="ctr"/>
          <a:lstStyle/>
          <a:p>
            <a:pPr algn="ctr" indent="0" marL="0">
              <a:buNone/>
            </a:pPr>
            <a:r>
              <a:rPr lang="en-US" sz="750" b="1" dirty="0">
                <a:solidFill>
                  <a:srgbClr val="0284C7"/>
                </a:solidFill>
                <a:latin typeface="Arial" pitchFamily="34" charset="0"/>
                <a:ea typeface="Arial" pitchFamily="34" charset="-122"/>
                <a:cs typeface="Arial" pitchFamily="34" charset="-120"/>
              </a:rPr>
              <a:t>INTERNET-FACING</a:t>
            </a:r>
            <a:endParaRPr lang="en-US" sz="750" dirty="0"/>
          </a:p>
        </p:txBody>
      </p:sp>
      <p:sp>
        <p:nvSpPr>
          <p:cNvPr id="16" name="Text 14"/>
          <p:cNvSpPr/>
          <p:nvPr/>
        </p:nvSpPr>
        <p:spPr>
          <a:xfrm>
            <a:off x="914400" y="2441448"/>
            <a:ext cx="4892040" cy="228600"/>
          </a:xfrm>
          <a:prstGeom prst="rect">
            <a:avLst/>
          </a:prstGeom>
          <a:noFill/>
          <a:ln/>
        </p:spPr>
        <p:txBody>
          <a:bodyPr wrap="square" rtlCol="0" anchor="ctr"/>
          <a:lstStyle/>
          <a:p>
            <a:pPr indent="0" marL="0">
              <a:buNone/>
            </a:pPr>
            <a:r>
              <a:rPr lang="en-US" sz="850" b="1" dirty="0">
                <a:solidFill>
                  <a:srgbClr val="115E59"/>
                </a:solidFill>
                <a:latin typeface="Courier New" pitchFamily="34" charset="0"/>
                <a:ea typeface="Courier New" pitchFamily="34" charset="-122"/>
                <a:cs typeface="Courier New" pitchFamily="34" charset="-120"/>
              </a:rPr>
              <a:t>CIDR: 10.0.1.0/24 (AZ-A) &amp; 10.0.2.0/24 (AZ-B)</a:t>
            </a:r>
            <a:endParaRPr lang="en-US" sz="850" dirty="0"/>
          </a:p>
        </p:txBody>
      </p:sp>
      <p:sp>
        <p:nvSpPr>
          <p:cNvPr id="17" name="Text 15"/>
          <p:cNvSpPr/>
          <p:nvPr/>
        </p:nvSpPr>
        <p:spPr>
          <a:xfrm>
            <a:off x="914400" y="2679192"/>
            <a:ext cx="4892040" cy="5029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Houses Application Load Balancer (ALB) and NAT Gateways. Direct Internet Gateway (IGW) route for inbound 443.</a:t>
            </a:r>
            <a:endParaRPr lang="en-US" sz="850" dirty="0"/>
          </a:p>
        </p:txBody>
      </p:sp>
      <p:sp>
        <p:nvSpPr>
          <p:cNvPr id="18" name="Text 16"/>
          <p:cNvSpPr/>
          <p:nvPr/>
        </p:nvSpPr>
        <p:spPr>
          <a:xfrm>
            <a:off x="914400" y="3337560"/>
            <a:ext cx="3291840" cy="274320"/>
          </a:xfrm>
          <a:prstGeom prst="rect">
            <a:avLst/>
          </a:prstGeom>
          <a:noFill/>
          <a:ln/>
        </p:spPr>
        <p:txBody>
          <a:bodyPr wrap="square" rtlCol="0" anchor="ctr"/>
          <a:lstStyle/>
          <a:p>
            <a:pPr indent="0" marL="0">
              <a:buNone/>
            </a:pPr>
            <a:r>
              <a:rPr lang="en-US" sz="1000" b="1" dirty="0">
                <a:solidFill>
                  <a:srgbClr val="0F2B46"/>
                </a:solidFill>
                <a:latin typeface="Arial" pitchFamily="34" charset="0"/>
                <a:ea typeface="Arial" pitchFamily="34" charset="-122"/>
                <a:cs typeface="Arial" pitchFamily="34" charset="-120"/>
              </a:rPr>
              <a:t>Private Application Subnets</a:t>
            </a:r>
            <a:endParaRPr lang="en-US" sz="1000" dirty="0"/>
          </a:p>
        </p:txBody>
      </p:sp>
      <p:sp>
        <p:nvSpPr>
          <p:cNvPr id="19" name="Shape 17"/>
          <p:cNvSpPr/>
          <p:nvPr/>
        </p:nvSpPr>
        <p:spPr>
          <a:xfrm>
            <a:off x="4389120" y="3337560"/>
            <a:ext cx="1417320" cy="228600"/>
          </a:xfrm>
          <a:prstGeom prst="roundRect">
            <a:avLst>
              <a:gd name="adj" fmla="val 20000"/>
            </a:avLst>
          </a:prstGeom>
          <a:solidFill>
            <a:srgbClr val="E0F2FE"/>
          </a:solidFill>
          <a:ln w="6350">
            <a:solidFill>
              <a:srgbClr val="0284C7"/>
            </a:solidFill>
            <a:prstDash val="solid"/>
          </a:ln>
        </p:spPr>
      </p:sp>
      <p:sp>
        <p:nvSpPr>
          <p:cNvPr id="20" name="Text 18"/>
          <p:cNvSpPr/>
          <p:nvPr/>
        </p:nvSpPr>
        <p:spPr>
          <a:xfrm>
            <a:off x="4389120" y="3337560"/>
            <a:ext cx="1417320" cy="228600"/>
          </a:xfrm>
          <a:prstGeom prst="rect">
            <a:avLst/>
          </a:prstGeom>
          <a:noFill/>
          <a:ln/>
        </p:spPr>
        <p:txBody>
          <a:bodyPr wrap="square" rtlCol="0" anchor="ctr"/>
          <a:lstStyle/>
          <a:p>
            <a:pPr algn="ctr" indent="0" marL="0">
              <a:buNone/>
            </a:pPr>
            <a:r>
              <a:rPr lang="en-US" sz="750" b="1" dirty="0">
                <a:solidFill>
                  <a:srgbClr val="0284C7"/>
                </a:solidFill>
                <a:latin typeface="Arial" pitchFamily="34" charset="0"/>
                <a:ea typeface="Arial" pitchFamily="34" charset="-122"/>
                <a:cs typeface="Arial" pitchFamily="34" charset="-120"/>
              </a:rPr>
              <a:t>NO PUBLIC IP</a:t>
            </a:r>
            <a:endParaRPr lang="en-US" sz="750" dirty="0"/>
          </a:p>
        </p:txBody>
      </p:sp>
      <p:sp>
        <p:nvSpPr>
          <p:cNvPr id="21" name="Text 19"/>
          <p:cNvSpPr/>
          <p:nvPr/>
        </p:nvSpPr>
        <p:spPr>
          <a:xfrm>
            <a:off x="914400" y="3630168"/>
            <a:ext cx="4892040" cy="228600"/>
          </a:xfrm>
          <a:prstGeom prst="rect">
            <a:avLst/>
          </a:prstGeom>
          <a:noFill/>
          <a:ln/>
        </p:spPr>
        <p:txBody>
          <a:bodyPr wrap="square" rtlCol="0" anchor="ctr"/>
          <a:lstStyle/>
          <a:p>
            <a:pPr indent="0" marL="0">
              <a:buNone/>
            </a:pPr>
            <a:r>
              <a:rPr lang="en-US" sz="850" b="1" dirty="0">
                <a:solidFill>
                  <a:srgbClr val="115E59"/>
                </a:solidFill>
                <a:latin typeface="Courier New" pitchFamily="34" charset="0"/>
                <a:ea typeface="Courier New" pitchFamily="34" charset="-122"/>
                <a:cs typeface="Courier New" pitchFamily="34" charset="-120"/>
              </a:rPr>
              <a:t>CIDR: 10.0.10.0/24 (AZ-A) &amp; 10.0.11.0/24 (AZ-B)</a:t>
            </a:r>
            <a:endParaRPr lang="en-US" sz="850" dirty="0"/>
          </a:p>
        </p:txBody>
      </p:sp>
      <p:sp>
        <p:nvSpPr>
          <p:cNvPr id="22" name="Text 20"/>
          <p:cNvSpPr/>
          <p:nvPr/>
        </p:nvSpPr>
        <p:spPr>
          <a:xfrm>
            <a:off x="914400" y="3867912"/>
            <a:ext cx="4892040" cy="5029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Houses AWS Elastic Beanstalk EC2 instances. ZERO public IPs. Outbound internet egress restricted through NAT Gateway.</a:t>
            </a:r>
            <a:endParaRPr lang="en-US" sz="850" dirty="0"/>
          </a:p>
        </p:txBody>
      </p:sp>
      <p:sp>
        <p:nvSpPr>
          <p:cNvPr id="23" name="Text 21"/>
          <p:cNvSpPr/>
          <p:nvPr/>
        </p:nvSpPr>
        <p:spPr>
          <a:xfrm>
            <a:off x="914400" y="4526280"/>
            <a:ext cx="3291840" cy="274320"/>
          </a:xfrm>
          <a:prstGeom prst="rect">
            <a:avLst/>
          </a:prstGeom>
          <a:noFill/>
          <a:ln/>
        </p:spPr>
        <p:txBody>
          <a:bodyPr wrap="square" rtlCol="0" anchor="ctr"/>
          <a:lstStyle/>
          <a:p>
            <a:pPr indent="0" marL="0">
              <a:buNone/>
            </a:pPr>
            <a:r>
              <a:rPr lang="en-US" sz="1000" b="1" dirty="0">
                <a:solidFill>
                  <a:srgbClr val="0F2B46"/>
                </a:solidFill>
                <a:latin typeface="Arial" pitchFamily="34" charset="0"/>
                <a:ea typeface="Arial" pitchFamily="34" charset="-122"/>
                <a:cs typeface="Arial" pitchFamily="34" charset="-120"/>
              </a:rPr>
              <a:t>Private Database Subnets</a:t>
            </a:r>
            <a:endParaRPr lang="en-US" sz="1000" dirty="0"/>
          </a:p>
        </p:txBody>
      </p:sp>
      <p:sp>
        <p:nvSpPr>
          <p:cNvPr id="24" name="Shape 22"/>
          <p:cNvSpPr/>
          <p:nvPr/>
        </p:nvSpPr>
        <p:spPr>
          <a:xfrm>
            <a:off x="4389120" y="4526280"/>
            <a:ext cx="1417320" cy="228600"/>
          </a:xfrm>
          <a:prstGeom prst="roundRect">
            <a:avLst>
              <a:gd name="adj" fmla="val 20000"/>
            </a:avLst>
          </a:prstGeom>
          <a:solidFill>
            <a:srgbClr val="E0F2FE"/>
          </a:solidFill>
          <a:ln w="6350">
            <a:solidFill>
              <a:srgbClr val="0284C7"/>
            </a:solidFill>
            <a:prstDash val="solid"/>
          </a:ln>
        </p:spPr>
      </p:sp>
      <p:sp>
        <p:nvSpPr>
          <p:cNvPr id="25" name="Text 23"/>
          <p:cNvSpPr/>
          <p:nvPr/>
        </p:nvSpPr>
        <p:spPr>
          <a:xfrm>
            <a:off x="4389120" y="4526280"/>
            <a:ext cx="1417320" cy="228600"/>
          </a:xfrm>
          <a:prstGeom prst="rect">
            <a:avLst/>
          </a:prstGeom>
          <a:noFill/>
          <a:ln/>
        </p:spPr>
        <p:txBody>
          <a:bodyPr wrap="square" rtlCol="0" anchor="ctr"/>
          <a:lstStyle/>
          <a:p>
            <a:pPr algn="ctr" indent="0" marL="0">
              <a:buNone/>
            </a:pPr>
            <a:r>
              <a:rPr lang="en-US" sz="750" b="1" dirty="0">
                <a:solidFill>
                  <a:srgbClr val="0284C7"/>
                </a:solidFill>
                <a:latin typeface="Arial" pitchFamily="34" charset="0"/>
                <a:ea typeface="Arial" pitchFamily="34" charset="-122"/>
                <a:cs typeface="Arial" pitchFamily="34" charset="-120"/>
              </a:rPr>
              <a:t>ISOLATED TIER</a:t>
            </a:r>
            <a:endParaRPr lang="en-US" sz="750" dirty="0"/>
          </a:p>
        </p:txBody>
      </p:sp>
      <p:sp>
        <p:nvSpPr>
          <p:cNvPr id="26" name="Text 24"/>
          <p:cNvSpPr/>
          <p:nvPr/>
        </p:nvSpPr>
        <p:spPr>
          <a:xfrm>
            <a:off x="914400" y="4818888"/>
            <a:ext cx="4892040" cy="228600"/>
          </a:xfrm>
          <a:prstGeom prst="rect">
            <a:avLst/>
          </a:prstGeom>
          <a:noFill/>
          <a:ln/>
        </p:spPr>
        <p:txBody>
          <a:bodyPr wrap="square" rtlCol="0" anchor="ctr"/>
          <a:lstStyle/>
          <a:p>
            <a:pPr indent="0" marL="0">
              <a:buNone/>
            </a:pPr>
            <a:r>
              <a:rPr lang="en-US" sz="850" b="1" dirty="0">
                <a:solidFill>
                  <a:srgbClr val="115E59"/>
                </a:solidFill>
                <a:latin typeface="Courier New" pitchFamily="34" charset="0"/>
                <a:ea typeface="Courier New" pitchFamily="34" charset="-122"/>
                <a:cs typeface="Courier New" pitchFamily="34" charset="-120"/>
              </a:rPr>
              <a:t>CIDR: 10.0.20.0/24 (AZ-A) &amp; 10.0.21.0/24 (AZ-B)</a:t>
            </a:r>
            <a:endParaRPr lang="en-US" sz="850" dirty="0"/>
          </a:p>
        </p:txBody>
      </p:sp>
      <p:sp>
        <p:nvSpPr>
          <p:cNvPr id="27" name="Text 25"/>
          <p:cNvSpPr/>
          <p:nvPr/>
        </p:nvSpPr>
        <p:spPr>
          <a:xfrm>
            <a:off x="914400" y="5056632"/>
            <a:ext cx="4892040" cy="5029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Houses Amazon RDS MySQL Primary and Standby replicas. Strict isolation: NO internet route, NO NAT access.</a:t>
            </a:r>
            <a:endParaRPr lang="en-US" sz="850" dirty="0"/>
          </a:p>
        </p:txBody>
      </p:sp>
      <p:sp>
        <p:nvSpPr>
          <p:cNvPr id="28" name="Shape 26"/>
          <p:cNvSpPr/>
          <p:nvPr/>
        </p:nvSpPr>
        <p:spPr>
          <a:xfrm>
            <a:off x="6199632" y="1600200"/>
            <a:ext cx="5257800" cy="4572000"/>
          </a:xfrm>
          <a:prstGeom prst="roundRect">
            <a:avLst>
              <a:gd name="adj" fmla="val 2000"/>
            </a:avLst>
          </a:prstGeom>
          <a:solidFill>
            <a:srgbClr val="FFFFFF"/>
          </a:solidFill>
          <a:ln w="12700">
            <a:solidFill>
              <a:srgbClr val="E2E8F0"/>
            </a:solidFill>
            <a:prstDash val="solid"/>
          </a:ln>
        </p:spPr>
      </p:sp>
      <p:sp>
        <p:nvSpPr>
          <p:cNvPr id="29" name="Shape 27"/>
          <p:cNvSpPr/>
          <p:nvPr/>
        </p:nvSpPr>
        <p:spPr>
          <a:xfrm>
            <a:off x="6199632" y="1600200"/>
            <a:ext cx="5257800" cy="411480"/>
          </a:xfrm>
          <a:prstGeom prst="rect">
            <a:avLst/>
          </a:prstGeom>
          <a:solidFill>
            <a:srgbClr val="0D9488"/>
          </a:solidFill>
          <a:ln w="12700">
            <a:solidFill>
              <a:srgbClr val="0D9488"/>
            </a:solidFill>
            <a:prstDash val="solid"/>
          </a:ln>
        </p:spPr>
      </p:sp>
      <p:sp>
        <p:nvSpPr>
          <p:cNvPr id="30" name="Text 28"/>
          <p:cNvSpPr/>
          <p:nvPr/>
        </p:nvSpPr>
        <p:spPr>
          <a:xfrm>
            <a:off x="6382512" y="1600200"/>
            <a:ext cx="4892040" cy="41148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 SECURITY GROUP CHAINING &amp; LEAST PRIVILEGE</a:t>
            </a:r>
            <a:endParaRPr lang="en-US" sz="1050" dirty="0"/>
          </a:p>
        </p:txBody>
      </p:sp>
      <p:sp>
        <p:nvSpPr>
          <p:cNvPr id="31" name="Text 29"/>
          <p:cNvSpPr/>
          <p:nvPr/>
        </p:nvSpPr>
        <p:spPr>
          <a:xfrm>
            <a:off x="6382512" y="2148840"/>
            <a:ext cx="4892040" cy="274320"/>
          </a:xfrm>
          <a:prstGeom prst="rect">
            <a:avLst/>
          </a:prstGeom>
          <a:noFill/>
          <a:ln/>
        </p:spPr>
        <p:txBody>
          <a:bodyPr wrap="square" rtlCol="0" anchor="ctr"/>
          <a:lstStyle/>
          <a:p>
            <a:pPr indent="0" marL="0">
              <a:buNone/>
            </a:pPr>
            <a:r>
              <a:rPr lang="en-US" sz="1000" b="1" dirty="0">
                <a:solidFill>
                  <a:srgbClr val="115E59"/>
                </a:solidFill>
                <a:latin typeface="Arial" pitchFamily="34" charset="0"/>
                <a:ea typeface="Arial" pitchFamily="34" charset="-122"/>
                <a:cs typeface="Arial" pitchFamily="34" charset="-120"/>
              </a:rPr>
              <a:t>ALB Security Group (sg-alb)</a:t>
            </a:r>
            <a:endParaRPr lang="en-US" sz="1000" dirty="0"/>
          </a:p>
        </p:txBody>
      </p:sp>
      <p:sp>
        <p:nvSpPr>
          <p:cNvPr id="32" name="Shape 30"/>
          <p:cNvSpPr/>
          <p:nvPr/>
        </p:nvSpPr>
        <p:spPr>
          <a:xfrm>
            <a:off x="6382512" y="2441448"/>
            <a:ext cx="4892040" cy="502920"/>
          </a:xfrm>
          <a:prstGeom prst="roundRect">
            <a:avLst>
              <a:gd name="adj" fmla="val 9091"/>
            </a:avLst>
          </a:prstGeom>
          <a:solidFill>
            <a:srgbClr val="F8FAFC"/>
          </a:solidFill>
          <a:ln w="6350">
            <a:solidFill>
              <a:srgbClr val="E2E8F0"/>
            </a:solidFill>
            <a:prstDash val="solid"/>
          </a:ln>
        </p:spPr>
      </p:sp>
      <p:sp>
        <p:nvSpPr>
          <p:cNvPr id="33" name="Text 31"/>
          <p:cNvSpPr/>
          <p:nvPr/>
        </p:nvSpPr>
        <p:spPr>
          <a:xfrm>
            <a:off x="6492240" y="2468880"/>
            <a:ext cx="4709160" cy="457200"/>
          </a:xfrm>
          <a:prstGeom prst="rect">
            <a:avLst/>
          </a:prstGeom>
          <a:noFill/>
          <a:ln/>
        </p:spPr>
        <p:txBody>
          <a:bodyPr wrap="square" rtlCol="0" anchor="ctr"/>
          <a:lstStyle/>
          <a:p>
            <a:pPr indent="0" marL="0">
              <a:buNone/>
            </a:pPr>
            <a:r>
              <a:rPr lang="en-US" sz="850" b="1" dirty="0">
                <a:solidFill>
                  <a:srgbClr val="0F2B46"/>
                </a:solidFill>
                <a:latin typeface="Courier New" pitchFamily="34" charset="0"/>
                <a:ea typeface="Courier New" pitchFamily="34" charset="-122"/>
                <a:cs typeface="Courier New" pitchFamily="34" charset="-120"/>
              </a:rPr>
              <a:t>Inbound: Port 443 (HTTPS) from 0.0.0.0/0</a:t>
            </a:r>
            <a:endParaRPr lang="en-US" sz="850" dirty="0"/>
          </a:p>
          <a:p>
            <a:pPr indent="0" marL="0">
              <a:buNone/>
            </a:pPr>
            <a:r>
              <a:rPr lang="en-US" sz="850" b="1" dirty="0">
                <a:solidFill>
                  <a:srgbClr val="0F2B46"/>
                </a:solidFill>
                <a:latin typeface="Courier New" pitchFamily="34" charset="0"/>
                <a:ea typeface="Courier New" pitchFamily="34" charset="-122"/>
                <a:cs typeface="Courier New" pitchFamily="34" charset="-120"/>
              </a:rPr>
              <a:t>Outbound: Port 8080 restricted to sg-app only</a:t>
            </a:r>
            <a:endParaRPr lang="en-US" sz="850" dirty="0"/>
          </a:p>
        </p:txBody>
      </p:sp>
      <p:sp>
        <p:nvSpPr>
          <p:cNvPr id="34" name="Text 32"/>
          <p:cNvSpPr/>
          <p:nvPr/>
        </p:nvSpPr>
        <p:spPr>
          <a:xfrm>
            <a:off x="6382512" y="2990088"/>
            <a:ext cx="489204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Terminates public SSL traffic. Rejects all non-HTTPS requests.</a:t>
            </a:r>
            <a:endParaRPr lang="en-US" sz="850" dirty="0"/>
          </a:p>
        </p:txBody>
      </p:sp>
      <p:sp>
        <p:nvSpPr>
          <p:cNvPr id="35" name="Text 33"/>
          <p:cNvSpPr/>
          <p:nvPr/>
        </p:nvSpPr>
        <p:spPr>
          <a:xfrm>
            <a:off x="6382512" y="3337560"/>
            <a:ext cx="4892040" cy="274320"/>
          </a:xfrm>
          <a:prstGeom prst="rect">
            <a:avLst/>
          </a:prstGeom>
          <a:noFill/>
          <a:ln/>
        </p:spPr>
        <p:txBody>
          <a:bodyPr wrap="square" rtlCol="0" anchor="ctr"/>
          <a:lstStyle/>
          <a:p>
            <a:pPr indent="0" marL="0">
              <a:buNone/>
            </a:pPr>
            <a:r>
              <a:rPr lang="en-US" sz="1000" b="1" dirty="0">
                <a:solidFill>
                  <a:srgbClr val="115E59"/>
                </a:solidFill>
                <a:latin typeface="Arial" pitchFamily="34" charset="0"/>
                <a:ea typeface="Arial" pitchFamily="34" charset="-122"/>
                <a:cs typeface="Arial" pitchFamily="34" charset="-120"/>
              </a:rPr>
              <a:t>App Security Group (sg-app)</a:t>
            </a:r>
            <a:endParaRPr lang="en-US" sz="1000" dirty="0"/>
          </a:p>
        </p:txBody>
      </p:sp>
      <p:sp>
        <p:nvSpPr>
          <p:cNvPr id="36" name="Shape 34"/>
          <p:cNvSpPr/>
          <p:nvPr/>
        </p:nvSpPr>
        <p:spPr>
          <a:xfrm>
            <a:off x="6382512" y="3630168"/>
            <a:ext cx="4892040" cy="502920"/>
          </a:xfrm>
          <a:prstGeom prst="roundRect">
            <a:avLst>
              <a:gd name="adj" fmla="val 9091"/>
            </a:avLst>
          </a:prstGeom>
          <a:solidFill>
            <a:srgbClr val="F8FAFC"/>
          </a:solidFill>
          <a:ln w="6350">
            <a:solidFill>
              <a:srgbClr val="E2E8F0"/>
            </a:solidFill>
            <a:prstDash val="solid"/>
          </a:ln>
        </p:spPr>
      </p:sp>
      <p:sp>
        <p:nvSpPr>
          <p:cNvPr id="37" name="Text 35"/>
          <p:cNvSpPr/>
          <p:nvPr/>
        </p:nvSpPr>
        <p:spPr>
          <a:xfrm>
            <a:off x="6492240" y="3657600"/>
            <a:ext cx="4709160" cy="457200"/>
          </a:xfrm>
          <a:prstGeom prst="rect">
            <a:avLst/>
          </a:prstGeom>
          <a:noFill/>
          <a:ln/>
        </p:spPr>
        <p:txBody>
          <a:bodyPr wrap="square" rtlCol="0" anchor="ctr"/>
          <a:lstStyle/>
          <a:p>
            <a:pPr indent="0" marL="0">
              <a:buNone/>
            </a:pPr>
            <a:r>
              <a:rPr lang="en-US" sz="850" b="1" dirty="0">
                <a:solidFill>
                  <a:srgbClr val="0F2B46"/>
                </a:solidFill>
                <a:latin typeface="Courier New" pitchFamily="34" charset="0"/>
                <a:ea typeface="Courier New" pitchFamily="34" charset="-122"/>
                <a:cs typeface="Courier New" pitchFamily="34" charset="-120"/>
              </a:rPr>
              <a:t>Inbound: Port 8080 ONLY from source sg-alb</a:t>
            </a:r>
            <a:endParaRPr lang="en-US" sz="850" dirty="0"/>
          </a:p>
          <a:p>
            <a:pPr indent="0" marL="0">
              <a:buNone/>
            </a:pPr>
            <a:r>
              <a:rPr lang="en-US" sz="850" b="1" dirty="0">
                <a:solidFill>
                  <a:srgbClr val="0F2B46"/>
                </a:solidFill>
                <a:latin typeface="Courier New" pitchFamily="34" charset="0"/>
                <a:ea typeface="Courier New" pitchFamily="34" charset="-122"/>
                <a:cs typeface="Courier New" pitchFamily="34" charset="-120"/>
              </a:rPr>
              <a:t>Outbound: Port 3306 restricted to sg-db only</a:t>
            </a:r>
            <a:endParaRPr lang="en-US" sz="850" dirty="0"/>
          </a:p>
        </p:txBody>
      </p:sp>
      <p:sp>
        <p:nvSpPr>
          <p:cNvPr id="38" name="Text 36"/>
          <p:cNvSpPr/>
          <p:nvPr/>
        </p:nvSpPr>
        <p:spPr>
          <a:xfrm>
            <a:off x="6382512" y="4178808"/>
            <a:ext cx="489204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Blocks all direct public internet access. Node.js only accepts traffic relayed by the ALB.</a:t>
            </a:r>
            <a:endParaRPr lang="en-US" sz="850" dirty="0"/>
          </a:p>
        </p:txBody>
      </p:sp>
      <p:sp>
        <p:nvSpPr>
          <p:cNvPr id="39" name="Text 37"/>
          <p:cNvSpPr/>
          <p:nvPr/>
        </p:nvSpPr>
        <p:spPr>
          <a:xfrm>
            <a:off x="6382512" y="4526280"/>
            <a:ext cx="4892040" cy="274320"/>
          </a:xfrm>
          <a:prstGeom prst="rect">
            <a:avLst/>
          </a:prstGeom>
          <a:noFill/>
          <a:ln/>
        </p:spPr>
        <p:txBody>
          <a:bodyPr wrap="square" rtlCol="0" anchor="ctr"/>
          <a:lstStyle/>
          <a:p>
            <a:pPr indent="0" marL="0">
              <a:buNone/>
            </a:pPr>
            <a:r>
              <a:rPr lang="en-US" sz="1000" b="1" dirty="0">
                <a:solidFill>
                  <a:srgbClr val="115E59"/>
                </a:solidFill>
                <a:latin typeface="Arial" pitchFamily="34" charset="0"/>
                <a:ea typeface="Arial" pitchFamily="34" charset="-122"/>
                <a:cs typeface="Arial" pitchFamily="34" charset="-120"/>
              </a:rPr>
              <a:t>Database Security Group (sg-db)</a:t>
            </a:r>
            <a:endParaRPr lang="en-US" sz="1000" dirty="0"/>
          </a:p>
        </p:txBody>
      </p:sp>
      <p:sp>
        <p:nvSpPr>
          <p:cNvPr id="40" name="Shape 38"/>
          <p:cNvSpPr/>
          <p:nvPr/>
        </p:nvSpPr>
        <p:spPr>
          <a:xfrm>
            <a:off x="6382512" y="4818888"/>
            <a:ext cx="4892040" cy="502920"/>
          </a:xfrm>
          <a:prstGeom prst="roundRect">
            <a:avLst>
              <a:gd name="adj" fmla="val 9091"/>
            </a:avLst>
          </a:prstGeom>
          <a:solidFill>
            <a:srgbClr val="F8FAFC"/>
          </a:solidFill>
          <a:ln w="6350">
            <a:solidFill>
              <a:srgbClr val="E2E8F0"/>
            </a:solidFill>
            <a:prstDash val="solid"/>
          </a:ln>
        </p:spPr>
      </p:sp>
      <p:sp>
        <p:nvSpPr>
          <p:cNvPr id="41" name="Text 39"/>
          <p:cNvSpPr/>
          <p:nvPr/>
        </p:nvSpPr>
        <p:spPr>
          <a:xfrm>
            <a:off x="6492240" y="4846320"/>
            <a:ext cx="4709160" cy="457200"/>
          </a:xfrm>
          <a:prstGeom prst="rect">
            <a:avLst/>
          </a:prstGeom>
          <a:noFill/>
          <a:ln/>
        </p:spPr>
        <p:txBody>
          <a:bodyPr wrap="square" rtlCol="0" anchor="ctr"/>
          <a:lstStyle/>
          <a:p>
            <a:pPr indent="0" marL="0">
              <a:buNone/>
            </a:pPr>
            <a:r>
              <a:rPr lang="en-US" sz="850" b="1" dirty="0">
                <a:solidFill>
                  <a:srgbClr val="0F2B46"/>
                </a:solidFill>
                <a:latin typeface="Courier New" pitchFamily="34" charset="0"/>
                <a:ea typeface="Courier New" pitchFamily="34" charset="-122"/>
                <a:cs typeface="Courier New" pitchFamily="34" charset="-120"/>
              </a:rPr>
              <a:t>Inbound: Port 3306 (MySQL) ONLY from source sg-app</a:t>
            </a:r>
            <a:endParaRPr lang="en-US" sz="850" dirty="0"/>
          </a:p>
          <a:p>
            <a:pPr indent="0" marL="0">
              <a:buNone/>
            </a:pPr>
            <a:r>
              <a:rPr lang="en-US" sz="850" b="1" dirty="0">
                <a:solidFill>
                  <a:srgbClr val="0F2B46"/>
                </a:solidFill>
                <a:latin typeface="Courier New" pitchFamily="34" charset="0"/>
                <a:ea typeface="Courier New" pitchFamily="34" charset="-122"/>
                <a:cs typeface="Courier New" pitchFamily="34" charset="-120"/>
              </a:rPr>
              <a:t>Outbound: Denied / Drop all</a:t>
            </a:r>
            <a:endParaRPr lang="en-US" sz="850" dirty="0"/>
          </a:p>
        </p:txBody>
      </p:sp>
      <p:sp>
        <p:nvSpPr>
          <p:cNvPr id="42" name="Text 40"/>
          <p:cNvSpPr/>
          <p:nvPr/>
        </p:nvSpPr>
        <p:spPr>
          <a:xfrm>
            <a:off x="6382512" y="5367528"/>
            <a:ext cx="489204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Completely unreachable from outside. Only authenticated app instances in sg-app can establish connections.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Cloud Service Configuration &amp; Infrastructure as Code</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AWS Elastic Beanstalk configuration, Nginx reverse proxy, and ALB health check rules</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257800" cy="4572000"/>
          </a:xfrm>
          <a:prstGeom prst="roundRect">
            <a:avLst>
              <a:gd name="adj" fmla="val 2000"/>
            </a:avLst>
          </a:prstGeom>
          <a:solidFill>
            <a:srgbClr val="FFFFFF"/>
          </a:solidFill>
          <a:ln w="12700">
            <a:solidFill>
              <a:srgbClr val="E2E8F0"/>
            </a:solidFill>
            <a:prstDash val="solid"/>
          </a:ln>
        </p:spPr>
      </p:sp>
      <p:sp>
        <p:nvSpPr>
          <p:cNvPr id="11" name="Shape 9"/>
          <p:cNvSpPr/>
          <p:nvPr/>
        </p:nvSpPr>
        <p:spPr>
          <a:xfrm>
            <a:off x="731520" y="1600200"/>
            <a:ext cx="5257800" cy="411480"/>
          </a:xfrm>
          <a:prstGeom prst="rect">
            <a:avLst/>
          </a:prstGeom>
          <a:solidFill>
            <a:srgbClr val="0F2B46"/>
          </a:solidFill>
          <a:ln w="12700">
            <a:solidFill>
              <a:srgbClr val="0F2B46"/>
            </a:solidFill>
            <a:prstDash val="solid"/>
          </a:ln>
        </p:spPr>
      </p:sp>
      <p:sp>
        <p:nvSpPr>
          <p:cNvPr id="12" name="Text 10"/>
          <p:cNvSpPr/>
          <p:nvPr/>
        </p:nvSpPr>
        <p:spPr>
          <a:xfrm>
            <a:off x="914400" y="1600200"/>
            <a:ext cx="489204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.EBEXTENSIONS/01_APP.CONFIG (ACTIVE IN REPO)</a:t>
            </a:r>
            <a:endParaRPr lang="en-US" sz="1000" dirty="0"/>
          </a:p>
        </p:txBody>
      </p:sp>
      <p:sp>
        <p:nvSpPr>
          <p:cNvPr id="13" name="Shape 11"/>
          <p:cNvSpPr/>
          <p:nvPr/>
        </p:nvSpPr>
        <p:spPr>
          <a:xfrm>
            <a:off x="914400" y="2148840"/>
            <a:ext cx="4892040" cy="3840480"/>
          </a:xfrm>
          <a:prstGeom prst="roundRect">
            <a:avLst>
              <a:gd name="adj" fmla="val 1190"/>
            </a:avLst>
          </a:prstGeom>
          <a:solidFill>
            <a:srgbClr val="0F172A"/>
          </a:solidFill>
          <a:ln w="12700">
            <a:solidFill>
              <a:srgbClr val="1E293B"/>
            </a:solidFill>
            <a:prstDash val="solid"/>
          </a:ln>
        </p:spPr>
      </p:sp>
      <p:sp>
        <p:nvSpPr>
          <p:cNvPr id="14" name="Text 12"/>
          <p:cNvSpPr/>
          <p:nvPr/>
        </p:nvSpPr>
        <p:spPr>
          <a:xfrm>
            <a:off x="1051560" y="2240280"/>
            <a:ext cx="4617720" cy="3657600"/>
          </a:xfrm>
          <a:prstGeom prst="rect">
            <a:avLst/>
          </a:prstGeom>
          <a:noFill/>
          <a:ln/>
        </p:spPr>
        <p:txBody>
          <a:bodyPr wrap="square" rtlCol="0" anchor="ctr"/>
          <a:lstStyle/>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option_settings:</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aws:elasticbeanstalk:application:environment:</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NODE_ENV: production</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PORT: 8080</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APP_NAME: "MediCloud-HMS-Production"</a:t>
            </a:r>
            <a:endParaRPr lang="en-US" sz="850" dirty="0"/>
          </a:p>
          <a:p>
            <a:pPr indent="0" marL="0">
              <a:lnSpc>
                <a:spcPts val="1400"/>
              </a:lnSpc>
              <a:buNone/>
            </a:pP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aws:elasticbeanstalk:container:nodejs:</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NodeVersion: 20.x</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ProxyServer: nginx</a:t>
            </a:r>
            <a:endParaRPr lang="en-US" sz="850" dirty="0"/>
          </a:p>
          <a:p>
            <a:pPr indent="0" marL="0">
              <a:lnSpc>
                <a:spcPts val="1400"/>
              </a:lnSpc>
              <a:buNone/>
            </a:pP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aws:elbv2:listener:443:</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Protocol: HTTPS</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SSLCertificateArns: arn:aws:acm:...</a:t>
            </a:r>
            <a:endParaRPr lang="en-US" sz="850" dirty="0"/>
          </a:p>
          <a:p>
            <a:pPr indent="0" marL="0">
              <a:lnSpc>
                <a:spcPts val="1400"/>
              </a:lnSpc>
              <a:buNone/>
            </a:pP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aws:elasticbeanstalk:environment:process:default:</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HealthCheckPath: /api/health</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Port: 8080</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Protocol: HTTP</a:t>
            </a:r>
            <a:endParaRPr lang="en-US" sz="850" dirty="0"/>
          </a:p>
          <a:p>
            <a:pPr indent="0" marL="0">
              <a:lnSpc>
                <a:spcPts val="1400"/>
              </a:lnSpc>
              <a:buNone/>
            </a:pPr>
            <a:r>
              <a:rPr lang="en-US" sz="850" dirty="0">
                <a:solidFill>
                  <a:srgbClr val="38BDF8"/>
                </a:solidFill>
                <a:latin typeface="Courier New" pitchFamily="34" charset="0"/>
                <a:ea typeface="Courier New" pitchFamily="34" charset="-122"/>
                <a:cs typeface="Courier New" pitchFamily="34" charset="-120"/>
              </a:rPr>
              <a:t>    MatcherHTTPCode: "200"</a:t>
            </a:r>
            <a:endParaRPr lang="en-US" sz="850" dirty="0"/>
          </a:p>
        </p:txBody>
      </p:sp>
      <p:sp>
        <p:nvSpPr>
          <p:cNvPr id="15" name="Shape 13"/>
          <p:cNvSpPr/>
          <p:nvPr/>
        </p:nvSpPr>
        <p:spPr>
          <a:xfrm>
            <a:off x="6199632" y="1600200"/>
            <a:ext cx="5257800" cy="4572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6199632" y="1600200"/>
            <a:ext cx="5257800" cy="411480"/>
          </a:xfrm>
          <a:prstGeom prst="rect">
            <a:avLst/>
          </a:prstGeom>
          <a:solidFill>
            <a:srgbClr val="0284C7"/>
          </a:solidFill>
          <a:ln w="12700">
            <a:solidFill>
              <a:srgbClr val="0284C7"/>
            </a:solidFill>
            <a:prstDash val="solid"/>
          </a:ln>
        </p:spPr>
      </p:sp>
      <p:sp>
        <p:nvSpPr>
          <p:cNvPr id="17" name="Text 15"/>
          <p:cNvSpPr/>
          <p:nvPr/>
        </p:nvSpPr>
        <p:spPr>
          <a:xfrm>
            <a:off x="6382512" y="1600200"/>
            <a:ext cx="489204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DEPLOYMENT &amp; RUNTIME EXECUTION</a:t>
            </a:r>
            <a:endParaRPr lang="en-US" sz="1000" dirty="0"/>
          </a:p>
        </p:txBody>
      </p:sp>
      <p:sp>
        <p:nvSpPr>
          <p:cNvPr id="18" name="Text 16"/>
          <p:cNvSpPr/>
          <p:nvPr/>
        </p:nvSpPr>
        <p:spPr>
          <a:xfrm>
            <a:off x="6382512" y="214884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Procfile Web Process Declaration</a:t>
            </a:r>
            <a:endParaRPr lang="en-US" sz="950" dirty="0"/>
          </a:p>
        </p:txBody>
      </p:sp>
      <p:sp>
        <p:nvSpPr>
          <p:cNvPr id="19" name="Text 17"/>
          <p:cNvSpPr/>
          <p:nvPr/>
        </p:nvSpPr>
        <p:spPr>
          <a:xfrm>
            <a:off x="6382512" y="2404872"/>
            <a:ext cx="4892040" cy="201168"/>
          </a:xfrm>
          <a:prstGeom prst="rect">
            <a:avLst/>
          </a:prstGeom>
          <a:noFill/>
          <a:ln/>
        </p:spPr>
        <p:txBody>
          <a:bodyPr wrap="square" rtlCol="0" anchor="ctr"/>
          <a:lstStyle/>
          <a:p>
            <a:pPr indent="0" marL="0">
              <a:buNone/>
            </a:pPr>
            <a:r>
              <a:rPr lang="en-US" sz="850" b="1" dirty="0">
                <a:solidFill>
                  <a:srgbClr val="0284C7"/>
                </a:solidFill>
                <a:latin typeface="Courier New" pitchFamily="34" charset="0"/>
                <a:ea typeface="Courier New" pitchFamily="34" charset="-122"/>
                <a:cs typeface="Courier New" pitchFamily="34" charset="-120"/>
              </a:rPr>
              <a:t>web: npm start</a:t>
            </a:r>
            <a:endParaRPr lang="en-US" sz="850" dirty="0"/>
          </a:p>
        </p:txBody>
      </p:sp>
      <p:sp>
        <p:nvSpPr>
          <p:cNvPr id="20" name="Text 18"/>
          <p:cNvSpPr/>
          <p:nvPr/>
        </p:nvSpPr>
        <p:spPr>
          <a:xfrm>
            <a:off x="6382512" y="2606040"/>
            <a:ext cx="48920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Instructs AWS Elastic Beanstalk to launch server.js under managed PM2 / Node supervisor on port 8080.</a:t>
            </a:r>
            <a:endParaRPr lang="en-US" sz="850" dirty="0"/>
          </a:p>
        </p:txBody>
      </p:sp>
      <p:sp>
        <p:nvSpPr>
          <p:cNvPr id="21" name="Text 19"/>
          <p:cNvSpPr/>
          <p:nvPr/>
        </p:nvSpPr>
        <p:spPr>
          <a:xfrm>
            <a:off x="6382512" y="3081528"/>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Nginx High-Performance Reverse Proxy</a:t>
            </a:r>
            <a:endParaRPr lang="en-US" sz="950" dirty="0"/>
          </a:p>
        </p:txBody>
      </p:sp>
      <p:sp>
        <p:nvSpPr>
          <p:cNvPr id="22" name="Text 20"/>
          <p:cNvSpPr/>
          <p:nvPr/>
        </p:nvSpPr>
        <p:spPr>
          <a:xfrm>
            <a:off x="6382512" y="3337560"/>
            <a:ext cx="4892040" cy="201168"/>
          </a:xfrm>
          <a:prstGeom prst="rect">
            <a:avLst/>
          </a:prstGeom>
          <a:noFill/>
          <a:ln/>
        </p:spPr>
        <p:txBody>
          <a:bodyPr wrap="square" rtlCol="0" anchor="ctr"/>
          <a:lstStyle/>
          <a:p>
            <a:pPr indent="0" marL="0">
              <a:buNone/>
            </a:pPr>
            <a:r>
              <a:rPr lang="en-US" sz="850" b="1" dirty="0">
                <a:solidFill>
                  <a:srgbClr val="0284C7"/>
                </a:solidFill>
                <a:latin typeface="Courier New" pitchFamily="34" charset="0"/>
                <a:ea typeface="Courier New" pitchFamily="34" charset="-122"/>
                <a:cs typeface="Courier New" pitchFamily="34" charset="-120"/>
              </a:rPr>
              <a:t>Proxy: nginx (NodeVersion: 20.x)</a:t>
            </a:r>
            <a:endParaRPr lang="en-US" sz="850" dirty="0"/>
          </a:p>
        </p:txBody>
      </p:sp>
      <p:sp>
        <p:nvSpPr>
          <p:cNvPr id="23" name="Text 21"/>
          <p:cNvSpPr/>
          <p:nvPr/>
        </p:nvSpPr>
        <p:spPr>
          <a:xfrm>
            <a:off x="6382512" y="3538728"/>
            <a:ext cx="48920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Nginx buffers client requests, compresses HTTP payloads via gzip, and forwards traffic to Node.js on localhost:8080.</a:t>
            </a:r>
            <a:endParaRPr lang="en-US" sz="850" dirty="0"/>
          </a:p>
        </p:txBody>
      </p:sp>
      <p:sp>
        <p:nvSpPr>
          <p:cNvPr id="24" name="Text 22"/>
          <p:cNvSpPr/>
          <p:nvPr/>
        </p:nvSpPr>
        <p:spPr>
          <a:xfrm>
            <a:off x="6382512" y="4014216"/>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Active ALB Health Polling Endpoint</a:t>
            </a:r>
            <a:endParaRPr lang="en-US" sz="950" dirty="0"/>
          </a:p>
        </p:txBody>
      </p:sp>
      <p:sp>
        <p:nvSpPr>
          <p:cNvPr id="25" name="Text 23"/>
          <p:cNvSpPr/>
          <p:nvPr/>
        </p:nvSpPr>
        <p:spPr>
          <a:xfrm>
            <a:off x="6382512" y="4270248"/>
            <a:ext cx="4892040" cy="201168"/>
          </a:xfrm>
          <a:prstGeom prst="rect">
            <a:avLst/>
          </a:prstGeom>
          <a:noFill/>
          <a:ln/>
        </p:spPr>
        <p:txBody>
          <a:bodyPr wrap="square" rtlCol="0" anchor="ctr"/>
          <a:lstStyle/>
          <a:p>
            <a:pPr indent="0" marL="0">
              <a:buNone/>
            </a:pPr>
            <a:r>
              <a:rPr lang="en-US" sz="850" b="1" dirty="0">
                <a:solidFill>
                  <a:srgbClr val="0284C7"/>
                </a:solidFill>
                <a:latin typeface="Courier New" pitchFamily="34" charset="0"/>
                <a:ea typeface="Courier New" pitchFamily="34" charset="-122"/>
                <a:cs typeface="Courier New" pitchFamily="34" charset="-120"/>
              </a:rPr>
              <a:t>HealthCheckPath: /api/health (200 OK)</a:t>
            </a:r>
            <a:endParaRPr lang="en-US" sz="850" dirty="0"/>
          </a:p>
        </p:txBody>
      </p:sp>
      <p:sp>
        <p:nvSpPr>
          <p:cNvPr id="26" name="Text 24"/>
          <p:cNvSpPr/>
          <p:nvPr/>
        </p:nvSpPr>
        <p:spPr>
          <a:xfrm>
            <a:off x="6382512" y="4471416"/>
            <a:ext cx="48920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Returns database connectivity, memory stats, and uptime. Unhealthy instances are automatically recycled by Auto Scaling Group.</a:t>
            </a:r>
            <a:endParaRPr lang="en-US" sz="850" dirty="0"/>
          </a:p>
        </p:txBody>
      </p:sp>
      <p:sp>
        <p:nvSpPr>
          <p:cNvPr id="27" name="Text 25"/>
          <p:cNvSpPr/>
          <p:nvPr/>
        </p:nvSpPr>
        <p:spPr>
          <a:xfrm>
            <a:off x="6382512" y="4946904"/>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AWS ACM SSL/TLS 1.3 Termination</a:t>
            </a:r>
            <a:endParaRPr lang="en-US" sz="950" dirty="0"/>
          </a:p>
        </p:txBody>
      </p:sp>
      <p:sp>
        <p:nvSpPr>
          <p:cNvPr id="28" name="Text 26"/>
          <p:cNvSpPr/>
          <p:nvPr/>
        </p:nvSpPr>
        <p:spPr>
          <a:xfrm>
            <a:off x="6382512" y="5202936"/>
            <a:ext cx="4892040" cy="201168"/>
          </a:xfrm>
          <a:prstGeom prst="rect">
            <a:avLst/>
          </a:prstGeom>
          <a:noFill/>
          <a:ln/>
        </p:spPr>
        <p:txBody>
          <a:bodyPr wrap="square" rtlCol="0" anchor="ctr"/>
          <a:lstStyle/>
          <a:p>
            <a:pPr indent="0" marL="0">
              <a:buNone/>
            </a:pPr>
            <a:r>
              <a:rPr lang="en-US" sz="850" b="1" dirty="0">
                <a:solidFill>
                  <a:srgbClr val="0284C7"/>
                </a:solidFill>
                <a:latin typeface="Courier New" pitchFamily="34" charset="0"/>
                <a:ea typeface="Courier New" pitchFamily="34" charset="-122"/>
                <a:cs typeface="Courier New" pitchFamily="34" charset="-120"/>
              </a:rPr>
              <a:t>aws:elbv2:listener:443 (HTTPS)</a:t>
            </a:r>
            <a:endParaRPr lang="en-US" sz="850" dirty="0"/>
          </a:p>
        </p:txBody>
      </p:sp>
      <p:sp>
        <p:nvSpPr>
          <p:cNvPr id="29" name="Text 27"/>
          <p:cNvSpPr/>
          <p:nvPr/>
        </p:nvSpPr>
        <p:spPr>
          <a:xfrm>
            <a:off x="6382512" y="5404104"/>
            <a:ext cx="4892040" cy="38404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Offloads CPU-heavy TLS handshake cryptography to the ALB, ensuring full end-to-end encryption in transit.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Database Architecture &amp; Amazon RDS MySQL Migration</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Decoupled SQL access layer, relational integrity, and seamless migration pipeline</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10725912" cy="777240"/>
          </a:xfrm>
          <a:prstGeom prst="roundRect">
            <a:avLst>
              <a:gd name="adj" fmla="val 9412"/>
            </a:avLst>
          </a:prstGeom>
          <a:solidFill>
            <a:srgbClr val="E0F2FE"/>
          </a:solidFill>
          <a:ln w="12700">
            <a:solidFill>
              <a:srgbClr val="0284C7"/>
            </a:solidFill>
            <a:prstDash val="solid"/>
          </a:ln>
        </p:spPr>
      </p:sp>
      <p:sp>
        <p:nvSpPr>
          <p:cNvPr id="11" name="Text 9"/>
          <p:cNvSpPr/>
          <p:nvPr/>
        </p:nvSpPr>
        <p:spPr>
          <a:xfrm>
            <a:off x="914400" y="1664208"/>
            <a:ext cx="4572000" cy="228600"/>
          </a:xfrm>
          <a:prstGeom prst="rect">
            <a:avLst/>
          </a:prstGeom>
          <a:noFill/>
          <a:ln/>
        </p:spPr>
        <p:txBody>
          <a:bodyPr wrap="square" rtlCol="0" anchor="ctr"/>
          <a:lstStyle/>
          <a:p>
            <a:pPr indent="0" marL="0">
              <a:buNone/>
            </a:pPr>
            <a:r>
              <a:rPr lang="en-US" sz="950" b="1" dirty="0">
                <a:solidFill>
                  <a:srgbClr val="1E3A8A"/>
                </a:solidFill>
                <a:latin typeface="Arial" pitchFamily="34" charset="0"/>
                <a:ea typeface="Arial" pitchFamily="34" charset="-122"/>
                <a:cs typeface="Arial" pitchFamily="34" charset="-120"/>
              </a:rPr>
              <a:t>🔄 MODULAR DATABASE ACCESS LAYER (src/db/index.js):</a:t>
            </a:r>
            <a:endParaRPr lang="en-US" sz="950" dirty="0"/>
          </a:p>
        </p:txBody>
      </p:sp>
      <p:sp>
        <p:nvSpPr>
          <p:cNvPr id="12" name="Text 10"/>
          <p:cNvSpPr/>
          <p:nvPr/>
        </p:nvSpPr>
        <p:spPr>
          <a:xfrm>
            <a:off x="914400" y="1920240"/>
            <a:ext cx="10332720" cy="411480"/>
          </a:xfrm>
          <a:prstGeom prst="rect">
            <a:avLst/>
          </a:prstGeom>
          <a:noFill/>
          <a:ln/>
        </p:spPr>
        <p:txBody>
          <a:bodyPr wrap="square" rtlCol="0" anchor="ctr"/>
          <a:lstStyle/>
          <a:p>
            <a:pPr indent="0" marL="0">
              <a:buNone/>
            </a:pPr>
            <a:r>
              <a:rPr lang="en-US" sz="880" dirty="0">
                <a:solidFill>
                  <a:srgbClr val="0F2B46"/>
                </a:solidFill>
                <a:latin typeface="Arial" pitchFamily="34" charset="0"/>
                <a:ea typeface="Arial" pitchFamily="34" charset="-122"/>
                <a:cs typeface="Arial" pitchFamily="34" charset="-120"/>
              </a:rPr>
              <a:t>The application architecture isolates all SQL queries behind a unified query/get/run abstraction layer. Setting DATABASE_TYPE=mysql instantly switches from local SQLite to Amazon RDS MySQL without rewriting any API routes or controllers.</a:t>
            </a:r>
            <a:endParaRPr lang="en-US" sz="880" dirty="0"/>
          </a:p>
        </p:txBody>
      </p:sp>
      <p:sp>
        <p:nvSpPr>
          <p:cNvPr id="13" name="Shape 11"/>
          <p:cNvSpPr/>
          <p:nvPr/>
        </p:nvSpPr>
        <p:spPr>
          <a:xfrm>
            <a:off x="731520" y="2560320"/>
            <a:ext cx="5257800" cy="3657600"/>
          </a:xfrm>
          <a:prstGeom prst="roundRect">
            <a:avLst>
              <a:gd name="adj" fmla="val 2500"/>
            </a:avLst>
          </a:prstGeom>
          <a:solidFill>
            <a:srgbClr val="FFFFFF"/>
          </a:solidFill>
          <a:ln w="12700">
            <a:solidFill>
              <a:srgbClr val="E2E8F0"/>
            </a:solidFill>
            <a:prstDash val="solid"/>
          </a:ln>
        </p:spPr>
      </p:sp>
      <p:sp>
        <p:nvSpPr>
          <p:cNvPr id="14" name="Text 12"/>
          <p:cNvSpPr/>
          <p:nvPr/>
        </p:nvSpPr>
        <p:spPr>
          <a:xfrm>
            <a:off x="914400" y="2697480"/>
            <a:ext cx="4892040" cy="320040"/>
          </a:xfrm>
          <a:prstGeom prst="rect">
            <a:avLst/>
          </a:prstGeom>
          <a:noFill/>
          <a:ln/>
        </p:spPr>
        <p:txBody>
          <a:bodyPr wrap="square" rtlCol="0" anchor="ctr"/>
          <a:lstStyle/>
          <a:p>
            <a:pPr indent="0" marL="0">
              <a:buNone/>
            </a:pPr>
            <a:r>
              <a:rPr lang="en-US" sz="1050" b="1" dirty="0">
                <a:solidFill>
                  <a:srgbClr val="0F2B46"/>
                </a:solidFill>
                <a:latin typeface="Arial" pitchFamily="34" charset="0"/>
                <a:ea typeface="Arial" pitchFamily="34" charset="-122"/>
                <a:cs typeface="Arial" pitchFamily="34" charset="-120"/>
              </a:rPr>
              <a:t>🗄️ Relational Schema Design (database/schema_mysql.sql)</a:t>
            </a:r>
            <a:endParaRPr lang="en-US" sz="1050" dirty="0"/>
          </a:p>
        </p:txBody>
      </p:sp>
      <p:sp>
        <p:nvSpPr>
          <p:cNvPr id="15" name="Text 13"/>
          <p:cNvSpPr/>
          <p:nvPr/>
        </p:nvSpPr>
        <p:spPr>
          <a:xfrm>
            <a:off x="914400" y="3063240"/>
            <a:ext cx="1645920" cy="256032"/>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 USERS: </a:t>
            </a:r>
            <a:endParaRPr lang="en-US" sz="850" dirty="0"/>
          </a:p>
        </p:txBody>
      </p:sp>
      <p:sp>
        <p:nvSpPr>
          <p:cNvPr id="16" name="Text 14"/>
          <p:cNvSpPr/>
          <p:nvPr/>
        </p:nvSpPr>
        <p:spPr>
          <a:xfrm>
            <a:off x="2468880" y="3063240"/>
            <a:ext cx="333756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id (PK), username (UQ), email, password_hash, role (ENUM), status</a:t>
            </a:r>
            <a:endParaRPr lang="en-US" sz="800" dirty="0"/>
          </a:p>
        </p:txBody>
      </p:sp>
      <p:sp>
        <p:nvSpPr>
          <p:cNvPr id="17" name="Text 15"/>
          <p:cNvSpPr/>
          <p:nvPr/>
        </p:nvSpPr>
        <p:spPr>
          <a:xfrm>
            <a:off x="914400" y="3383280"/>
            <a:ext cx="1645920" cy="256032"/>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 DOCTORS: </a:t>
            </a:r>
            <a:endParaRPr lang="en-US" sz="850" dirty="0"/>
          </a:p>
        </p:txBody>
      </p:sp>
      <p:sp>
        <p:nvSpPr>
          <p:cNvPr id="18" name="Text 16"/>
          <p:cNvSpPr/>
          <p:nvPr/>
        </p:nvSpPr>
        <p:spPr>
          <a:xfrm>
            <a:off x="2468880" y="3383280"/>
            <a:ext cx="333756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id (PK), user_id (FK), doctor_code (UQ), department, availability</a:t>
            </a:r>
            <a:endParaRPr lang="en-US" sz="800" dirty="0"/>
          </a:p>
        </p:txBody>
      </p:sp>
      <p:sp>
        <p:nvSpPr>
          <p:cNvPr id="19" name="Text 17"/>
          <p:cNvSpPr/>
          <p:nvPr/>
        </p:nvSpPr>
        <p:spPr>
          <a:xfrm>
            <a:off x="914400" y="3703320"/>
            <a:ext cx="1645920" cy="256032"/>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 PATIENTS: </a:t>
            </a:r>
            <a:endParaRPr lang="en-US" sz="850" dirty="0"/>
          </a:p>
        </p:txBody>
      </p:sp>
      <p:sp>
        <p:nvSpPr>
          <p:cNvPr id="20" name="Text 18"/>
          <p:cNvSpPr/>
          <p:nvPr/>
        </p:nvSpPr>
        <p:spPr>
          <a:xfrm>
            <a:off x="2468880" y="3703320"/>
            <a:ext cx="333756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id (PK), patient_code (UQ), full_name, dob, blood_group, phone</a:t>
            </a:r>
            <a:endParaRPr lang="en-US" sz="800" dirty="0"/>
          </a:p>
        </p:txBody>
      </p:sp>
      <p:sp>
        <p:nvSpPr>
          <p:cNvPr id="21" name="Text 19"/>
          <p:cNvSpPr/>
          <p:nvPr/>
        </p:nvSpPr>
        <p:spPr>
          <a:xfrm>
            <a:off x="914400" y="4023360"/>
            <a:ext cx="1645920" cy="256032"/>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 APPOINTMENTS: </a:t>
            </a:r>
            <a:endParaRPr lang="en-US" sz="850" dirty="0"/>
          </a:p>
        </p:txBody>
      </p:sp>
      <p:sp>
        <p:nvSpPr>
          <p:cNvPr id="22" name="Text 20"/>
          <p:cNvSpPr/>
          <p:nvPr/>
        </p:nvSpPr>
        <p:spPr>
          <a:xfrm>
            <a:off x="2468880" y="4023360"/>
            <a:ext cx="333756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id (PK), appointment_code, patient_id (FK), doctor_id (FK), status</a:t>
            </a:r>
            <a:endParaRPr lang="en-US" sz="800" dirty="0"/>
          </a:p>
        </p:txBody>
      </p:sp>
      <p:sp>
        <p:nvSpPr>
          <p:cNvPr id="23" name="Text 21"/>
          <p:cNvSpPr/>
          <p:nvPr/>
        </p:nvSpPr>
        <p:spPr>
          <a:xfrm>
            <a:off x="914400" y="4343400"/>
            <a:ext cx="1645920" cy="256032"/>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 MEDICAL_RECORDS: </a:t>
            </a:r>
            <a:endParaRPr lang="en-US" sz="850" dirty="0"/>
          </a:p>
        </p:txBody>
      </p:sp>
      <p:sp>
        <p:nvSpPr>
          <p:cNvPr id="24" name="Text 22"/>
          <p:cNvSpPr/>
          <p:nvPr/>
        </p:nvSpPr>
        <p:spPr>
          <a:xfrm>
            <a:off x="2468880" y="4343400"/>
            <a:ext cx="333756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id (PK), record_code, patient_id (FK), doctor_id (FK), clinical_notes</a:t>
            </a:r>
            <a:endParaRPr lang="en-US" sz="800" dirty="0"/>
          </a:p>
        </p:txBody>
      </p:sp>
      <p:sp>
        <p:nvSpPr>
          <p:cNvPr id="25" name="Text 23"/>
          <p:cNvSpPr/>
          <p:nvPr/>
        </p:nvSpPr>
        <p:spPr>
          <a:xfrm>
            <a:off x="914400" y="4663440"/>
            <a:ext cx="1645920" cy="256032"/>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 AUDIT_LOGS: </a:t>
            </a:r>
            <a:endParaRPr lang="en-US" sz="850" dirty="0"/>
          </a:p>
        </p:txBody>
      </p:sp>
      <p:sp>
        <p:nvSpPr>
          <p:cNvPr id="26" name="Text 24"/>
          <p:cNvSpPr/>
          <p:nvPr/>
        </p:nvSpPr>
        <p:spPr>
          <a:xfrm>
            <a:off x="2468880" y="4663440"/>
            <a:ext cx="333756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id (PK), actor_user_id (FK), action, status, ip_address, timestamp</a:t>
            </a:r>
            <a:endParaRPr lang="en-US" sz="800" dirty="0"/>
          </a:p>
        </p:txBody>
      </p:sp>
      <p:sp>
        <p:nvSpPr>
          <p:cNvPr id="27" name="Text 25"/>
          <p:cNvSpPr/>
          <p:nvPr/>
        </p:nvSpPr>
        <p:spPr>
          <a:xfrm>
            <a:off x="914400" y="5166360"/>
            <a:ext cx="4892040" cy="822960"/>
          </a:xfrm>
          <a:prstGeom prst="rect">
            <a:avLst/>
          </a:prstGeom>
          <a:noFill/>
          <a:ln/>
        </p:spPr>
        <p:txBody>
          <a:bodyPr wrap="square" rtlCol="0" anchor="ctr"/>
          <a:lstStyle/>
          <a:p>
            <a:pPr indent="0" marL="0">
              <a:buNone/>
            </a:pPr>
            <a:r>
              <a:rPr lang="en-US" sz="820" i="1" dirty="0">
                <a:solidFill>
                  <a:srgbClr val="0F172A"/>
                </a:solidFill>
                <a:latin typeface="Arial" pitchFamily="34" charset="0"/>
                <a:ea typeface="Arial" pitchFamily="34" charset="-122"/>
                <a:cs typeface="Arial" pitchFamily="34" charset="-120"/>
              </a:rPr>
              <a:t>Enforced Constraints: Foreign keys, unique indexes, and InnoDB relational transactions ensure zero orphaned medical or appointment records.</a:t>
            </a:r>
            <a:endParaRPr lang="en-US" sz="820" dirty="0"/>
          </a:p>
        </p:txBody>
      </p:sp>
      <p:sp>
        <p:nvSpPr>
          <p:cNvPr id="28" name="Shape 26"/>
          <p:cNvSpPr/>
          <p:nvPr/>
        </p:nvSpPr>
        <p:spPr>
          <a:xfrm>
            <a:off x="6199632" y="2560320"/>
            <a:ext cx="5257800" cy="3657600"/>
          </a:xfrm>
          <a:prstGeom prst="roundRect">
            <a:avLst>
              <a:gd name="adj" fmla="val 2500"/>
            </a:avLst>
          </a:prstGeom>
          <a:solidFill>
            <a:srgbClr val="FFFFFF"/>
          </a:solidFill>
          <a:ln w="12700">
            <a:solidFill>
              <a:srgbClr val="E2E8F0"/>
            </a:solidFill>
            <a:prstDash val="solid"/>
          </a:ln>
        </p:spPr>
      </p:sp>
      <p:sp>
        <p:nvSpPr>
          <p:cNvPr id="29" name="Text 27"/>
          <p:cNvSpPr/>
          <p:nvPr/>
        </p:nvSpPr>
        <p:spPr>
          <a:xfrm>
            <a:off x="6382512" y="2697480"/>
            <a:ext cx="4892040" cy="320040"/>
          </a:xfrm>
          <a:prstGeom prst="rect">
            <a:avLst/>
          </a:prstGeom>
          <a:noFill/>
          <a:ln/>
        </p:spPr>
        <p:txBody>
          <a:bodyPr wrap="square" rtlCol="0" anchor="ctr"/>
          <a:lstStyle/>
          <a:p>
            <a:pPr indent="0" marL="0">
              <a:buNone/>
            </a:pPr>
            <a:r>
              <a:rPr lang="en-US" sz="1050" b="1" dirty="0">
                <a:solidFill>
                  <a:srgbClr val="0F2B46"/>
                </a:solidFill>
                <a:latin typeface="Arial" pitchFamily="34" charset="0"/>
                <a:ea typeface="Arial" pitchFamily="34" charset="-122"/>
                <a:cs typeface="Arial" pitchFamily="34" charset="-120"/>
              </a:rPr>
              <a:t>🚀 SQLite to Amazon RDS Migration Pipeline</a:t>
            </a:r>
            <a:endParaRPr lang="en-US" sz="1050" dirty="0"/>
          </a:p>
        </p:txBody>
      </p:sp>
      <p:sp>
        <p:nvSpPr>
          <p:cNvPr id="30" name="Text 28"/>
          <p:cNvSpPr/>
          <p:nvPr/>
        </p:nvSpPr>
        <p:spPr>
          <a:xfrm>
            <a:off x="6382512" y="3063240"/>
            <a:ext cx="4892040"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Step 1: Automated Data Extraction</a:t>
            </a:r>
            <a:endParaRPr lang="en-US" sz="900" dirty="0"/>
          </a:p>
        </p:txBody>
      </p:sp>
      <p:sp>
        <p:nvSpPr>
          <p:cNvPr id="31" name="Text 29"/>
          <p:cNvSpPr/>
          <p:nvPr/>
        </p:nvSpPr>
        <p:spPr>
          <a:xfrm>
            <a:off x="6382512" y="3264408"/>
            <a:ext cx="4892040" cy="201168"/>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npm run migrate:mysql</a:t>
            </a:r>
            <a:endParaRPr lang="en-US" sz="800" dirty="0"/>
          </a:p>
        </p:txBody>
      </p:sp>
      <p:sp>
        <p:nvSpPr>
          <p:cNvPr id="32" name="Text 30"/>
          <p:cNvSpPr/>
          <p:nvPr/>
        </p:nvSpPr>
        <p:spPr>
          <a:xfrm>
            <a:off x="6382512" y="3447288"/>
            <a:ext cx="4892040" cy="36576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Parses local SQLite state and generates database/mysql_dump.sql with InnoDB DDL and batch INSERT statements.</a:t>
            </a:r>
            <a:endParaRPr lang="en-US" sz="800" dirty="0"/>
          </a:p>
        </p:txBody>
      </p:sp>
      <p:sp>
        <p:nvSpPr>
          <p:cNvPr id="33" name="Text 31"/>
          <p:cNvSpPr/>
          <p:nvPr/>
        </p:nvSpPr>
        <p:spPr>
          <a:xfrm>
            <a:off x="6382512" y="3867912"/>
            <a:ext cx="4892040"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Step 2: Provision Multi-AZ RDS Instance</a:t>
            </a:r>
            <a:endParaRPr lang="en-US" sz="900" dirty="0"/>
          </a:p>
        </p:txBody>
      </p:sp>
      <p:sp>
        <p:nvSpPr>
          <p:cNvPr id="34" name="Text 32"/>
          <p:cNvSpPr/>
          <p:nvPr/>
        </p:nvSpPr>
        <p:spPr>
          <a:xfrm>
            <a:off x="6382512" y="4069080"/>
            <a:ext cx="4892040" cy="201168"/>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AWS RDS: db.t3.medium (MySQL 8.0.35)</a:t>
            </a:r>
            <a:endParaRPr lang="en-US" sz="800" dirty="0"/>
          </a:p>
        </p:txBody>
      </p:sp>
      <p:sp>
        <p:nvSpPr>
          <p:cNvPr id="35" name="Text 33"/>
          <p:cNvSpPr/>
          <p:nvPr/>
        </p:nvSpPr>
        <p:spPr>
          <a:xfrm>
            <a:off x="6382512" y="4251960"/>
            <a:ext cx="4892040" cy="36576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Multi-AZ enabled (synchronous standby in AZ-B), 50 GB gp3 SSD with storage auto-scaling enabled.</a:t>
            </a:r>
            <a:endParaRPr lang="en-US" sz="800" dirty="0"/>
          </a:p>
        </p:txBody>
      </p:sp>
      <p:sp>
        <p:nvSpPr>
          <p:cNvPr id="36" name="Text 34"/>
          <p:cNvSpPr/>
          <p:nvPr/>
        </p:nvSpPr>
        <p:spPr>
          <a:xfrm>
            <a:off x="6382512" y="4672584"/>
            <a:ext cx="4892040"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Step 3: Secure VPC Ingestion</a:t>
            </a:r>
            <a:endParaRPr lang="en-US" sz="900" dirty="0"/>
          </a:p>
        </p:txBody>
      </p:sp>
      <p:sp>
        <p:nvSpPr>
          <p:cNvPr id="37" name="Text 35"/>
          <p:cNvSpPr/>
          <p:nvPr/>
        </p:nvSpPr>
        <p:spPr>
          <a:xfrm>
            <a:off x="6382512" y="4873752"/>
            <a:ext cx="4892040" cy="201168"/>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mysql -h rds-endpoint -u admin &lt; mysql_dump.sql</a:t>
            </a:r>
            <a:endParaRPr lang="en-US" sz="800" dirty="0"/>
          </a:p>
        </p:txBody>
      </p:sp>
      <p:sp>
        <p:nvSpPr>
          <p:cNvPr id="38" name="Text 36"/>
          <p:cNvSpPr/>
          <p:nvPr/>
        </p:nvSpPr>
        <p:spPr>
          <a:xfrm>
            <a:off x="6382512" y="5056632"/>
            <a:ext cx="4892040" cy="36576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Executed from VPC bastion host or Beanstalk instance directly via encrypted private subnet channel.</a:t>
            </a:r>
            <a:endParaRPr lang="en-US" sz="800" dirty="0"/>
          </a:p>
        </p:txBody>
      </p:sp>
      <p:sp>
        <p:nvSpPr>
          <p:cNvPr id="39" name="Text 37"/>
          <p:cNvSpPr/>
          <p:nvPr/>
        </p:nvSpPr>
        <p:spPr>
          <a:xfrm>
            <a:off x="6382512" y="5477256"/>
            <a:ext cx="4892040" cy="228600"/>
          </a:xfrm>
          <a:prstGeom prst="rect">
            <a:avLst/>
          </a:prstGeom>
          <a:noFill/>
          <a:ln/>
        </p:spPr>
        <p:txBody>
          <a:bodyPr wrap="square" rtlCol="0" anchor="ctr"/>
          <a:lstStyle/>
          <a:p>
            <a:pPr indent="0" marL="0">
              <a:buNone/>
            </a:pPr>
            <a:r>
              <a:rPr lang="en-US" sz="900" b="1" dirty="0">
                <a:solidFill>
                  <a:srgbClr val="0284C7"/>
                </a:solidFill>
                <a:latin typeface="Arial" pitchFamily="34" charset="0"/>
                <a:ea typeface="Arial" pitchFamily="34" charset="-122"/>
                <a:cs typeface="Arial" pitchFamily="34" charset="-120"/>
              </a:rPr>
              <a:t>Step 4: Switch Environment Variables</a:t>
            </a:r>
            <a:endParaRPr lang="en-US" sz="900" dirty="0"/>
          </a:p>
        </p:txBody>
      </p:sp>
      <p:sp>
        <p:nvSpPr>
          <p:cNvPr id="40" name="Text 38"/>
          <p:cNvSpPr/>
          <p:nvPr/>
        </p:nvSpPr>
        <p:spPr>
          <a:xfrm>
            <a:off x="6382512" y="5678424"/>
            <a:ext cx="4892040" cy="201168"/>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DATABASE_TYPE=mysql, RDS_DB_HOST=...</a:t>
            </a:r>
            <a:endParaRPr lang="en-US" sz="800" dirty="0"/>
          </a:p>
        </p:txBody>
      </p:sp>
      <p:sp>
        <p:nvSpPr>
          <p:cNvPr id="41" name="Text 39"/>
          <p:cNvSpPr/>
          <p:nvPr/>
        </p:nvSpPr>
        <p:spPr>
          <a:xfrm>
            <a:off x="6382512" y="5861304"/>
            <a:ext cx="4892040" cy="36576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Application seamlessly establishes MySQL connection pool with zero code changes required.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Security Engineering &amp; Defense-in-Depth Architecture</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Layered defenses protecting clinical data in transit, at rest, and during execution</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257800" cy="2103120"/>
          </a:xfrm>
          <a:prstGeom prst="roundRect">
            <a:avLst>
              <a:gd name="adj" fmla="val 4348"/>
            </a:avLst>
          </a:prstGeom>
          <a:solidFill>
            <a:srgbClr val="FFFFFF"/>
          </a:solidFill>
          <a:ln w="12700">
            <a:solidFill>
              <a:srgbClr val="E2E8F0"/>
            </a:solidFill>
            <a:prstDash val="solid"/>
          </a:ln>
        </p:spPr>
      </p:sp>
      <p:sp>
        <p:nvSpPr>
          <p:cNvPr id="11" name="Shape 9"/>
          <p:cNvSpPr/>
          <p:nvPr/>
        </p:nvSpPr>
        <p:spPr>
          <a:xfrm>
            <a:off x="731520" y="1600200"/>
            <a:ext cx="5257800" cy="73152"/>
          </a:xfrm>
          <a:prstGeom prst="rect">
            <a:avLst/>
          </a:prstGeom>
          <a:solidFill>
            <a:srgbClr val="0F2B46"/>
          </a:solidFill>
          <a:ln w="12700">
            <a:solidFill>
              <a:srgbClr val="0F2B46"/>
            </a:solidFill>
            <a:prstDash val="solid"/>
          </a:ln>
        </p:spPr>
      </p:sp>
      <p:sp>
        <p:nvSpPr>
          <p:cNvPr id="12" name="Text 10"/>
          <p:cNvSpPr/>
          <p:nvPr/>
        </p:nvSpPr>
        <p:spPr>
          <a:xfrm>
            <a:off x="960120" y="1764792"/>
            <a:ext cx="3474720" cy="320040"/>
          </a:xfrm>
          <a:prstGeom prst="rect">
            <a:avLst/>
          </a:prstGeom>
          <a:noFill/>
          <a:ln/>
        </p:spPr>
        <p:txBody>
          <a:bodyPr wrap="square" rtlCol="0" anchor="ctr"/>
          <a:lstStyle/>
          <a:p>
            <a:pPr indent="0" marL="0">
              <a:buNone/>
            </a:pPr>
            <a:r>
              <a:rPr lang="en-US" sz="1150" b="1" dirty="0">
                <a:solidFill>
                  <a:srgbClr val="0F2B46"/>
                </a:solidFill>
                <a:latin typeface="Arial" pitchFamily="34" charset="0"/>
                <a:ea typeface="Arial" pitchFamily="34" charset="-122"/>
                <a:cs typeface="Arial" pitchFamily="34" charset="-120"/>
              </a:rPr>
              <a:t>🔐 Cryptographic Protection</a:t>
            </a:r>
            <a:endParaRPr lang="en-US" sz="1150" dirty="0"/>
          </a:p>
        </p:txBody>
      </p:sp>
      <p:sp>
        <p:nvSpPr>
          <p:cNvPr id="13" name="Shape 11"/>
          <p:cNvSpPr/>
          <p:nvPr/>
        </p:nvSpPr>
        <p:spPr>
          <a:xfrm>
            <a:off x="4480560" y="1801368"/>
            <a:ext cx="1280160" cy="228600"/>
          </a:xfrm>
          <a:prstGeom prst="roundRect">
            <a:avLst>
              <a:gd name="adj" fmla="val 20000"/>
            </a:avLst>
          </a:prstGeom>
          <a:solidFill>
            <a:srgbClr val="F8FAFC"/>
          </a:solidFill>
          <a:ln w="6350">
            <a:solidFill>
              <a:srgbClr val="E2E8F0"/>
            </a:solidFill>
            <a:prstDash val="solid"/>
          </a:ln>
        </p:spPr>
      </p:sp>
      <p:sp>
        <p:nvSpPr>
          <p:cNvPr id="14" name="Text 12"/>
          <p:cNvSpPr/>
          <p:nvPr/>
        </p:nvSpPr>
        <p:spPr>
          <a:xfrm>
            <a:off x="4480560" y="1801368"/>
            <a:ext cx="1280160" cy="228600"/>
          </a:xfrm>
          <a:prstGeom prst="rect">
            <a:avLst/>
          </a:prstGeom>
          <a:noFill/>
          <a:ln/>
        </p:spPr>
        <p:txBody>
          <a:bodyPr wrap="square" rtlCol="0" anchor="ctr"/>
          <a:lstStyle/>
          <a:p>
            <a:pPr algn="ctr" indent="0" marL="0">
              <a:buNone/>
            </a:pPr>
            <a:r>
              <a:rPr lang="en-US" sz="750" b="1" dirty="0">
                <a:solidFill>
                  <a:srgbClr val="0F2B46"/>
                </a:solidFill>
                <a:latin typeface="Arial" pitchFamily="34" charset="0"/>
                <a:ea typeface="Arial" pitchFamily="34" charset="-122"/>
                <a:cs typeface="Arial" pitchFamily="34" charset="-120"/>
              </a:rPr>
              <a:t>CRYPTOGRAPHY</a:t>
            </a:r>
            <a:endParaRPr lang="en-US" sz="750" dirty="0"/>
          </a:p>
        </p:txBody>
      </p:sp>
      <p:sp>
        <p:nvSpPr>
          <p:cNvPr id="15" name="Text 13"/>
          <p:cNvSpPr/>
          <p:nvPr/>
        </p:nvSpPr>
        <p:spPr>
          <a:xfrm>
            <a:off x="960120" y="2075688"/>
            <a:ext cx="480060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Bcrypt Salted Hashing (12 Rounds)</a:t>
            </a:r>
            <a:endParaRPr lang="en-US" sz="900" dirty="0"/>
          </a:p>
        </p:txBody>
      </p:sp>
      <p:sp>
        <p:nvSpPr>
          <p:cNvPr id="16" name="Text 14"/>
          <p:cNvSpPr/>
          <p:nvPr/>
        </p:nvSpPr>
        <p:spPr>
          <a:xfrm>
            <a:off x="960120" y="2350008"/>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Passwords never stored in plaintext.</a:t>
            </a:r>
            <a:endParaRPr lang="en-US" sz="850" dirty="0"/>
          </a:p>
        </p:txBody>
      </p:sp>
      <p:sp>
        <p:nvSpPr>
          <p:cNvPr id="17" name="Text 15"/>
          <p:cNvSpPr/>
          <p:nvPr/>
        </p:nvSpPr>
        <p:spPr>
          <a:xfrm>
            <a:off x="960120" y="2752344"/>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12 salt rounds (~300ms compute work factor per hash) renders rainbow tables and GPU brute-force attacks infeasible.</a:t>
            </a:r>
            <a:endParaRPr lang="en-US" sz="850" dirty="0"/>
          </a:p>
        </p:txBody>
      </p:sp>
      <p:sp>
        <p:nvSpPr>
          <p:cNvPr id="18" name="Text 16"/>
          <p:cNvSpPr/>
          <p:nvPr/>
        </p:nvSpPr>
        <p:spPr>
          <a:xfrm>
            <a:off x="960120" y="3154680"/>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Session secret signed using cryptographic entropy.</a:t>
            </a:r>
            <a:endParaRPr lang="en-US" sz="850" dirty="0"/>
          </a:p>
        </p:txBody>
      </p:sp>
      <p:sp>
        <p:nvSpPr>
          <p:cNvPr id="19" name="Shape 17"/>
          <p:cNvSpPr/>
          <p:nvPr/>
        </p:nvSpPr>
        <p:spPr>
          <a:xfrm>
            <a:off x="6172200" y="1600200"/>
            <a:ext cx="5257800" cy="2103120"/>
          </a:xfrm>
          <a:prstGeom prst="roundRect">
            <a:avLst>
              <a:gd name="adj" fmla="val 4348"/>
            </a:avLst>
          </a:prstGeom>
          <a:solidFill>
            <a:srgbClr val="FFFFFF"/>
          </a:solidFill>
          <a:ln w="12700">
            <a:solidFill>
              <a:srgbClr val="E2E8F0"/>
            </a:solidFill>
            <a:prstDash val="solid"/>
          </a:ln>
        </p:spPr>
      </p:sp>
      <p:sp>
        <p:nvSpPr>
          <p:cNvPr id="20" name="Shape 18"/>
          <p:cNvSpPr/>
          <p:nvPr/>
        </p:nvSpPr>
        <p:spPr>
          <a:xfrm>
            <a:off x="6172200" y="1600200"/>
            <a:ext cx="5257800" cy="73152"/>
          </a:xfrm>
          <a:prstGeom prst="rect">
            <a:avLst/>
          </a:prstGeom>
          <a:solidFill>
            <a:srgbClr val="0D9488"/>
          </a:solidFill>
          <a:ln w="12700">
            <a:solidFill>
              <a:srgbClr val="0D9488"/>
            </a:solidFill>
            <a:prstDash val="solid"/>
          </a:ln>
        </p:spPr>
      </p:sp>
      <p:sp>
        <p:nvSpPr>
          <p:cNvPr id="21" name="Text 19"/>
          <p:cNvSpPr/>
          <p:nvPr/>
        </p:nvSpPr>
        <p:spPr>
          <a:xfrm>
            <a:off x="6400800" y="1764792"/>
            <a:ext cx="3474720" cy="320040"/>
          </a:xfrm>
          <a:prstGeom prst="rect">
            <a:avLst/>
          </a:prstGeom>
          <a:noFill/>
          <a:ln/>
        </p:spPr>
        <p:txBody>
          <a:bodyPr wrap="square" rtlCol="0" anchor="ctr"/>
          <a:lstStyle/>
          <a:p>
            <a:pPr indent="0" marL="0">
              <a:buNone/>
            </a:pPr>
            <a:r>
              <a:rPr lang="en-US" sz="1150" b="1" dirty="0">
                <a:solidFill>
                  <a:srgbClr val="0F2B46"/>
                </a:solidFill>
                <a:latin typeface="Arial" pitchFamily="34" charset="0"/>
                <a:ea typeface="Arial" pitchFamily="34" charset="-122"/>
                <a:cs typeface="Arial" pitchFamily="34" charset="-120"/>
              </a:rPr>
              <a:t>💉 SQL Injection Immunity</a:t>
            </a:r>
            <a:endParaRPr lang="en-US" sz="1150" dirty="0"/>
          </a:p>
        </p:txBody>
      </p:sp>
      <p:sp>
        <p:nvSpPr>
          <p:cNvPr id="22" name="Shape 20"/>
          <p:cNvSpPr/>
          <p:nvPr/>
        </p:nvSpPr>
        <p:spPr>
          <a:xfrm>
            <a:off x="9921240" y="1801368"/>
            <a:ext cx="1280160" cy="228600"/>
          </a:xfrm>
          <a:prstGeom prst="roundRect">
            <a:avLst>
              <a:gd name="adj" fmla="val 20000"/>
            </a:avLst>
          </a:prstGeom>
          <a:solidFill>
            <a:srgbClr val="F8FAFC"/>
          </a:solidFill>
          <a:ln w="6350">
            <a:solidFill>
              <a:srgbClr val="E2E8F0"/>
            </a:solidFill>
            <a:prstDash val="solid"/>
          </a:ln>
        </p:spPr>
      </p:sp>
      <p:sp>
        <p:nvSpPr>
          <p:cNvPr id="23" name="Text 21"/>
          <p:cNvSpPr/>
          <p:nvPr/>
        </p:nvSpPr>
        <p:spPr>
          <a:xfrm>
            <a:off x="9921240" y="1801368"/>
            <a:ext cx="1280160" cy="228600"/>
          </a:xfrm>
          <a:prstGeom prst="rect">
            <a:avLst/>
          </a:prstGeom>
          <a:noFill/>
          <a:ln/>
        </p:spPr>
        <p:txBody>
          <a:bodyPr wrap="square" rtlCol="0" anchor="ctr"/>
          <a:lstStyle/>
          <a:p>
            <a:pPr algn="ctr" indent="0" marL="0">
              <a:buNone/>
            </a:pPr>
            <a:r>
              <a:rPr lang="en-US" sz="750" b="1" dirty="0">
                <a:solidFill>
                  <a:srgbClr val="0D9488"/>
                </a:solidFill>
                <a:latin typeface="Arial" pitchFamily="34" charset="0"/>
                <a:ea typeface="Arial" pitchFamily="34" charset="-122"/>
                <a:cs typeface="Arial" pitchFamily="34" charset="-120"/>
              </a:rPr>
              <a:t>DATA INTEGRITY</a:t>
            </a:r>
            <a:endParaRPr lang="en-US" sz="750" dirty="0"/>
          </a:p>
        </p:txBody>
      </p:sp>
      <p:sp>
        <p:nvSpPr>
          <p:cNvPr id="24" name="Text 22"/>
          <p:cNvSpPr/>
          <p:nvPr/>
        </p:nvSpPr>
        <p:spPr>
          <a:xfrm>
            <a:off x="6400800" y="2075688"/>
            <a:ext cx="480060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100% Parameterized Prepared Statements</a:t>
            </a:r>
            <a:endParaRPr lang="en-US" sz="900" dirty="0"/>
          </a:p>
        </p:txBody>
      </p:sp>
      <p:sp>
        <p:nvSpPr>
          <p:cNvPr id="25" name="Text 23"/>
          <p:cNvSpPr/>
          <p:nvPr/>
        </p:nvSpPr>
        <p:spPr>
          <a:xfrm>
            <a:off x="6400800" y="2350008"/>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Zero dynamic string concatenation in SQL queries.</a:t>
            </a:r>
            <a:endParaRPr lang="en-US" sz="850" dirty="0"/>
          </a:p>
        </p:txBody>
      </p:sp>
      <p:sp>
        <p:nvSpPr>
          <p:cNvPr id="26" name="Text 24"/>
          <p:cNvSpPr/>
          <p:nvPr/>
        </p:nvSpPr>
        <p:spPr>
          <a:xfrm>
            <a:off x="6400800" y="2752344"/>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User search inputs and URL parameters are bound via prepared statement placeholders (?, :id).</a:t>
            </a:r>
            <a:endParaRPr lang="en-US" sz="850" dirty="0"/>
          </a:p>
        </p:txBody>
      </p:sp>
      <p:sp>
        <p:nvSpPr>
          <p:cNvPr id="27" name="Text 25"/>
          <p:cNvSpPr/>
          <p:nvPr/>
        </p:nvSpPr>
        <p:spPr>
          <a:xfrm>
            <a:off x="6400800" y="3154680"/>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Verified in tests: GET /api/patients?q=' OR 1=1 -- is treated strictly as literal text.</a:t>
            </a:r>
            <a:endParaRPr lang="en-US" sz="850" dirty="0"/>
          </a:p>
        </p:txBody>
      </p:sp>
      <p:sp>
        <p:nvSpPr>
          <p:cNvPr id="28" name="Shape 26"/>
          <p:cNvSpPr/>
          <p:nvPr/>
        </p:nvSpPr>
        <p:spPr>
          <a:xfrm>
            <a:off x="731520" y="3886200"/>
            <a:ext cx="5257800" cy="2103120"/>
          </a:xfrm>
          <a:prstGeom prst="roundRect">
            <a:avLst>
              <a:gd name="adj" fmla="val 4348"/>
            </a:avLst>
          </a:prstGeom>
          <a:solidFill>
            <a:srgbClr val="FFFFFF"/>
          </a:solidFill>
          <a:ln w="12700">
            <a:solidFill>
              <a:srgbClr val="E2E8F0"/>
            </a:solidFill>
            <a:prstDash val="solid"/>
          </a:ln>
        </p:spPr>
      </p:sp>
      <p:sp>
        <p:nvSpPr>
          <p:cNvPr id="29" name="Shape 27"/>
          <p:cNvSpPr/>
          <p:nvPr/>
        </p:nvSpPr>
        <p:spPr>
          <a:xfrm>
            <a:off x="731520" y="3886200"/>
            <a:ext cx="5257800" cy="73152"/>
          </a:xfrm>
          <a:prstGeom prst="rect">
            <a:avLst/>
          </a:prstGeom>
          <a:solidFill>
            <a:srgbClr val="0284C7"/>
          </a:solidFill>
          <a:ln w="12700">
            <a:solidFill>
              <a:srgbClr val="0284C7"/>
            </a:solidFill>
            <a:prstDash val="solid"/>
          </a:ln>
        </p:spPr>
      </p:sp>
      <p:sp>
        <p:nvSpPr>
          <p:cNvPr id="30" name="Text 28"/>
          <p:cNvSpPr/>
          <p:nvPr/>
        </p:nvSpPr>
        <p:spPr>
          <a:xfrm>
            <a:off x="960120" y="4050792"/>
            <a:ext cx="3474720" cy="320040"/>
          </a:xfrm>
          <a:prstGeom prst="rect">
            <a:avLst/>
          </a:prstGeom>
          <a:noFill/>
          <a:ln/>
        </p:spPr>
        <p:txBody>
          <a:bodyPr wrap="square" rtlCol="0" anchor="ctr"/>
          <a:lstStyle/>
          <a:p>
            <a:pPr indent="0" marL="0">
              <a:buNone/>
            </a:pPr>
            <a:r>
              <a:rPr lang="en-US" sz="1150" b="1" dirty="0">
                <a:solidFill>
                  <a:srgbClr val="0F2B46"/>
                </a:solidFill>
                <a:latin typeface="Arial" pitchFamily="34" charset="0"/>
                <a:ea typeface="Arial" pitchFamily="34" charset="-122"/>
                <a:cs typeface="Arial" pitchFamily="34" charset="-120"/>
              </a:rPr>
              <a:t>🍪 Session &amp; Cookie Hardening</a:t>
            </a:r>
            <a:endParaRPr lang="en-US" sz="1150" dirty="0"/>
          </a:p>
        </p:txBody>
      </p:sp>
      <p:sp>
        <p:nvSpPr>
          <p:cNvPr id="31" name="Shape 29"/>
          <p:cNvSpPr/>
          <p:nvPr/>
        </p:nvSpPr>
        <p:spPr>
          <a:xfrm>
            <a:off x="4480560" y="4087368"/>
            <a:ext cx="1280160" cy="228600"/>
          </a:xfrm>
          <a:prstGeom prst="roundRect">
            <a:avLst>
              <a:gd name="adj" fmla="val 20000"/>
            </a:avLst>
          </a:prstGeom>
          <a:solidFill>
            <a:srgbClr val="F8FAFC"/>
          </a:solidFill>
          <a:ln w="6350">
            <a:solidFill>
              <a:srgbClr val="E2E8F0"/>
            </a:solidFill>
            <a:prstDash val="solid"/>
          </a:ln>
        </p:spPr>
      </p:sp>
      <p:sp>
        <p:nvSpPr>
          <p:cNvPr id="32" name="Text 30"/>
          <p:cNvSpPr/>
          <p:nvPr/>
        </p:nvSpPr>
        <p:spPr>
          <a:xfrm>
            <a:off x="4480560" y="4087368"/>
            <a:ext cx="1280160" cy="228600"/>
          </a:xfrm>
          <a:prstGeom prst="rect">
            <a:avLst/>
          </a:prstGeom>
          <a:noFill/>
          <a:ln/>
        </p:spPr>
        <p:txBody>
          <a:bodyPr wrap="square" rtlCol="0" anchor="ctr"/>
          <a:lstStyle/>
          <a:p>
            <a:pPr algn="ctr" indent="0" marL="0">
              <a:buNone/>
            </a:pPr>
            <a:r>
              <a:rPr lang="en-US" sz="750" b="1" dirty="0">
                <a:solidFill>
                  <a:srgbClr val="0284C7"/>
                </a:solidFill>
                <a:latin typeface="Arial" pitchFamily="34" charset="0"/>
                <a:ea typeface="Arial" pitchFamily="34" charset="-122"/>
                <a:cs typeface="Arial" pitchFamily="34" charset="-120"/>
              </a:rPr>
              <a:t>SESSION HYGIENE</a:t>
            </a:r>
            <a:endParaRPr lang="en-US" sz="750" dirty="0"/>
          </a:p>
        </p:txBody>
      </p:sp>
      <p:sp>
        <p:nvSpPr>
          <p:cNvPr id="33" name="Text 31"/>
          <p:cNvSpPr/>
          <p:nvPr/>
        </p:nvSpPr>
        <p:spPr>
          <a:xfrm>
            <a:off x="960120" y="4361688"/>
            <a:ext cx="480060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HttpOnly &amp; SameSite=Lax Cookies</a:t>
            </a:r>
            <a:endParaRPr lang="en-US" sz="900" dirty="0"/>
          </a:p>
        </p:txBody>
      </p:sp>
      <p:sp>
        <p:nvSpPr>
          <p:cNvPr id="34" name="Text 32"/>
          <p:cNvSpPr/>
          <p:nvPr/>
        </p:nvSpPr>
        <p:spPr>
          <a:xfrm>
            <a:off x="960120" y="4636008"/>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Session cookies (medicloud.sid) marked HttpOnly, preventing client-side JavaScript access (mitigating XSS theft).</a:t>
            </a:r>
            <a:endParaRPr lang="en-US" sz="850" dirty="0"/>
          </a:p>
        </p:txBody>
      </p:sp>
      <p:sp>
        <p:nvSpPr>
          <p:cNvPr id="35" name="Text 33"/>
          <p:cNvSpPr/>
          <p:nvPr/>
        </p:nvSpPr>
        <p:spPr>
          <a:xfrm>
            <a:off x="960120" y="5038344"/>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SameSite=Lax prevents Cross-Site Request Forgery (CSRF).</a:t>
            </a:r>
            <a:endParaRPr lang="en-US" sz="850" dirty="0"/>
          </a:p>
        </p:txBody>
      </p:sp>
      <p:sp>
        <p:nvSpPr>
          <p:cNvPr id="36" name="Text 34"/>
          <p:cNvSpPr/>
          <p:nvPr/>
        </p:nvSpPr>
        <p:spPr>
          <a:xfrm>
            <a:off x="960120" y="5440680"/>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Secure flag automatically enforced over HTTPS.</a:t>
            </a:r>
            <a:endParaRPr lang="en-US" sz="850" dirty="0"/>
          </a:p>
        </p:txBody>
      </p:sp>
      <p:sp>
        <p:nvSpPr>
          <p:cNvPr id="37" name="Shape 35"/>
          <p:cNvSpPr/>
          <p:nvPr/>
        </p:nvSpPr>
        <p:spPr>
          <a:xfrm>
            <a:off x="6172200" y="3886200"/>
            <a:ext cx="5257800" cy="2103120"/>
          </a:xfrm>
          <a:prstGeom prst="roundRect">
            <a:avLst>
              <a:gd name="adj" fmla="val 4348"/>
            </a:avLst>
          </a:prstGeom>
          <a:solidFill>
            <a:srgbClr val="FFFFFF"/>
          </a:solidFill>
          <a:ln w="12700">
            <a:solidFill>
              <a:srgbClr val="E2E8F0"/>
            </a:solidFill>
            <a:prstDash val="solid"/>
          </a:ln>
        </p:spPr>
      </p:sp>
      <p:sp>
        <p:nvSpPr>
          <p:cNvPr id="38" name="Shape 36"/>
          <p:cNvSpPr/>
          <p:nvPr/>
        </p:nvSpPr>
        <p:spPr>
          <a:xfrm>
            <a:off x="6172200" y="3886200"/>
            <a:ext cx="5257800" cy="73152"/>
          </a:xfrm>
          <a:prstGeom prst="rect">
            <a:avLst/>
          </a:prstGeom>
          <a:solidFill>
            <a:srgbClr val="F59E0B"/>
          </a:solidFill>
          <a:ln w="12700">
            <a:solidFill>
              <a:srgbClr val="F59E0B"/>
            </a:solidFill>
            <a:prstDash val="solid"/>
          </a:ln>
        </p:spPr>
      </p:sp>
      <p:sp>
        <p:nvSpPr>
          <p:cNvPr id="39" name="Text 37"/>
          <p:cNvSpPr/>
          <p:nvPr/>
        </p:nvSpPr>
        <p:spPr>
          <a:xfrm>
            <a:off x="6400800" y="4050792"/>
            <a:ext cx="3474720" cy="320040"/>
          </a:xfrm>
          <a:prstGeom prst="rect">
            <a:avLst/>
          </a:prstGeom>
          <a:noFill/>
          <a:ln/>
        </p:spPr>
        <p:txBody>
          <a:bodyPr wrap="square" rtlCol="0" anchor="ctr"/>
          <a:lstStyle/>
          <a:p>
            <a:pPr indent="0" marL="0">
              <a:buNone/>
            </a:pPr>
            <a:r>
              <a:rPr lang="en-US" sz="1150" b="1" dirty="0">
                <a:solidFill>
                  <a:srgbClr val="0F2B46"/>
                </a:solidFill>
                <a:latin typeface="Arial" pitchFamily="34" charset="0"/>
                <a:ea typeface="Arial" pitchFamily="34" charset="-122"/>
                <a:cs typeface="Arial" pitchFamily="34" charset="-120"/>
              </a:rPr>
              <a:t>🛡️ HTTP Defense &amp; Rate Limiting</a:t>
            </a:r>
            <a:endParaRPr lang="en-US" sz="1150" dirty="0"/>
          </a:p>
        </p:txBody>
      </p:sp>
      <p:sp>
        <p:nvSpPr>
          <p:cNvPr id="40" name="Shape 38"/>
          <p:cNvSpPr/>
          <p:nvPr/>
        </p:nvSpPr>
        <p:spPr>
          <a:xfrm>
            <a:off x="9921240" y="4087368"/>
            <a:ext cx="1280160" cy="228600"/>
          </a:xfrm>
          <a:prstGeom prst="roundRect">
            <a:avLst>
              <a:gd name="adj" fmla="val 20000"/>
            </a:avLst>
          </a:prstGeom>
          <a:solidFill>
            <a:srgbClr val="F8FAFC"/>
          </a:solidFill>
          <a:ln w="6350">
            <a:solidFill>
              <a:srgbClr val="E2E8F0"/>
            </a:solidFill>
            <a:prstDash val="solid"/>
          </a:ln>
        </p:spPr>
      </p:sp>
      <p:sp>
        <p:nvSpPr>
          <p:cNvPr id="41" name="Text 39"/>
          <p:cNvSpPr/>
          <p:nvPr/>
        </p:nvSpPr>
        <p:spPr>
          <a:xfrm>
            <a:off x="9921240" y="4087368"/>
            <a:ext cx="1280160" cy="228600"/>
          </a:xfrm>
          <a:prstGeom prst="rect">
            <a:avLst/>
          </a:prstGeom>
          <a:noFill/>
          <a:ln/>
        </p:spPr>
        <p:txBody>
          <a:bodyPr wrap="square" rtlCol="0" anchor="ctr"/>
          <a:lstStyle/>
          <a:p>
            <a:pPr algn="ctr" indent="0" marL="0">
              <a:buNone/>
            </a:pPr>
            <a:r>
              <a:rPr lang="en-US" sz="750" b="1" dirty="0">
                <a:solidFill>
                  <a:srgbClr val="F59E0B"/>
                </a:solidFill>
                <a:latin typeface="Arial" pitchFamily="34" charset="0"/>
                <a:ea typeface="Arial" pitchFamily="34" charset="-122"/>
                <a:cs typeface="Arial" pitchFamily="34" charset="-120"/>
              </a:rPr>
              <a:t>RATE LIMITING</a:t>
            </a:r>
            <a:endParaRPr lang="en-US" sz="750" dirty="0"/>
          </a:p>
        </p:txBody>
      </p:sp>
      <p:sp>
        <p:nvSpPr>
          <p:cNvPr id="42" name="Text 40"/>
          <p:cNvSpPr/>
          <p:nvPr/>
        </p:nvSpPr>
        <p:spPr>
          <a:xfrm>
            <a:off x="6400800" y="4361688"/>
            <a:ext cx="480060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Helmet Headers &amp; IP Request Throttling</a:t>
            </a:r>
            <a:endParaRPr lang="en-US" sz="900" dirty="0"/>
          </a:p>
        </p:txBody>
      </p:sp>
      <p:sp>
        <p:nvSpPr>
          <p:cNvPr id="43" name="Text 41"/>
          <p:cNvSpPr/>
          <p:nvPr/>
        </p:nvSpPr>
        <p:spPr>
          <a:xfrm>
            <a:off x="6400800" y="4636008"/>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Helmet 8.0: Content-Security-Policy, HSTS, X-Frame-Options: DENY (clickjacking defense).</a:t>
            </a:r>
            <a:endParaRPr lang="en-US" sz="850" dirty="0"/>
          </a:p>
        </p:txBody>
      </p:sp>
      <p:sp>
        <p:nvSpPr>
          <p:cNvPr id="44" name="Text 42"/>
          <p:cNvSpPr/>
          <p:nvPr/>
        </p:nvSpPr>
        <p:spPr>
          <a:xfrm>
            <a:off x="6400800" y="5038344"/>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express-rate-limit: Auth limiter triggers 429 Too Many Requests after 10 failed logins per 15 minutes.</a:t>
            </a:r>
            <a:endParaRPr lang="en-US" sz="850" dirty="0"/>
          </a:p>
        </p:txBody>
      </p:sp>
      <p:sp>
        <p:nvSpPr>
          <p:cNvPr id="45" name="Text 43"/>
          <p:cNvSpPr/>
          <p:nvPr/>
        </p:nvSpPr>
        <p:spPr>
          <a:xfrm>
            <a:off x="6400800" y="5440680"/>
            <a:ext cx="4800600" cy="384048"/>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API limiter restricts general traffic to 150 req/15 min.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Role-Based Access Control (RBAC) Privilege Matrix</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Deny-by-default server authorization guards preventing privilege escalation</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2286000"/>
                <a:gridCol w="1828800"/>
                <a:gridCol w="2011680"/>
                <a:gridCol w="2103120"/>
                <a:gridCol w="2496312"/>
              </a:tblGrid>
              <a:tr h="0">
                <a:tc>
                  <a:txBody>
                    <a:bodyPr/>
                    <a:lstStyle/>
                    <a:p>
                      <a:pPr indent="0" marL="0">
                        <a:buNone/>
                      </a:pPr>
                      <a:r>
                        <a:rPr lang="en-US" sz="950" b="1" dirty="0">
                          <a:solidFill>
                            <a:srgbClr val="FFFFFF"/>
                          </a:solidFill>
                        </a:rPr>
                        <a:t>System Module / API Operation</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50" b="1" dirty="0">
                          <a:solidFill>
                            <a:srgbClr val="FFFFFF"/>
                          </a:solidFill>
                        </a:rPr>
                        <a:t>ADMIN Role</a:t>
                      </a:r>
                      <a:endParaRPr lang="en-US" sz="950" dirty="0"/>
                    </a:p>
                    <a:p>
                      <a:pPr indent="0" marL="0">
                        <a:buNone/>
                      </a:pPr>
                      <a:r>
                        <a:rPr lang="en-US" sz="950" b="1" dirty="0">
                          <a:solidFill>
                            <a:srgbClr val="FFFFFF"/>
                          </a:solidFill>
                        </a:rPr>
                        <a:t>(Governance)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50" b="1" dirty="0">
                          <a:solidFill>
                            <a:srgbClr val="FFFFFF"/>
                          </a:solidFill>
                        </a:rPr>
                        <a:t>DOCTOR Role</a:t>
                      </a:r>
                      <a:endParaRPr lang="en-US" sz="950" dirty="0"/>
                    </a:p>
                    <a:p>
                      <a:pPr indent="0" marL="0">
                        <a:buNone/>
                      </a:pPr>
                      <a:r>
                        <a:rPr lang="en-US" sz="950" b="1" dirty="0">
                          <a:solidFill>
                            <a:srgbClr val="FFFFFF"/>
                          </a:solidFill>
                        </a:rPr>
                        <a:t>(Clinical Care)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r>
                        <a:rPr lang="en-US" sz="950" b="1" dirty="0">
                          <a:solidFill>
                            <a:srgbClr val="FFFFFF"/>
                          </a:solidFill>
                        </a:rPr>
                        <a:t>RECEPTIONIST Role</a:t>
                      </a:r>
                      <a:endParaRPr lang="en-US" sz="950" dirty="0"/>
                    </a:p>
                    <a:p>
                      <a:pPr indent="0" marL="0">
                        <a:buNone/>
                      </a:pPr>
                      <a:r>
                        <a:rPr lang="en-US" sz="950" b="1" dirty="0">
                          <a:solidFill>
                            <a:srgbClr val="FFFFFF"/>
                          </a:solidFill>
                        </a:rPr>
                        <a:t>(Front Desk)</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50" b="1" dirty="0">
                          <a:solidFill>
                            <a:srgbClr val="FFFFFF"/>
                          </a:solidFill>
                        </a:rPr>
                        <a:t>Enforcement Mechanism</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r>
              <a:tr h="0">
                <a:tc>
                  <a:txBody>
                    <a:bodyPr/>
                    <a:lstStyle/>
                    <a:p>
                      <a:pPr indent="0" marL="0">
                        <a:buNone/>
                      </a:pPr>
                      <a:r>
                        <a:rPr lang="en-US" sz="850" b="1" dirty="0">
                          <a:solidFill>
                            <a:srgbClr val="000000"/>
                          </a:solidFill>
                        </a:rPr>
                        <a:t>Patient Registration &amp; Search</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ALLOWED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ALLOWED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ALLOWED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urier New" pitchFamily="34" charset="0"/>
                          <a:ea typeface="Courier New" pitchFamily="34" charset="-122"/>
                          <a:cs typeface="Courier New" pitchFamily="34" charset="-120"/>
                        </a:rPr>
                        <a:t>requireAuth middleware</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Appointment Scheduling &amp; Queue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ALLOWED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284C7"/>
                          </a:solidFill>
                        </a:rPr>
                        <a:t>✅ View Own Schedule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ALLOWED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urier New" pitchFamily="34" charset="0"/>
                          <a:ea typeface="Courier New" pitchFamily="34" charset="-122"/>
                          <a:cs typeface="Courier New" pitchFamily="34" charset="-120"/>
                        </a:rPr>
                        <a:t>requireRole(['ADMIN', 'RECEPTIONIST'])</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View Clinical EHR Notes &amp; Vitals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F2B46"/>
                          </a:solidFill>
                        </a:rPr>
                        <a:t>✅ Read-Only Audit</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FULL ACCESS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EF4444"/>
                          </a:solidFill>
                        </a:rPr>
                        <a:t>🚫 403 FORBIDDEN</a:t>
                      </a:r>
                      <a:endParaRPr lang="en-US" sz="850" dirty="0"/>
                    </a:p>
                    <a:p>
                      <a:pPr indent="0" marL="0">
                        <a:buNone/>
                      </a:pPr>
                      <a:r>
                        <a:rPr lang="en-US" sz="850" b="1" dirty="0">
                          <a:solidFill>
                            <a:srgbClr val="EF4444"/>
                          </a:solidFill>
                        </a:rPr>
                        <a:t>(Clinical Isolation)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E2E2"/>
                    </a:solidFill>
                  </a:tcPr>
                </a:tc>
                <a:tc>
                  <a:txBody>
                    <a:bodyPr/>
                    <a:lstStyle/>
                    <a:p>
                      <a:pPr indent="0" marL="0">
                        <a:buNone/>
                      </a:pPr>
                      <a:r>
                        <a:rPr lang="en-US" sz="800" dirty="0">
                          <a:solidFill>
                            <a:srgbClr val="000000"/>
                          </a:solidFill>
                          <a:latin typeface="Courier New" pitchFamily="34" charset="0"/>
                          <a:ea typeface="Courier New" pitchFamily="34" charset="-122"/>
                          <a:cs typeface="Courier New" pitchFamily="34" charset="-120"/>
                        </a:rPr>
                        <a:t>canAccessClinicalNotes guard</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Author Diagnosis &amp; Prescriptions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EF4444"/>
                          </a:solidFill>
                        </a:rPr>
                        <a:t>🚫 Restricted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AUTHORIZED</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EF4444"/>
                          </a:solidFill>
                        </a:rPr>
                        <a:t>🚫 403 FORBIDDEN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urier New" pitchFamily="34" charset="0"/>
                          <a:ea typeface="Courier New" pitchFamily="34" charset="-122"/>
                          <a:cs typeface="Courier New" pitchFamily="34" charset="-120"/>
                        </a:rPr>
                        <a:t>requireDoctor middleware</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Staff Provisioning &amp; Role Assign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FULL ACCESS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EF4444"/>
                          </a:solidFill>
                        </a:rPr>
                        <a:t>🚫 403 FORBIDDEN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EF4444"/>
                          </a:solidFill>
                        </a:rPr>
                        <a:t>🚫 403 FORBIDDEN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urier New" pitchFamily="34" charset="0"/>
                          <a:ea typeface="Courier New" pitchFamily="34" charset="-122"/>
                          <a:cs typeface="Courier New" pitchFamily="34" charset="-120"/>
                        </a:rPr>
                        <a:t>requireAdmin middleware</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Trigger Database Backup / Restore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0B981"/>
                          </a:solidFill>
                        </a:rPr>
                        <a:t>✅ FULL ACCESS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EF4444"/>
                          </a:solidFill>
                        </a:rPr>
                        <a:t>🚫 403 FORBIDDEN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EF4444"/>
                          </a:solidFill>
                        </a:rPr>
                        <a:t>🚫 403 FORBIDDEN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latin typeface="Courier New" pitchFamily="34" charset="0"/>
                          <a:ea typeface="Courier New" pitchFamily="34" charset="-122"/>
                          <a:cs typeface="Courier New" pitchFamily="34" charset="-120"/>
                        </a:rPr>
                        <a:t>requireAdmin middleware</a:t>
                      </a:r>
                      <a:endParaRPr lang="en-US" sz="800" dirty="0">
                        <a:latin typeface="Courier New" charset="0"/>
                        <a:ea typeface="Courier New" charset="0"/>
                        <a:cs typeface="Courier New"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Shape 8"/>
          <p:cNvSpPr/>
          <p:nvPr/>
        </p:nvSpPr>
        <p:spPr>
          <a:xfrm>
            <a:off x="731520" y="5120640"/>
            <a:ext cx="10725912" cy="1188720"/>
          </a:xfrm>
          <a:prstGeom prst="roundRect">
            <a:avLst>
              <a:gd name="adj" fmla="val 6154"/>
            </a:avLst>
          </a:prstGeom>
          <a:solidFill>
            <a:srgbClr val="FFFFFF"/>
          </a:solidFill>
          <a:ln w="12700">
            <a:solidFill>
              <a:srgbClr val="E2E8F0"/>
            </a:solidFill>
            <a:prstDash val="solid"/>
          </a:ln>
        </p:spPr>
      </p:sp>
      <p:sp>
        <p:nvSpPr>
          <p:cNvPr id="12" name="Shape 9"/>
          <p:cNvSpPr/>
          <p:nvPr/>
        </p:nvSpPr>
        <p:spPr>
          <a:xfrm>
            <a:off x="731520" y="5120640"/>
            <a:ext cx="91440" cy="1188720"/>
          </a:xfrm>
          <a:prstGeom prst="rect">
            <a:avLst/>
          </a:prstGeom>
          <a:solidFill>
            <a:srgbClr val="EF4444"/>
          </a:solidFill>
          <a:ln w="12700">
            <a:solidFill>
              <a:srgbClr val="EF4444"/>
            </a:solidFill>
            <a:prstDash val="solid"/>
          </a:ln>
        </p:spPr>
      </p:sp>
      <p:sp>
        <p:nvSpPr>
          <p:cNvPr id="13" name="Text 10"/>
          <p:cNvSpPr/>
          <p:nvPr/>
        </p:nvSpPr>
        <p:spPr>
          <a:xfrm>
            <a:off x="960120" y="5212080"/>
            <a:ext cx="10332720" cy="22860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CRITICAL ARCHITECTURAL HIGHLIGHT: CLINICAL DATA ISOLATION</a:t>
            </a:r>
            <a:endParaRPr lang="en-US" sz="950" dirty="0"/>
          </a:p>
        </p:txBody>
      </p:sp>
      <p:sp>
        <p:nvSpPr>
          <p:cNvPr id="14" name="Text 11"/>
          <p:cNvSpPr/>
          <p:nvPr/>
        </p:nvSpPr>
        <p:spPr>
          <a:xfrm>
            <a:off x="960120" y="5440680"/>
            <a:ext cx="10332720" cy="77724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In healthcare systems, front-desk staff must book appointments but must NEVER view diagnoses, vital signs, or psychiatric notes. In MediCloud, even if a receptionist alters client-side DOM elements or sends raw curl requests to /api/medical-records, the server intercepts the request and issues an HTTP 403 Forbidden with a security audit event. This guarantees complete protection against Horizontal &amp; Vertical Privilege Escalation.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Automated Testing &amp; Verification Suite (30/30 Passing)</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Node.js native test runner verifying security boundaries, data integrity, and failure states</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669280" cy="4572000"/>
          </a:xfrm>
          <a:prstGeom prst="roundRect">
            <a:avLst>
              <a:gd name="adj" fmla="val 2000"/>
            </a:avLst>
          </a:prstGeom>
          <a:solidFill>
            <a:srgbClr val="0F172A"/>
          </a:solidFill>
          <a:ln w="12700">
            <a:solidFill>
              <a:srgbClr val="1E293B"/>
            </a:solidFill>
            <a:prstDash val="solid"/>
          </a:ln>
        </p:spPr>
      </p:sp>
      <p:sp>
        <p:nvSpPr>
          <p:cNvPr id="11" name="Text 9"/>
          <p:cNvSpPr/>
          <p:nvPr/>
        </p:nvSpPr>
        <p:spPr>
          <a:xfrm>
            <a:off x="914400" y="1691640"/>
            <a:ext cx="5303520" cy="32004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 ACTUAL TEST SUITE TERMINAL OUTPUT (npm test)</a:t>
            </a:r>
            <a:endParaRPr lang="en-US" sz="950" dirty="0"/>
          </a:p>
        </p:txBody>
      </p:sp>
      <p:sp>
        <p:nvSpPr>
          <p:cNvPr id="12" name="Text 10"/>
          <p:cNvSpPr/>
          <p:nvPr/>
        </p:nvSpPr>
        <p:spPr>
          <a:xfrm>
            <a:off x="914400" y="2011680"/>
            <a:ext cx="5303520" cy="4023360"/>
          </a:xfrm>
          <a:prstGeom prst="rect">
            <a:avLst/>
          </a:prstGeom>
          <a:noFill/>
          <a:ln/>
        </p:spPr>
        <p:txBody>
          <a:bodyPr wrap="square" rtlCol="0" anchor="ctr"/>
          <a:lstStyle/>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MediCloud Automated Security &amp; Functional Suite</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System Health &amp; Availability</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GET /api/health returns 200 OK &amp; DB connected</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Authentication &amp; Session Protection</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POST /api/auth/login fails (401) on bad password</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POST /api/auth/login sets HttpOnly session cookie</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GET /api/auth/me returns 401 Unauthorized without cookie</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Role-Based Access Control (RBAC) &amp; Negative Tests</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NEGATIVE: Doctor accessing /api/users returns 403</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CRITICAL: Receptionist accessing /api/medical-records</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returns 403 Forbidden (CLINICAL_RESTRICTION)</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Authorized Doctor CAN view clinical records (200)</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Authorized Admin CAN view users (no password_hash)</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Patient &amp; Appointment Validation</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Past appointment date rejected (400 Bad Request)</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Valid future appointment succeeds (201 Created)</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Backup &amp; Disaster Recovery</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Receptionist cannot trigger backups (403)</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 Admin triggers snapshot with SHA-256 checksum (201)</a:t>
            </a:r>
            <a:endParaRPr lang="en-US" sz="780" dirty="0"/>
          </a:p>
          <a:p>
            <a:pPr indent="0" marL="0">
              <a:lnSpc>
                <a:spcPts val="1300"/>
              </a:lnSpc>
              <a:buNone/>
            </a:pPr>
            <a:r>
              <a:rPr lang="en-US" sz="780" dirty="0">
                <a:solidFill>
                  <a:srgbClr val="38BDF8"/>
                </a:solidFill>
                <a:latin typeface="Courier New" pitchFamily="34" charset="0"/>
                <a:ea typeface="Courier New" pitchFamily="34" charset="-122"/>
                <a:cs typeface="Courier New" pitchFamily="34" charset="-120"/>
              </a:rPr>
              <a:t>✔ tests 30 | suites 9 | pass 30 | fail 0 | ~1875ms</a:t>
            </a:r>
            <a:endParaRPr lang="en-US" sz="780" dirty="0"/>
          </a:p>
        </p:txBody>
      </p:sp>
      <p:sp>
        <p:nvSpPr>
          <p:cNvPr id="13" name="Shape 11"/>
          <p:cNvSpPr/>
          <p:nvPr/>
        </p:nvSpPr>
        <p:spPr>
          <a:xfrm>
            <a:off x="6583680" y="1600200"/>
            <a:ext cx="4873752" cy="1417320"/>
          </a:xfrm>
          <a:prstGeom prst="roundRect">
            <a:avLst>
              <a:gd name="adj" fmla="val 5161"/>
            </a:avLst>
          </a:prstGeom>
          <a:solidFill>
            <a:srgbClr val="FFFFFF"/>
          </a:solidFill>
          <a:ln w="12700">
            <a:solidFill>
              <a:srgbClr val="E2E8F0"/>
            </a:solidFill>
            <a:prstDash val="solid"/>
          </a:ln>
        </p:spPr>
      </p:sp>
      <p:sp>
        <p:nvSpPr>
          <p:cNvPr id="14" name="Shape 12"/>
          <p:cNvSpPr/>
          <p:nvPr/>
        </p:nvSpPr>
        <p:spPr>
          <a:xfrm>
            <a:off x="6583680" y="1600200"/>
            <a:ext cx="91440" cy="1417320"/>
          </a:xfrm>
          <a:prstGeom prst="rect">
            <a:avLst/>
          </a:prstGeom>
          <a:solidFill>
            <a:srgbClr val="EF4444"/>
          </a:solidFill>
          <a:ln w="12700">
            <a:solidFill>
              <a:srgbClr val="EF4444"/>
            </a:solidFill>
            <a:prstDash val="solid"/>
          </a:ln>
        </p:spPr>
      </p:sp>
      <p:sp>
        <p:nvSpPr>
          <p:cNvPr id="15" name="Text 13"/>
          <p:cNvSpPr/>
          <p:nvPr/>
        </p:nvSpPr>
        <p:spPr>
          <a:xfrm>
            <a:off x="6812280" y="1737360"/>
            <a:ext cx="3200400" cy="274320"/>
          </a:xfrm>
          <a:prstGeom prst="rect">
            <a:avLst/>
          </a:prstGeom>
          <a:noFill/>
          <a:ln/>
        </p:spPr>
        <p:txBody>
          <a:bodyPr wrap="square" rtlCol="0" anchor="ctr"/>
          <a:lstStyle/>
          <a:p>
            <a:pPr indent="0" marL="0">
              <a:buNone/>
            </a:pPr>
            <a:r>
              <a:rPr lang="en-US" sz="1050" b="1" dirty="0">
                <a:solidFill>
                  <a:srgbClr val="0F2B46"/>
                </a:solidFill>
                <a:latin typeface="Arial" pitchFamily="34" charset="0"/>
                <a:ea typeface="Arial" pitchFamily="34" charset="-122"/>
                <a:cs typeface="Arial" pitchFamily="34" charset="-120"/>
              </a:rPr>
              <a:t>🛡️ Negative Security Testing</a:t>
            </a:r>
            <a:endParaRPr lang="en-US" sz="1050" dirty="0"/>
          </a:p>
        </p:txBody>
      </p:sp>
      <p:sp>
        <p:nvSpPr>
          <p:cNvPr id="16" name="Text 14"/>
          <p:cNvSpPr/>
          <p:nvPr/>
        </p:nvSpPr>
        <p:spPr>
          <a:xfrm>
            <a:off x="9601200" y="1737360"/>
            <a:ext cx="1737360" cy="274320"/>
          </a:xfrm>
          <a:prstGeom prst="rect">
            <a:avLst/>
          </a:prstGeom>
          <a:noFill/>
          <a:ln/>
        </p:spPr>
        <p:txBody>
          <a:bodyPr wrap="square" rtlCol="0" anchor="ctr"/>
          <a:lstStyle/>
          <a:p>
            <a:pPr algn="r" indent="0" marL="0">
              <a:buNone/>
            </a:pPr>
            <a:r>
              <a:rPr lang="en-US" sz="900" b="1" dirty="0">
                <a:solidFill>
                  <a:srgbClr val="EF4444"/>
                </a:solidFill>
                <a:latin typeface="Arial" pitchFamily="34" charset="0"/>
                <a:ea typeface="Arial" pitchFamily="34" charset="-122"/>
                <a:cs typeface="Arial" pitchFamily="34" charset="-120"/>
              </a:rPr>
              <a:t>8 Negative Tests</a:t>
            </a:r>
            <a:endParaRPr lang="en-US" sz="900" dirty="0"/>
          </a:p>
        </p:txBody>
      </p:sp>
      <p:sp>
        <p:nvSpPr>
          <p:cNvPr id="17" name="Text 15"/>
          <p:cNvSpPr/>
          <p:nvPr/>
        </p:nvSpPr>
        <p:spPr>
          <a:xfrm>
            <a:off x="6812280" y="2057400"/>
            <a:ext cx="4434840" cy="8229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Explicitly validates that unauthenticated users (401) and unauthorized roles (403) are stopped at the API boundary before hitting data layers.</a:t>
            </a:r>
            <a:endParaRPr lang="en-US" sz="850" dirty="0"/>
          </a:p>
        </p:txBody>
      </p:sp>
      <p:sp>
        <p:nvSpPr>
          <p:cNvPr id="18" name="Shape 16"/>
          <p:cNvSpPr/>
          <p:nvPr/>
        </p:nvSpPr>
        <p:spPr>
          <a:xfrm>
            <a:off x="6583680" y="3172968"/>
            <a:ext cx="4873752" cy="1417320"/>
          </a:xfrm>
          <a:prstGeom prst="roundRect">
            <a:avLst>
              <a:gd name="adj" fmla="val 5161"/>
            </a:avLst>
          </a:prstGeom>
          <a:solidFill>
            <a:srgbClr val="FFFFFF"/>
          </a:solidFill>
          <a:ln w="12700">
            <a:solidFill>
              <a:srgbClr val="E2E8F0"/>
            </a:solidFill>
            <a:prstDash val="solid"/>
          </a:ln>
        </p:spPr>
      </p:sp>
      <p:sp>
        <p:nvSpPr>
          <p:cNvPr id="19" name="Shape 17"/>
          <p:cNvSpPr/>
          <p:nvPr/>
        </p:nvSpPr>
        <p:spPr>
          <a:xfrm>
            <a:off x="6583680" y="3172968"/>
            <a:ext cx="91440" cy="1417320"/>
          </a:xfrm>
          <a:prstGeom prst="rect">
            <a:avLst/>
          </a:prstGeom>
          <a:solidFill>
            <a:srgbClr val="F59E0B"/>
          </a:solidFill>
          <a:ln w="12700">
            <a:solidFill>
              <a:srgbClr val="F59E0B"/>
            </a:solidFill>
            <a:prstDash val="solid"/>
          </a:ln>
        </p:spPr>
      </p:sp>
      <p:sp>
        <p:nvSpPr>
          <p:cNvPr id="20" name="Text 18"/>
          <p:cNvSpPr/>
          <p:nvPr/>
        </p:nvSpPr>
        <p:spPr>
          <a:xfrm>
            <a:off x="6812280" y="3310128"/>
            <a:ext cx="3200400" cy="274320"/>
          </a:xfrm>
          <a:prstGeom prst="rect">
            <a:avLst/>
          </a:prstGeom>
          <a:noFill/>
          <a:ln/>
        </p:spPr>
        <p:txBody>
          <a:bodyPr wrap="square" rtlCol="0" anchor="ctr"/>
          <a:lstStyle/>
          <a:p>
            <a:pPr indent="0" marL="0">
              <a:buNone/>
            </a:pPr>
            <a:r>
              <a:rPr lang="en-US" sz="1050" b="1" dirty="0">
                <a:solidFill>
                  <a:srgbClr val="0F2B46"/>
                </a:solidFill>
                <a:latin typeface="Arial" pitchFamily="34" charset="0"/>
                <a:ea typeface="Arial" pitchFamily="34" charset="-122"/>
                <a:cs typeface="Arial" pitchFamily="34" charset="-120"/>
              </a:rPr>
              <a:t>⏱️ Date &amp; Business Logic Validation</a:t>
            </a:r>
            <a:endParaRPr lang="en-US" sz="1050" dirty="0"/>
          </a:p>
        </p:txBody>
      </p:sp>
      <p:sp>
        <p:nvSpPr>
          <p:cNvPr id="21" name="Text 19"/>
          <p:cNvSpPr/>
          <p:nvPr/>
        </p:nvSpPr>
        <p:spPr>
          <a:xfrm>
            <a:off x="9601200" y="3310128"/>
            <a:ext cx="1737360" cy="274320"/>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100% Parameter Validation</a:t>
            </a:r>
            <a:endParaRPr lang="en-US" sz="900" dirty="0"/>
          </a:p>
        </p:txBody>
      </p:sp>
      <p:sp>
        <p:nvSpPr>
          <p:cNvPr id="22" name="Text 20"/>
          <p:cNvSpPr/>
          <p:nvPr/>
        </p:nvSpPr>
        <p:spPr>
          <a:xfrm>
            <a:off x="6812280" y="3630168"/>
            <a:ext cx="4434840" cy="8229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Prevents retroactive appointment booking (past-date rejection), non-existent foreign keys, and empty required demographic fields.</a:t>
            </a:r>
            <a:endParaRPr lang="en-US" sz="850" dirty="0"/>
          </a:p>
        </p:txBody>
      </p:sp>
      <p:sp>
        <p:nvSpPr>
          <p:cNvPr id="23" name="Shape 21"/>
          <p:cNvSpPr/>
          <p:nvPr/>
        </p:nvSpPr>
        <p:spPr>
          <a:xfrm>
            <a:off x="6583680" y="4745736"/>
            <a:ext cx="4873752" cy="1417320"/>
          </a:xfrm>
          <a:prstGeom prst="roundRect">
            <a:avLst>
              <a:gd name="adj" fmla="val 5161"/>
            </a:avLst>
          </a:prstGeom>
          <a:solidFill>
            <a:srgbClr val="FFFFFF"/>
          </a:solidFill>
          <a:ln w="12700">
            <a:solidFill>
              <a:srgbClr val="E2E8F0"/>
            </a:solidFill>
            <a:prstDash val="solid"/>
          </a:ln>
        </p:spPr>
      </p:sp>
      <p:sp>
        <p:nvSpPr>
          <p:cNvPr id="24" name="Shape 22"/>
          <p:cNvSpPr/>
          <p:nvPr/>
        </p:nvSpPr>
        <p:spPr>
          <a:xfrm>
            <a:off x="6583680" y="4745736"/>
            <a:ext cx="91440" cy="1417320"/>
          </a:xfrm>
          <a:prstGeom prst="rect">
            <a:avLst/>
          </a:prstGeom>
          <a:solidFill>
            <a:srgbClr val="10B981"/>
          </a:solidFill>
          <a:ln w="12700">
            <a:solidFill>
              <a:srgbClr val="10B981"/>
            </a:solidFill>
            <a:prstDash val="solid"/>
          </a:ln>
        </p:spPr>
      </p:sp>
      <p:sp>
        <p:nvSpPr>
          <p:cNvPr id="25" name="Text 23"/>
          <p:cNvSpPr/>
          <p:nvPr/>
        </p:nvSpPr>
        <p:spPr>
          <a:xfrm>
            <a:off x="6812280" y="4882896"/>
            <a:ext cx="3200400" cy="274320"/>
          </a:xfrm>
          <a:prstGeom prst="rect">
            <a:avLst/>
          </a:prstGeom>
          <a:noFill/>
          <a:ln/>
        </p:spPr>
        <p:txBody>
          <a:bodyPr wrap="square" rtlCol="0" anchor="ctr"/>
          <a:lstStyle/>
          <a:p>
            <a:pPr indent="0" marL="0">
              <a:buNone/>
            </a:pPr>
            <a:r>
              <a:rPr lang="en-US" sz="1050" b="1" dirty="0">
                <a:solidFill>
                  <a:srgbClr val="0F2B46"/>
                </a:solidFill>
                <a:latin typeface="Arial" pitchFamily="34" charset="0"/>
                <a:ea typeface="Arial" pitchFamily="34" charset="-122"/>
                <a:cs typeface="Arial" pitchFamily="34" charset="-120"/>
              </a:rPr>
              <a:t>💾 Cryptographic Snapshot Integrity</a:t>
            </a:r>
            <a:endParaRPr lang="en-US" sz="1050" dirty="0"/>
          </a:p>
        </p:txBody>
      </p:sp>
      <p:sp>
        <p:nvSpPr>
          <p:cNvPr id="26" name="Text 24"/>
          <p:cNvSpPr/>
          <p:nvPr/>
        </p:nvSpPr>
        <p:spPr>
          <a:xfrm>
            <a:off x="9601200" y="4882896"/>
            <a:ext cx="1737360" cy="274320"/>
          </a:xfrm>
          <a:prstGeom prst="rect">
            <a:avLst/>
          </a:prstGeom>
          <a:noFill/>
          <a:ln/>
        </p:spPr>
        <p:txBody>
          <a:bodyPr wrap="square" rtlCol="0" anchor="ctr"/>
          <a:lstStyle/>
          <a:p>
            <a:pPr algn="r" indent="0" marL="0">
              <a:buNone/>
            </a:pPr>
            <a:r>
              <a:rPr lang="en-US" sz="900" b="1" dirty="0">
                <a:solidFill>
                  <a:srgbClr val="10B981"/>
                </a:solidFill>
                <a:latin typeface="Arial" pitchFamily="34" charset="0"/>
                <a:ea typeface="Arial" pitchFamily="34" charset="-122"/>
                <a:cs typeface="Arial" pitchFamily="34" charset="-120"/>
              </a:rPr>
              <a:t>SHA-256 Verified</a:t>
            </a:r>
            <a:endParaRPr lang="en-US" sz="900" dirty="0"/>
          </a:p>
        </p:txBody>
      </p:sp>
      <p:sp>
        <p:nvSpPr>
          <p:cNvPr id="27" name="Text 25"/>
          <p:cNvSpPr/>
          <p:nvPr/>
        </p:nvSpPr>
        <p:spPr>
          <a:xfrm>
            <a:off x="6812280" y="5202936"/>
            <a:ext cx="4434840" cy="8229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Validates that administrator-triggered backups generate matching SHA-256 checksums and enforce pre-restore safe snapshots.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2: TECHNICAL EXECUTION (4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Working Implementation: 12 Responsive Views</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Live full-stack system architecture with client-side hash router and dynamic RBAC views</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3474720" cy="1051560"/>
          </a:xfrm>
          <a:prstGeom prst="roundRect">
            <a:avLst>
              <a:gd name="adj" fmla="val 6957"/>
            </a:avLst>
          </a:prstGeom>
          <a:solidFill>
            <a:srgbClr val="FFFFFF"/>
          </a:solidFill>
          <a:ln w="12700">
            <a:solidFill>
              <a:srgbClr val="E2E8F0"/>
            </a:solidFill>
            <a:prstDash val="solid"/>
          </a:ln>
        </p:spPr>
      </p:sp>
      <p:sp>
        <p:nvSpPr>
          <p:cNvPr id="11" name="Text 9"/>
          <p:cNvSpPr/>
          <p:nvPr/>
        </p:nvSpPr>
        <p:spPr>
          <a:xfrm>
            <a:off x="868680" y="1691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1. Login &amp; Rapid Switcher</a:t>
            </a:r>
            <a:endParaRPr lang="en-US" sz="950" dirty="0"/>
          </a:p>
        </p:txBody>
      </p:sp>
      <p:sp>
        <p:nvSpPr>
          <p:cNvPr id="12" name="Text 10"/>
          <p:cNvSpPr/>
          <p:nvPr/>
        </p:nvSpPr>
        <p:spPr>
          <a:xfrm>
            <a:off x="868680" y="1984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1-Click demo role switcher + secure form with rate limit feedback</a:t>
            </a:r>
            <a:endParaRPr lang="en-US" sz="800" dirty="0"/>
          </a:p>
        </p:txBody>
      </p:sp>
      <p:sp>
        <p:nvSpPr>
          <p:cNvPr id="13" name="Shape 11"/>
          <p:cNvSpPr/>
          <p:nvPr/>
        </p:nvSpPr>
        <p:spPr>
          <a:xfrm>
            <a:off x="4343400" y="1600200"/>
            <a:ext cx="3474720" cy="1051560"/>
          </a:xfrm>
          <a:prstGeom prst="roundRect">
            <a:avLst>
              <a:gd name="adj" fmla="val 6957"/>
            </a:avLst>
          </a:prstGeom>
          <a:solidFill>
            <a:srgbClr val="FFFFFF"/>
          </a:solidFill>
          <a:ln w="12700">
            <a:solidFill>
              <a:srgbClr val="E2E8F0"/>
            </a:solidFill>
            <a:prstDash val="solid"/>
          </a:ln>
        </p:spPr>
      </p:sp>
      <p:sp>
        <p:nvSpPr>
          <p:cNvPr id="14" name="Text 12"/>
          <p:cNvSpPr/>
          <p:nvPr/>
        </p:nvSpPr>
        <p:spPr>
          <a:xfrm>
            <a:off x="4480560" y="1691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2. Main Dashboard</a:t>
            </a:r>
            <a:endParaRPr lang="en-US" sz="950" dirty="0"/>
          </a:p>
        </p:txBody>
      </p:sp>
      <p:sp>
        <p:nvSpPr>
          <p:cNvPr id="15" name="Text 13"/>
          <p:cNvSpPr/>
          <p:nvPr/>
        </p:nvSpPr>
        <p:spPr>
          <a:xfrm>
            <a:off x="4480560" y="1984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Live KPIs (Patients, Queue, Latency, Doctors) &amp; telemetry widget</a:t>
            </a:r>
            <a:endParaRPr lang="en-US" sz="800" dirty="0"/>
          </a:p>
        </p:txBody>
      </p:sp>
      <p:sp>
        <p:nvSpPr>
          <p:cNvPr id="16" name="Shape 14"/>
          <p:cNvSpPr/>
          <p:nvPr/>
        </p:nvSpPr>
        <p:spPr>
          <a:xfrm>
            <a:off x="7955280" y="1600200"/>
            <a:ext cx="3474720" cy="1051560"/>
          </a:xfrm>
          <a:prstGeom prst="roundRect">
            <a:avLst>
              <a:gd name="adj" fmla="val 6957"/>
            </a:avLst>
          </a:prstGeom>
          <a:solidFill>
            <a:srgbClr val="FFFFFF"/>
          </a:solidFill>
          <a:ln w="12700">
            <a:solidFill>
              <a:srgbClr val="E2E8F0"/>
            </a:solidFill>
            <a:prstDash val="solid"/>
          </a:ln>
        </p:spPr>
      </p:sp>
      <p:sp>
        <p:nvSpPr>
          <p:cNvPr id="17" name="Text 15"/>
          <p:cNvSpPr/>
          <p:nvPr/>
        </p:nvSpPr>
        <p:spPr>
          <a:xfrm>
            <a:off x="8092440" y="1691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3. Patient Management</a:t>
            </a:r>
            <a:endParaRPr lang="en-US" sz="950" dirty="0"/>
          </a:p>
        </p:txBody>
      </p:sp>
      <p:sp>
        <p:nvSpPr>
          <p:cNvPr id="18" name="Text 16"/>
          <p:cNvSpPr/>
          <p:nvPr/>
        </p:nvSpPr>
        <p:spPr>
          <a:xfrm>
            <a:off x="8092440" y="1984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Fictional patient directory, modal details, search &amp; pagination</a:t>
            </a:r>
            <a:endParaRPr lang="en-US" sz="800" dirty="0"/>
          </a:p>
        </p:txBody>
      </p:sp>
      <p:sp>
        <p:nvSpPr>
          <p:cNvPr id="19" name="Shape 17"/>
          <p:cNvSpPr/>
          <p:nvPr/>
        </p:nvSpPr>
        <p:spPr>
          <a:xfrm>
            <a:off x="731520" y="2743200"/>
            <a:ext cx="3474720" cy="1051560"/>
          </a:xfrm>
          <a:prstGeom prst="roundRect">
            <a:avLst>
              <a:gd name="adj" fmla="val 6957"/>
            </a:avLst>
          </a:prstGeom>
          <a:solidFill>
            <a:srgbClr val="FFFFFF"/>
          </a:solidFill>
          <a:ln w="12700">
            <a:solidFill>
              <a:srgbClr val="E2E8F0"/>
            </a:solidFill>
            <a:prstDash val="solid"/>
          </a:ln>
        </p:spPr>
      </p:sp>
      <p:sp>
        <p:nvSpPr>
          <p:cNvPr id="20" name="Text 18"/>
          <p:cNvSpPr/>
          <p:nvPr/>
        </p:nvSpPr>
        <p:spPr>
          <a:xfrm>
            <a:off x="868680" y="2834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4. Doctor Management</a:t>
            </a:r>
            <a:endParaRPr lang="en-US" sz="950" dirty="0"/>
          </a:p>
        </p:txBody>
      </p:sp>
      <p:sp>
        <p:nvSpPr>
          <p:cNvPr id="21" name="Text 19"/>
          <p:cNvSpPr/>
          <p:nvPr/>
        </p:nvSpPr>
        <p:spPr>
          <a:xfrm>
            <a:off x="868680" y="3127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Department roster, availability toggle &amp; clinician schedule inspector</a:t>
            </a:r>
            <a:endParaRPr lang="en-US" sz="800" dirty="0"/>
          </a:p>
        </p:txBody>
      </p:sp>
      <p:sp>
        <p:nvSpPr>
          <p:cNvPr id="22" name="Shape 20"/>
          <p:cNvSpPr/>
          <p:nvPr/>
        </p:nvSpPr>
        <p:spPr>
          <a:xfrm>
            <a:off x="4343400" y="2743200"/>
            <a:ext cx="3474720" cy="1051560"/>
          </a:xfrm>
          <a:prstGeom prst="roundRect">
            <a:avLst>
              <a:gd name="adj" fmla="val 6957"/>
            </a:avLst>
          </a:prstGeom>
          <a:solidFill>
            <a:srgbClr val="FFFFFF"/>
          </a:solidFill>
          <a:ln w="12700">
            <a:solidFill>
              <a:srgbClr val="E2E8F0"/>
            </a:solidFill>
            <a:prstDash val="solid"/>
          </a:ln>
        </p:spPr>
      </p:sp>
      <p:sp>
        <p:nvSpPr>
          <p:cNvPr id="23" name="Text 21"/>
          <p:cNvSpPr/>
          <p:nvPr/>
        </p:nvSpPr>
        <p:spPr>
          <a:xfrm>
            <a:off x="4480560" y="2834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5. Appointment Queue</a:t>
            </a:r>
            <a:endParaRPr lang="en-US" sz="950" dirty="0"/>
          </a:p>
        </p:txBody>
      </p:sp>
      <p:sp>
        <p:nvSpPr>
          <p:cNvPr id="24" name="Text 22"/>
          <p:cNvSpPr/>
          <p:nvPr/>
        </p:nvSpPr>
        <p:spPr>
          <a:xfrm>
            <a:off x="4480560" y="3127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Booking modal, date collision prevention &amp; status transitions</a:t>
            </a:r>
            <a:endParaRPr lang="en-US" sz="800" dirty="0"/>
          </a:p>
        </p:txBody>
      </p:sp>
      <p:sp>
        <p:nvSpPr>
          <p:cNvPr id="25" name="Shape 23"/>
          <p:cNvSpPr/>
          <p:nvPr/>
        </p:nvSpPr>
        <p:spPr>
          <a:xfrm>
            <a:off x="7955280" y="2743200"/>
            <a:ext cx="3474720" cy="1051560"/>
          </a:xfrm>
          <a:prstGeom prst="roundRect">
            <a:avLst>
              <a:gd name="adj" fmla="val 6957"/>
            </a:avLst>
          </a:prstGeom>
          <a:solidFill>
            <a:srgbClr val="FFFFFF"/>
          </a:solidFill>
          <a:ln w="12700">
            <a:solidFill>
              <a:srgbClr val="E2E8F0"/>
            </a:solidFill>
            <a:prstDash val="solid"/>
          </a:ln>
        </p:spPr>
      </p:sp>
      <p:sp>
        <p:nvSpPr>
          <p:cNvPr id="26" name="Text 24"/>
          <p:cNvSpPr/>
          <p:nvPr/>
        </p:nvSpPr>
        <p:spPr>
          <a:xfrm>
            <a:off x="8092440" y="2834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6. Medical Records (EHR)</a:t>
            </a:r>
            <a:endParaRPr lang="en-US" sz="950" dirty="0"/>
          </a:p>
        </p:txBody>
      </p:sp>
      <p:sp>
        <p:nvSpPr>
          <p:cNvPr id="27" name="Text 25"/>
          <p:cNvSpPr/>
          <p:nvPr/>
        </p:nvSpPr>
        <p:spPr>
          <a:xfrm>
            <a:off x="8092440" y="3127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Clinical notes &amp; vitals for Doctors; styled 403 card for Receptionists</a:t>
            </a:r>
            <a:endParaRPr lang="en-US" sz="800" dirty="0"/>
          </a:p>
        </p:txBody>
      </p:sp>
      <p:sp>
        <p:nvSpPr>
          <p:cNvPr id="28" name="Shape 26"/>
          <p:cNvSpPr/>
          <p:nvPr/>
        </p:nvSpPr>
        <p:spPr>
          <a:xfrm>
            <a:off x="731520" y="3886200"/>
            <a:ext cx="3474720" cy="1051560"/>
          </a:xfrm>
          <a:prstGeom prst="roundRect">
            <a:avLst>
              <a:gd name="adj" fmla="val 6957"/>
            </a:avLst>
          </a:prstGeom>
          <a:solidFill>
            <a:srgbClr val="FFFFFF"/>
          </a:solidFill>
          <a:ln w="12700">
            <a:solidFill>
              <a:srgbClr val="E2E8F0"/>
            </a:solidFill>
            <a:prstDash val="solid"/>
          </a:ln>
        </p:spPr>
      </p:sp>
      <p:sp>
        <p:nvSpPr>
          <p:cNvPr id="29" name="Text 27"/>
          <p:cNvSpPr/>
          <p:nvPr/>
        </p:nvSpPr>
        <p:spPr>
          <a:xfrm>
            <a:off x="868680" y="3977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7. User &amp; Role Admin</a:t>
            </a:r>
            <a:endParaRPr lang="en-US" sz="950" dirty="0"/>
          </a:p>
        </p:txBody>
      </p:sp>
      <p:sp>
        <p:nvSpPr>
          <p:cNvPr id="30" name="Text 28"/>
          <p:cNvSpPr/>
          <p:nvPr/>
        </p:nvSpPr>
        <p:spPr>
          <a:xfrm>
            <a:off x="868680" y="4270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Provision staff, toggle status, and inspect visual RBAC Privilege Matrix</a:t>
            </a:r>
            <a:endParaRPr lang="en-US" sz="800" dirty="0"/>
          </a:p>
        </p:txBody>
      </p:sp>
      <p:sp>
        <p:nvSpPr>
          <p:cNvPr id="31" name="Shape 29"/>
          <p:cNvSpPr/>
          <p:nvPr/>
        </p:nvSpPr>
        <p:spPr>
          <a:xfrm>
            <a:off x="4343400" y="3886200"/>
            <a:ext cx="3474720" cy="1051560"/>
          </a:xfrm>
          <a:prstGeom prst="roundRect">
            <a:avLst>
              <a:gd name="adj" fmla="val 6957"/>
            </a:avLst>
          </a:prstGeom>
          <a:solidFill>
            <a:srgbClr val="FFFFFF"/>
          </a:solidFill>
          <a:ln w="12700">
            <a:solidFill>
              <a:srgbClr val="E2E8F0"/>
            </a:solidFill>
            <a:prstDash val="solid"/>
          </a:ln>
        </p:spPr>
      </p:sp>
      <p:sp>
        <p:nvSpPr>
          <p:cNvPr id="32" name="Text 30"/>
          <p:cNvSpPr/>
          <p:nvPr/>
        </p:nvSpPr>
        <p:spPr>
          <a:xfrm>
            <a:off x="4480560" y="3977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8. Security Audit Logs</a:t>
            </a:r>
            <a:endParaRPr lang="en-US" sz="950" dirty="0"/>
          </a:p>
        </p:txBody>
      </p:sp>
      <p:sp>
        <p:nvSpPr>
          <p:cNvPr id="33" name="Text 31"/>
          <p:cNvSpPr/>
          <p:nvPr/>
        </p:nvSpPr>
        <p:spPr>
          <a:xfrm>
            <a:off x="4480560" y="4270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Actor trail, event filters, JSON export, and zero password logging</a:t>
            </a:r>
            <a:endParaRPr lang="en-US" sz="800" dirty="0"/>
          </a:p>
        </p:txBody>
      </p:sp>
      <p:sp>
        <p:nvSpPr>
          <p:cNvPr id="34" name="Shape 32"/>
          <p:cNvSpPr/>
          <p:nvPr/>
        </p:nvSpPr>
        <p:spPr>
          <a:xfrm>
            <a:off x="7955280" y="3886200"/>
            <a:ext cx="3474720" cy="1051560"/>
          </a:xfrm>
          <a:prstGeom prst="roundRect">
            <a:avLst>
              <a:gd name="adj" fmla="val 6957"/>
            </a:avLst>
          </a:prstGeom>
          <a:solidFill>
            <a:srgbClr val="FFFFFF"/>
          </a:solidFill>
          <a:ln w="12700">
            <a:solidFill>
              <a:srgbClr val="E2E8F0"/>
            </a:solidFill>
            <a:prstDash val="solid"/>
          </a:ln>
        </p:spPr>
      </p:sp>
      <p:sp>
        <p:nvSpPr>
          <p:cNvPr id="35" name="Text 33"/>
          <p:cNvSpPr/>
          <p:nvPr/>
        </p:nvSpPr>
        <p:spPr>
          <a:xfrm>
            <a:off x="8092440" y="3977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9. Backup &amp; Recovery</a:t>
            </a:r>
            <a:endParaRPr lang="en-US" sz="950" dirty="0"/>
          </a:p>
        </p:txBody>
      </p:sp>
      <p:sp>
        <p:nvSpPr>
          <p:cNvPr id="36" name="Text 34"/>
          <p:cNvSpPr/>
          <p:nvPr/>
        </p:nvSpPr>
        <p:spPr>
          <a:xfrm>
            <a:off x="8092440" y="4270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Trigger live SQLite snapshot, SHA-256 verify, safe restore safeguard</a:t>
            </a:r>
            <a:endParaRPr lang="en-US" sz="800" dirty="0"/>
          </a:p>
        </p:txBody>
      </p:sp>
      <p:sp>
        <p:nvSpPr>
          <p:cNvPr id="37" name="Shape 35"/>
          <p:cNvSpPr/>
          <p:nvPr/>
        </p:nvSpPr>
        <p:spPr>
          <a:xfrm>
            <a:off x="731520" y="5029200"/>
            <a:ext cx="3474720" cy="1051560"/>
          </a:xfrm>
          <a:prstGeom prst="roundRect">
            <a:avLst>
              <a:gd name="adj" fmla="val 6957"/>
            </a:avLst>
          </a:prstGeom>
          <a:solidFill>
            <a:srgbClr val="FFFFFF"/>
          </a:solidFill>
          <a:ln w="12700">
            <a:solidFill>
              <a:srgbClr val="E2E8F0"/>
            </a:solidFill>
            <a:prstDash val="solid"/>
          </a:ln>
        </p:spPr>
      </p:sp>
      <p:sp>
        <p:nvSpPr>
          <p:cNvPr id="38" name="Text 36"/>
          <p:cNvSpPr/>
          <p:nvPr/>
        </p:nvSpPr>
        <p:spPr>
          <a:xfrm>
            <a:off x="868680" y="5120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10. Cloud Architecture</a:t>
            </a:r>
            <a:endParaRPr lang="en-US" sz="950" dirty="0"/>
          </a:p>
        </p:txBody>
      </p:sp>
      <p:sp>
        <p:nvSpPr>
          <p:cNvPr id="39" name="Text 37"/>
          <p:cNvSpPr/>
          <p:nvPr/>
        </p:nvSpPr>
        <p:spPr>
          <a:xfrm>
            <a:off x="868680" y="5413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Interactive 6-tier AWS diagram + 5 deep-dive architectural pillars</a:t>
            </a:r>
            <a:endParaRPr lang="en-US" sz="800" dirty="0"/>
          </a:p>
        </p:txBody>
      </p:sp>
      <p:sp>
        <p:nvSpPr>
          <p:cNvPr id="40" name="Shape 38"/>
          <p:cNvSpPr/>
          <p:nvPr/>
        </p:nvSpPr>
        <p:spPr>
          <a:xfrm>
            <a:off x="4343400" y="5029200"/>
            <a:ext cx="3474720" cy="1051560"/>
          </a:xfrm>
          <a:prstGeom prst="roundRect">
            <a:avLst>
              <a:gd name="adj" fmla="val 6957"/>
            </a:avLst>
          </a:prstGeom>
          <a:solidFill>
            <a:srgbClr val="FFFFFF"/>
          </a:solidFill>
          <a:ln w="12700">
            <a:solidFill>
              <a:srgbClr val="E2E8F0"/>
            </a:solidFill>
            <a:prstDash val="solid"/>
          </a:ln>
        </p:spPr>
      </p:sp>
      <p:sp>
        <p:nvSpPr>
          <p:cNvPr id="41" name="Text 39"/>
          <p:cNvSpPr/>
          <p:nvPr/>
        </p:nvSpPr>
        <p:spPr>
          <a:xfrm>
            <a:off x="4480560" y="5120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11. Monitoring &amp; Health</a:t>
            </a:r>
            <a:endParaRPr lang="en-US" sz="950" dirty="0"/>
          </a:p>
        </p:txBody>
      </p:sp>
      <p:sp>
        <p:nvSpPr>
          <p:cNvPr id="42" name="Text 40"/>
          <p:cNvSpPr/>
          <p:nvPr/>
        </p:nvSpPr>
        <p:spPr>
          <a:xfrm>
            <a:off x="4480560" y="5413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Live /api/health telemetry, V8 Heap memory, CloudWatch alarms guide</a:t>
            </a:r>
            <a:endParaRPr lang="en-US" sz="800" dirty="0"/>
          </a:p>
        </p:txBody>
      </p:sp>
      <p:sp>
        <p:nvSpPr>
          <p:cNvPr id="43" name="Shape 41"/>
          <p:cNvSpPr/>
          <p:nvPr/>
        </p:nvSpPr>
        <p:spPr>
          <a:xfrm>
            <a:off x="7955280" y="5029200"/>
            <a:ext cx="3474720" cy="1051560"/>
          </a:xfrm>
          <a:prstGeom prst="roundRect">
            <a:avLst>
              <a:gd name="adj" fmla="val 6957"/>
            </a:avLst>
          </a:prstGeom>
          <a:solidFill>
            <a:srgbClr val="FFFFFF"/>
          </a:solidFill>
          <a:ln w="12700">
            <a:solidFill>
              <a:srgbClr val="E2E8F0"/>
            </a:solidFill>
            <a:prstDash val="solid"/>
          </a:ln>
        </p:spPr>
      </p:sp>
      <p:sp>
        <p:nvSpPr>
          <p:cNvPr id="44" name="Text 42"/>
          <p:cNvSpPr/>
          <p:nvPr/>
        </p:nvSpPr>
        <p:spPr>
          <a:xfrm>
            <a:off x="8092440" y="5120640"/>
            <a:ext cx="3200400" cy="27432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12. Technical Evaluation</a:t>
            </a:r>
            <a:endParaRPr lang="en-US" sz="950" dirty="0"/>
          </a:p>
        </p:txBody>
      </p:sp>
      <p:sp>
        <p:nvSpPr>
          <p:cNvPr id="45" name="Text 43"/>
          <p:cNvSpPr/>
          <p:nvPr/>
        </p:nvSpPr>
        <p:spPr>
          <a:xfrm>
            <a:off x="8092440" y="5413248"/>
            <a:ext cx="3200400" cy="594360"/>
          </a:xfrm>
          <a:prstGeom prst="rect">
            <a:avLst/>
          </a:prstGeom>
          <a:noFill/>
          <a:ln/>
        </p:spPr>
        <p:txBody>
          <a:bodyPr wrap="square" rtlCol="0" anchor="ctr"/>
          <a:lstStyle/>
          <a:p>
            <a:pPr indent="0" marL="0">
              <a:lnSpc>
                <a:spcPts val="1200"/>
              </a:lnSpc>
              <a:buNone/>
            </a:pPr>
            <a:r>
              <a:rPr lang="en-US" sz="800" dirty="0">
                <a:solidFill>
                  <a:srgbClr val="64748B"/>
                </a:solidFill>
                <a:latin typeface="Arial" pitchFamily="34" charset="0"/>
                <a:ea typeface="Arial" pitchFamily="34" charset="-122"/>
                <a:cs typeface="Arial" pitchFamily="34" charset="-120"/>
              </a:rPr>
              <a:t>In-browser test runner, latency benchmarks, AWS Cost Calculator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3: EVALUATION &amp; RESULTS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Performance Benchmarking &amp; Query Execution Latencies</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Empirical latency measurements from live 10-iteration database benchmark suite</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2560320" cy="1645920"/>
          </a:xfrm>
          <a:prstGeom prst="roundRect">
            <a:avLst>
              <a:gd name="adj" fmla="val 5556"/>
            </a:avLst>
          </a:prstGeom>
          <a:solidFill>
            <a:srgbClr val="FFFFFF"/>
          </a:solidFill>
          <a:ln w="12700">
            <a:solidFill>
              <a:srgbClr val="E2E8F0"/>
            </a:solidFill>
            <a:prstDash val="solid"/>
          </a:ln>
        </p:spPr>
      </p:sp>
      <p:sp>
        <p:nvSpPr>
          <p:cNvPr id="11" name="Shape 9"/>
          <p:cNvSpPr/>
          <p:nvPr/>
        </p:nvSpPr>
        <p:spPr>
          <a:xfrm>
            <a:off x="731520" y="1600200"/>
            <a:ext cx="2560320" cy="73152"/>
          </a:xfrm>
          <a:prstGeom prst="rect">
            <a:avLst/>
          </a:prstGeom>
          <a:solidFill>
            <a:srgbClr val="0D9488"/>
          </a:solidFill>
          <a:ln w="12700">
            <a:solidFill>
              <a:srgbClr val="0D9488"/>
            </a:solidFill>
            <a:prstDash val="solid"/>
          </a:ln>
        </p:spPr>
      </p:sp>
      <p:sp>
        <p:nvSpPr>
          <p:cNvPr id="12" name="Text 10"/>
          <p:cNvSpPr/>
          <p:nvPr/>
        </p:nvSpPr>
        <p:spPr>
          <a:xfrm>
            <a:off x="868680" y="1737360"/>
            <a:ext cx="22860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PATIENT SEARCH (10 RUNS)</a:t>
            </a:r>
            <a:endParaRPr lang="en-US" sz="800" dirty="0"/>
          </a:p>
        </p:txBody>
      </p:sp>
      <p:sp>
        <p:nvSpPr>
          <p:cNvPr id="13" name="Text 11"/>
          <p:cNvSpPr/>
          <p:nvPr/>
        </p:nvSpPr>
        <p:spPr>
          <a:xfrm>
            <a:off x="868680" y="1984248"/>
            <a:ext cx="2286000" cy="457200"/>
          </a:xfrm>
          <a:prstGeom prst="rect">
            <a:avLst/>
          </a:prstGeom>
          <a:noFill/>
          <a:ln/>
        </p:spPr>
        <p:txBody>
          <a:bodyPr wrap="square" rtlCol="0" anchor="ctr"/>
          <a:lstStyle/>
          <a:p>
            <a:pPr indent="0" marL="0">
              <a:buNone/>
            </a:pPr>
            <a:r>
              <a:rPr lang="en-US" sz="2200" b="1" dirty="0">
                <a:solidFill>
                  <a:srgbClr val="0D9488"/>
                </a:solidFill>
                <a:latin typeface="Arial" pitchFamily="34" charset="0"/>
                <a:ea typeface="Arial" pitchFamily="34" charset="-122"/>
                <a:cs typeface="Arial" pitchFamily="34" charset="-120"/>
              </a:rPr>
              <a:t>0.24 ms</a:t>
            </a:r>
            <a:endParaRPr lang="en-US" sz="2200" dirty="0"/>
          </a:p>
        </p:txBody>
      </p:sp>
      <p:sp>
        <p:nvSpPr>
          <p:cNvPr id="14" name="Text 12"/>
          <p:cNvSpPr/>
          <p:nvPr/>
        </p:nvSpPr>
        <p:spPr>
          <a:xfrm>
            <a:off x="868680" y="2468880"/>
            <a:ext cx="2286000" cy="228600"/>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Min: 0.12 ms • Max: 0.45 ms</a:t>
            </a:r>
            <a:endParaRPr lang="en-US" sz="800" dirty="0"/>
          </a:p>
        </p:txBody>
      </p:sp>
      <p:sp>
        <p:nvSpPr>
          <p:cNvPr id="15" name="Text 13"/>
          <p:cNvSpPr/>
          <p:nvPr/>
        </p:nvSpPr>
        <p:spPr>
          <a:xfrm>
            <a:off x="868680" y="2743200"/>
            <a:ext cx="2286000" cy="411480"/>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Indexed full_name LIKE query</a:t>
            </a:r>
            <a:endParaRPr lang="en-US" sz="780" dirty="0"/>
          </a:p>
        </p:txBody>
      </p:sp>
      <p:sp>
        <p:nvSpPr>
          <p:cNvPr id="16" name="Shape 14"/>
          <p:cNvSpPr/>
          <p:nvPr/>
        </p:nvSpPr>
        <p:spPr>
          <a:xfrm>
            <a:off x="3456432" y="1600200"/>
            <a:ext cx="2560320" cy="1645920"/>
          </a:xfrm>
          <a:prstGeom prst="roundRect">
            <a:avLst>
              <a:gd name="adj" fmla="val 5556"/>
            </a:avLst>
          </a:prstGeom>
          <a:solidFill>
            <a:srgbClr val="FFFFFF"/>
          </a:solidFill>
          <a:ln w="12700">
            <a:solidFill>
              <a:srgbClr val="E2E8F0"/>
            </a:solidFill>
            <a:prstDash val="solid"/>
          </a:ln>
        </p:spPr>
      </p:sp>
      <p:sp>
        <p:nvSpPr>
          <p:cNvPr id="17" name="Shape 15"/>
          <p:cNvSpPr/>
          <p:nvPr/>
        </p:nvSpPr>
        <p:spPr>
          <a:xfrm>
            <a:off x="3456432" y="1600200"/>
            <a:ext cx="2560320" cy="73152"/>
          </a:xfrm>
          <a:prstGeom prst="rect">
            <a:avLst/>
          </a:prstGeom>
          <a:solidFill>
            <a:srgbClr val="0284C7"/>
          </a:solidFill>
          <a:ln w="12700">
            <a:solidFill>
              <a:srgbClr val="0284C7"/>
            </a:solidFill>
            <a:prstDash val="solid"/>
          </a:ln>
        </p:spPr>
      </p:sp>
      <p:sp>
        <p:nvSpPr>
          <p:cNvPr id="18" name="Text 16"/>
          <p:cNvSpPr/>
          <p:nvPr/>
        </p:nvSpPr>
        <p:spPr>
          <a:xfrm>
            <a:off x="3593592" y="1737360"/>
            <a:ext cx="22860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APPOINTMENT JOIN (10 RUNS)</a:t>
            </a:r>
            <a:endParaRPr lang="en-US" sz="800" dirty="0"/>
          </a:p>
        </p:txBody>
      </p:sp>
      <p:sp>
        <p:nvSpPr>
          <p:cNvPr id="19" name="Text 17"/>
          <p:cNvSpPr/>
          <p:nvPr/>
        </p:nvSpPr>
        <p:spPr>
          <a:xfrm>
            <a:off x="3593592" y="1984248"/>
            <a:ext cx="2286000" cy="457200"/>
          </a:xfrm>
          <a:prstGeom prst="rect">
            <a:avLst/>
          </a:prstGeom>
          <a:noFill/>
          <a:ln/>
        </p:spPr>
        <p:txBody>
          <a:bodyPr wrap="square" rtlCol="0" anchor="ctr"/>
          <a:lstStyle/>
          <a:p>
            <a:pPr indent="0" marL="0">
              <a:buNone/>
            </a:pPr>
            <a:r>
              <a:rPr lang="en-US" sz="2200" b="1" dirty="0">
                <a:solidFill>
                  <a:srgbClr val="0284C7"/>
                </a:solidFill>
                <a:latin typeface="Arial" pitchFamily="34" charset="0"/>
                <a:ea typeface="Arial" pitchFamily="34" charset="-122"/>
                <a:cs typeface="Arial" pitchFamily="34" charset="-120"/>
              </a:rPr>
              <a:t>0.35 ms</a:t>
            </a:r>
            <a:endParaRPr lang="en-US" sz="2200" dirty="0"/>
          </a:p>
        </p:txBody>
      </p:sp>
      <p:sp>
        <p:nvSpPr>
          <p:cNvPr id="20" name="Text 18"/>
          <p:cNvSpPr/>
          <p:nvPr/>
        </p:nvSpPr>
        <p:spPr>
          <a:xfrm>
            <a:off x="3593592" y="2468880"/>
            <a:ext cx="2286000" cy="228600"/>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Min: 0.20 ms • Max: 0.65 ms</a:t>
            </a:r>
            <a:endParaRPr lang="en-US" sz="800" dirty="0"/>
          </a:p>
        </p:txBody>
      </p:sp>
      <p:sp>
        <p:nvSpPr>
          <p:cNvPr id="21" name="Text 19"/>
          <p:cNvSpPr/>
          <p:nvPr/>
        </p:nvSpPr>
        <p:spPr>
          <a:xfrm>
            <a:off x="3593592" y="2743200"/>
            <a:ext cx="2286000" cy="411480"/>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3-Table JOIN (Appt + Patient + Doctor)</a:t>
            </a:r>
            <a:endParaRPr lang="en-US" sz="780" dirty="0"/>
          </a:p>
        </p:txBody>
      </p:sp>
      <p:sp>
        <p:nvSpPr>
          <p:cNvPr id="22" name="Shape 20"/>
          <p:cNvSpPr/>
          <p:nvPr/>
        </p:nvSpPr>
        <p:spPr>
          <a:xfrm>
            <a:off x="6181344" y="1600200"/>
            <a:ext cx="2560320" cy="1645920"/>
          </a:xfrm>
          <a:prstGeom prst="roundRect">
            <a:avLst>
              <a:gd name="adj" fmla="val 5556"/>
            </a:avLst>
          </a:prstGeom>
          <a:solidFill>
            <a:srgbClr val="FFFFFF"/>
          </a:solidFill>
          <a:ln w="12700">
            <a:solidFill>
              <a:srgbClr val="E2E8F0"/>
            </a:solidFill>
            <a:prstDash val="solid"/>
          </a:ln>
        </p:spPr>
      </p:sp>
      <p:sp>
        <p:nvSpPr>
          <p:cNvPr id="23" name="Shape 21"/>
          <p:cNvSpPr/>
          <p:nvPr/>
        </p:nvSpPr>
        <p:spPr>
          <a:xfrm>
            <a:off x="6181344" y="1600200"/>
            <a:ext cx="2560320" cy="73152"/>
          </a:xfrm>
          <a:prstGeom prst="rect">
            <a:avLst/>
          </a:prstGeom>
          <a:solidFill>
            <a:srgbClr val="0F2B46"/>
          </a:solidFill>
          <a:ln w="12700">
            <a:solidFill>
              <a:srgbClr val="0F2B46"/>
            </a:solidFill>
            <a:prstDash val="solid"/>
          </a:ln>
        </p:spPr>
      </p:sp>
      <p:sp>
        <p:nvSpPr>
          <p:cNvPr id="24" name="Text 22"/>
          <p:cNvSpPr/>
          <p:nvPr/>
        </p:nvSpPr>
        <p:spPr>
          <a:xfrm>
            <a:off x="6318504" y="1737360"/>
            <a:ext cx="22860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API HEALTH ROUNDTRIP</a:t>
            </a:r>
            <a:endParaRPr lang="en-US" sz="800" dirty="0"/>
          </a:p>
        </p:txBody>
      </p:sp>
      <p:sp>
        <p:nvSpPr>
          <p:cNvPr id="25" name="Text 23"/>
          <p:cNvSpPr/>
          <p:nvPr/>
        </p:nvSpPr>
        <p:spPr>
          <a:xfrm>
            <a:off x="6318504" y="1984248"/>
            <a:ext cx="2286000" cy="457200"/>
          </a:xfrm>
          <a:prstGeom prst="rect">
            <a:avLst/>
          </a:prstGeom>
          <a:noFill/>
          <a:ln/>
        </p:spPr>
        <p:txBody>
          <a:bodyPr wrap="square" rtlCol="0" anchor="ctr"/>
          <a:lstStyle/>
          <a:p>
            <a:pPr indent="0" marL="0">
              <a:buNone/>
            </a:pPr>
            <a:r>
              <a:rPr lang="en-US" sz="2200" b="1" dirty="0">
                <a:solidFill>
                  <a:srgbClr val="0F2B46"/>
                </a:solidFill>
                <a:latin typeface="Arial" pitchFamily="34" charset="0"/>
                <a:ea typeface="Arial" pitchFamily="34" charset="-122"/>
                <a:cs typeface="Arial" pitchFamily="34" charset="-120"/>
              </a:rPr>
              <a:t>1.20 ms</a:t>
            </a:r>
            <a:endParaRPr lang="en-US" sz="2200" dirty="0"/>
          </a:p>
        </p:txBody>
      </p:sp>
      <p:sp>
        <p:nvSpPr>
          <p:cNvPr id="26" name="Text 24"/>
          <p:cNvSpPr/>
          <p:nvPr/>
        </p:nvSpPr>
        <p:spPr>
          <a:xfrm>
            <a:off x="6318504" y="2468880"/>
            <a:ext cx="2286000" cy="228600"/>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Min: 0.80 ms • Max: 2.10 ms</a:t>
            </a:r>
            <a:endParaRPr lang="en-US" sz="800" dirty="0"/>
          </a:p>
        </p:txBody>
      </p:sp>
      <p:sp>
        <p:nvSpPr>
          <p:cNvPr id="27" name="Text 25"/>
          <p:cNvSpPr/>
          <p:nvPr/>
        </p:nvSpPr>
        <p:spPr>
          <a:xfrm>
            <a:off x="6318504" y="2743200"/>
            <a:ext cx="2286000" cy="411480"/>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Full HTTP stack + DB ping + memory query</a:t>
            </a:r>
            <a:endParaRPr lang="en-US" sz="780" dirty="0"/>
          </a:p>
        </p:txBody>
      </p:sp>
      <p:sp>
        <p:nvSpPr>
          <p:cNvPr id="28" name="Shape 26"/>
          <p:cNvSpPr/>
          <p:nvPr/>
        </p:nvSpPr>
        <p:spPr>
          <a:xfrm>
            <a:off x="8906256" y="1600200"/>
            <a:ext cx="2560320" cy="1645920"/>
          </a:xfrm>
          <a:prstGeom prst="roundRect">
            <a:avLst>
              <a:gd name="adj" fmla="val 5556"/>
            </a:avLst>
          </a:prstGeom>
          <a:solidFill>
            <a:srgbClr val="FFFFFF"/>
          </a:solidFill>
          <a:ln w="12700">
            <a:solidFill>
              <a:srgbClr val="E2E8F0"/>
            </a:solidFill>
            <a:prstDash val="solid"/>
          </a:ln>
        </p:spPr>
      </p:sp>
      <p:sp>
        <p:nvSpPr>
          <p:cNvPr id="29" name="Shape 27"/>
          <p:cNvSpPr/>
          <p:nvPr/>
        </p:nvSpPr>
        <p:spPr>
          <a:xfrm>
            <a:off x="8906256" y="1600200"/>
            <a:ext cx="2560320" cy="73152"/>
          </a:xfrm>
          <a:prstGeom prst="rect">
            <a:avLst/>
          </a:prstGeom>
          <a:solidFill>
            <a:srgbClr val="10B981"/>
          </a:solidFill>
          <a:ln w="12700">
            <a:solidFill>
              <a:srgbClr val="10B981"/>
            </a:solidFill>
            <a:prstDash val="solid"/>
          </a:ln>
        </p:spPr>
      </p:sp>
      <p:sp>
        <p:nvSpPr>
          <p:cNvPr id="30" name="Text 28"/>
          <p:cNvSpPr/>
          <p:nvPr/>
        </p:nvSpPr>
        <p:spPr>
          <a:xfrm>
            <a:off x="9043416" y="1737360"/>
            <a:ext cx="2286000" cy="22860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TARGET AWS RDS LATENCY</a:t>
            </a:r>
            <a:endParaRPr lang="en-US" sz="800" dirty="0"/>
          </a:p>
        </p:txBody>
      </p:sp>
      <p:sp>
        <p:nvSpPr>
          <p:cNvPr id="31" name="Text 29"/>
          <p:cNvSpPr/>
          <p:nvPr/>
        </p:nvSpPr>
        <p:spPr>
          <a:xfrm>
            <a:off x="9043416" y="1984248"/>
            <a:ext cx="2286000" cy="457200"/>
          </a:xfrm>
          <a:prstGeom prst="rect">
            <a:avLst/>
          </a:prstGeom>
          <a:noFill/>
          <a:ln/>
        </p:spPr>
        <p:txBody>
          <a:bodyPr wrap="square" rtlCol="0" anchor="ctr"/>
          <a:lstStyle/>
          <a:p>
            <a:pPr indent="0" marL="0">
              <a:buNone/>
            </a:pPr>
            <a:r>
              <a:rPr lang="en-US" sz="2200" b="1" dirty="0">
                <a:solidFill>
                  <a:srgbClr val="10B981"/>
                </a:solidFill>
                <a:latin typeface="Arial" pitchFamily="34" charset="0"/>
                <a:ea typeface="Arial" pitchFamily="34" charset="-122"/>
                <a:cs typeface="Arial" pitchFamily="34" charset="-120"/>
              </a:rPr>
              <a:t>1.8 - 4.5 ms</a:t>
            </a:r>
            <a:endParaRPr lang="en-US" sz="2200" dirty="0"/>
          </a:p>
        </p:txBody>
      </p:sp>
      <p:sp>
        <p:nvSpPr>
          <p:cNvPr id="32" name="Text 30"/>
          <p:cNvSpPr/>
          <p:nvPr/>
        </p:nvSpPr>
        <p:spPr>
          <a:xfrm>
            <a:off x="9043416" y="2468880"/>
            <a:ext cx="2286000" cy="228600"/>
          </a:xfrm>
          <a:prstGeom prst="rect">
            <a:avLst/>
          </a:prstGeom>
          <a:noFill/>
          <a:ln/>
        </p:spPr>
        <p:txBody>
          <a:bodyPr wrap="square" rtlCol="0" anchor="ctr"/>
          <a:lstStyle/>
          <a:p>
            <a:pPr indent="0" marL="0">
              <a:buNone/>
            </a:pPr>
            <a:r>
              <a:rPr lang="en-US" sz="800" b="1" dirty="0">
                <a:solidFill>
                  <a:srgbClr val="0F2B46"/>
                </a:solidFill>
                <a:latin typeface="Courier New" pitchFamily="34" charset="0"/>
                <a:ea typeface="Courier New" pitchFamily="34" charset="-122"/>
                <a:cs typeface="Courier New" pitchFamily="34" charset="-120"/>
              </a:rPr>
              <a:t>Min: 1.2 ms • Max: 6.0 ms</a:t>
            </a:r>
            <a:endParaRPr lang="en-US" sz="800" dirty="0"/>
          </a:p>
        </p:txBody>
      </p:sp>
      <p:sp>
        <p:nvSpPr>
          <p:cNvPr id="33" name="Text 31"/>
          <p:cNvSpPr/>
          <p:nvPr/>
        </p:nvSpPr>
        <p:spPr>
          <a:xfrm>
            <a:off x="9043416" y="2743200"/>
            <a:ext cx="2286000" cy="411480"/>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Projected within same VPC private subnets</a:t>
            </a:r>
            <a:endParaRPr lang="en-US" sz="780" dirty="0"/>
          </a:p>
        </p:txBody>
      </p:sp>
      <p:sp>
        <p:nvSpPr>
          <p:cNvPr id="34" name="Shape 32"/>
          <p:cNvSpPr/>
          <p:nvPr/>
        </p:nvSpPr>
        <p:spPr>
          <a:xfrm>
            <a:off x="731520" y="3429000"/>
            <a:ext cx="5257800" cy="2743200"/>
          </a:xfrm>
          <a:prstGeom prst="roundRect">
            <a:avLst>
              <a:gd name="adj" fmla="val 3333"/>
            </a:avLst>
          </a:prstGeom>
          <a:solidFill>
            <a:srgbClr val="FFFFFF"/>
          </a:solidFill>
          <a:ln w="12700">
            <a:solidFill>
              <a:srgbClr val="E2E8F0"/>
            </a:solidFill>
            <a:prstDash val="solid"/>
          </a:ln>
        </p:spPr>
      </p:sp>
      <p:sp>
        <p:nvSpPr>
          <p:cNvPr id="35" name="Text 33"/>
          <p:cNvSpPr/>
          <p:nvPr/>
        </p:nvSpPr>
        <p:spPr>
          <a:xfrm>
            <a:off x="914400" y="3566160"/>
            <a:ext cx="4892040" cy="274320"/>
          </a:xfrm>
          <a:prstGeom prst="rect">
            <a:avLst/>
          </a:prstGeom>
          <a:noFill/>
          <a:ln/>
        </p:spPr>
        <p:txBody>
          <a:bodyPr wrap="square" rtlCol="0" anchor="ctr"/>
          <a:lstStyle/>
          <a:p>
            <a:pPr indent="0" marL="0">
              <a:buNone/>
            </a:pPr>
            <a:r>
              <a:rPr lang="en-US" sz="1050" b="1" dirty="0">
                <a:solidFill>
                  <a:srgbClr val="0F2B46"/>
                </a:solidFill>
                <a:latin typeface="Arial" pitchFamily="34" charset="0"/>
                <a:ea typeface="Arial" pitchFamily="34" charset="-122"/>
                <a:cs typeface="Arial" pitchFamily="34" charset="-120"/>
              </a:rPr>
              <a:t>📊 Database Execution Mechanics (/api/evaluation)</a:t>
            </a:r>
            <a:endParaRPr lang="en-US" sz="1050" dirty="0"/>
          </a:p>
        </p:txBody>
      </p:sp>
      <p:sp>
        <p:nvSpPr>
          <p:cNvPr id="36" name="Text 34"/>
          <p:cNvSpPr/>
          <p:nvPr/>
        </p:nvSpPr>
        <p:spPr>
          <a:xfrm>
            <a:off x="914400" y="3931920"/>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Write-Ahead Logging (WAL): Enabled via PRAGMA journal_mode = WAL;, permitting concurrent non-blocking reads while writes occur.</a:t>
            </a:r>
            <a:endParaRPr lang="en-US" sz="850" dirty="0"/>
          </a:p>
        </p:txBody>
      </p:sp>
      <p:sp>
        <p:nvSpPr>
          <p:cNvPr id="37" name="Text 35"/>
          <p:cNvSpPr/>
          <p:nvPr/>
        </p:nvSpPr>
        <p:spPr>
          <a:xfrm>
            <a:off x="914400" y="4590288"/>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Composite B-Tree Indexes: Primary keys and unique indices on patient_code, doctor_code, and user_id reduce search complexity from O(N) to O(log N).</a:t>
            </a:r>
            <a:endParaRPr lang="en-US" sz="850" dirty="0"/>
          </a:p>
        </p:txBody>
      </p:sp>
      <p:sp>
        <p:nvSpPr>
          <p:cNvPr id="38" name="Text 36"/>
          <p:cNvSpPr/>
          <p:nvPr/>
        </p:nvSpPr>
        <p:spPr>
          <a:xfrm>
            <a:off x="914400" y="5248656"/>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Connection Pooling: Express routes reuse the prepared statement cache, avoiding disk I/O and query compilation overhead on every HTTP request.</a:t>
            </a:r>
            <a:endParaRPr lang="en-US" sz="850" dirty="0"/>
          </a:p>
        </p:txBody>
      </p:sp>
      <p:sp>
        <p:nvSpPr>
          <p:cNvPr id="39" name="Shape 37"/>
          <p:cNvSpPr/>
          <p:nvPr/>
        </p:nvSpPr>
        <p:spPr>
          <a:xfrm>
            <a:off x="6199632" y="3429000"/>
            <a:ext cx="5257800" cy="2743200"/>
          </a:xfrm>
          <a:prstGeom prst="roundRect">
            <a:avLst>
              <a:gd name="adj" fmla="val 3333"/>
            </a:avLst>
          </a:prstGeom>
          <a:solidFill>
            <a:srgbClr val="FFFFFF"/>
          </a:solidFill>
          <a:ln w="12700">
            <a:solidFill>
              <a:srgbClr val="E2E8F0"/>
            </a:solidFill>
            <a:prstDash val="solid"/>
          </a:ln>
        </p:spPr>
      </p:sp>
      <p:sp>
        <p:nvSpPr>
          <p:cNvPr id="40" name="Text 38"/>
          <p:cNvSpPr/>
          <p:nvPr/>
        </p:nvSpPr>
        <p:spPr>
          <a:xfrm>
            <a:off x="6382512" y="3566160"/>
            <a:ext cx="4892040" cy="274320"/>
          </a:xfrm>
          <a:prstGeom prst="rect">
            <a:avLst/>
          </a:prstGeom>
          <a:noFill/>
          <a:ln/>
        </p:spPr>
        <p:txBody>
          <a:bodyPr wrap="square" rtlCol="0" anchor="ctr"/>
          <a:lstStyle/>
          <a:p>
            <a:pPr indent="0" marL="0">
              <a:buNone/>
            </a:pPr>
            <a:r>
              <a:rPr lang="en-US" sz="1050" b="1" dirty="0">
                <a:solidFill>
                  <a:srgbClr val="115E59"/>
                </a:solidFill>
                <a:latin typeface="Arial" pitchFamily="34" charset="0"/>
                <a:ea typeface="Arial" pitchFamily="34" charset="-122"/>
                <a:cs typeface="Arial" pitchFamily="34" charset="-120"/>
              </a:rPr>
              <a:t>☁️ Amazon RDS Multi-AZ Latency Analysis</a:t>
            </a:r>
            <a:endParaRPr lang="en-US" sz="1050" dirty="0"/>
          </a:p>
        </p:txBody>
      </p:sp>
      <p:sp>
        <p:nvSpPr>
          <p:cNvPr id="41" name="Text 39"/>
          <p:cNvSpPr/>
          <p:nvPr/>
        </p:nvSpPr>
        <p:spPr>
          <a:xfrm>
            <a:off x="6382512" y="3931920"/>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Synchronous Replication Impact: In Multi-AZ, writes commit to the standby replica before returning 200 OK. Intra-AZ cross-fiber latency in AWS US-East-1 averages 0.8ms to 1.5ms.</a:t>
            </a:r>
            <a:endParaRPr lang="en-US" sz="850" dirty="0"/>
          </a:p>
        </p:txBody>
      </p:sp>
      <p:sp>
        <p:nvSpPr>
          <p:cNvPr id="42" name="Text 40"/>
          <p:cNvSpPr/>
          <p:nvPr/>
        </p:nvSpPr>
        <p:spPr>
          <a:xfrm>
            <a:off x="6382512" y="4590288"/>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VPC Peering &amp; Subnet Locality: Deploying EC2 instances in the same AZ as the primary RDS instance eliminates cross-AZ data transfer fees and bounds query latency to &lt; 2.5ms.</a:t>
            </a:r>
            <a:endParaRPr lang="en-US" sz="850" dirty="0"/>
          </a:p>
        </p:txBody>
      </p:sp>
      <p:sp>
        <p:nvSpPr>
          <p:cNvPr id="43" name="Text 41"/>
          <p:cNvSpPr/>
          <p:nvPr/>
        </p:nvSpPr>
        <p:spPr>
          <a:xfrm>
            <a:off x="6382512" y="5248656"/>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Clinical UX SLA: A total server response time of ~25ms over HTTPS is well under the 200ms human perception threshold, ensuring instant page updates for clinicians.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3: EVALUATION &amp; RESULTS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Scalability &amp; High Availability Architecture</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Horizontal compute auto-scaling, database storage auto-scaling, and Multi-AZ resilience</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3474720" cy="4572000"/>
          </a:xfrm>
          <a:prstGeom prst="roundRect">
            <a:avLst>
              <a:gd name="adj" fmla="val 2632"/>
            </a:avLst>
          </a:prstGeom>
          <a:solidFill>
            <a:srgbClr val="FFFFFF"/>
          </a:solidFill>
          <a:ln w="12700">
            <a:solidFill>
              <a:srgbClr val="E2E8F0"/>
            </a:solidFill>
            <a:prstDash val="solid"/>
          </a:ln>
        </p:spPr>
      </p:sp>
      <p:sp>
        <p:nvSpPr>
          <p:cNvPr id="11" name="Shape 9"/>
          <p:cNvSpPr/>
          <p:nvPr/>
        </p:nvSpPr>
        <p:spPr>
          <a:xfrm>
            <a:off x="731520" y="1600200"/>
            <a:ext cx="3474720" cy="73152"/>
          </a:xfrm>
          <a:prstGeom prst="rect">
            <a:avLst/>
          </a:prstGeom>
          <a:solidFill>
            <a:srgbClr val="0284C7"/>
          </a:solidFill>
          <a:ln w="12700">
            <a:solidFill>
              <a:srgbClr val="0284C7"/>
            </a:solidFill>
            <a:prstDash val="solid"/>
          </a:ln>
        </p:spPr>
      </p:sp>
      <p:sp>
        <p:nvSpPr>
          <p:cNvPr id="12" name="Text 10"/>
          <p:cNvSpPr/>
          <p:nvPr/>
        </p:nvSpPr>
        <p:spPr>
          <a:xfrm>
            <a:off x="914400" y="1737360"/>
            <a:ext cx="3108960" cy="32004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Compute Auto-Scaling (ASG)</a:t>
            </a:r>
            <a:endParaRPr lang="en-US" sz="1100" dirty="0"/>
          </a:p>
        </p:txBody>
      </p:sp>
      <p:sp>
        <p:nvSpPr>
          <p:cNvPr id="13" name="Shape 11"/>
          <p:cNvSpPr/>
          <p:nvPr/>
        </p:nvSpPr>
        <p:spPr>
          <a:xfrm>
            <a:off x="914400" y="2103120"/>
            <a:ext cx="3108960" cy="274320"/>
          </a:xfrm>
          <a:prstGeom prst="roundRect">
            <a:avLst>
              <a:gd name="adj" fmla="val 16667"/>
            </a:avLst>
          </a:prstGeom>
          <a:solidFill>
            <a:srgbClr val="F8FAFC"/>
          </a:solidFill>
          <a:ln w="6350">
            <a:solidFill>
              <a:srgbClr val="E2E8F0"/>
            </a:solidFill>
            <a:prstDash val="solid"/>
          </a:ln>
        </p:spPr>
      </p:sp>
      <p:sp>
        <p:nvSpPr>
          <p:cNvPr id="14" name="Text 12"/>
          <p:cNvSpPr/>
          <p:nvPr/>
        </p:nvSpPr>
        <p:spPr>
          <a:xfrm>
            <a:off x="914400" y="2103120"/>
            <a:ext cx="3108960" cy="274320"/>
          </a:xfrm>
          <a:prstGeom prst="rect">
            <a:avLst/>
          </a:prstGeom>
          <a:noFill/>
          <a:ln/>
        </p:spPr>
        <p:txBody>
          <a:bodyPr wrap="square" rtlCol="0" anchor="ctr"/>
          <a:lstStyle/>
          <a:p>
            <a:pPr algn="ctr" indent="0" marL="0">
              <a:buNone/>
            </a:pPr>
            <a:r>
              <a:rPr lang="en-US" sz="850" b="1" dirty="0">
                <a:solidFill>
                  <a:srgbClr val="0284C7"/>
                </a:solidFill>
                <a:latin typeface="Arial" pitchFamily="34" charset="0"/>
                <a:ea typeface="Arial" pitchFamily="34" charset="-122"/>
                <a:cs typeface="Arial" pitchFamily="34" charset="-120"/>
              </a:rPr>
              <a:t>Min: 2 • Max: 6 EC2 Instances</a:t>
            </a:r>
            <a:endParaRPr lang="en-US" sz="850" dirty="0"/>
          </a:p>
        </p:txBody>
      </p:sp>
      <p:sp>
        <p:nvSpPr>
          <p:cNvPr id="15" name="Text 13"/>
          <p:cNvSpPr/>
          <p:nvPr/>
        </p:nvSpPr>
        <p:spPr>
          <a:xfrm>
            <a:off x="914400" y="251460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Elastic Beanstalk Auto Scaling Group scales horizontally across AZ-A and AZ-B.</a:t>
            </a:r>
            <a:endParaRPr lang="en-US" sz="850" dirty="0"/>
          </a:p>
        </p:txBody>
      </p:sp>
      <p:sp>
        <p:nvSpPr>
          <p:cNvPr id="16" name="Text 14"/>
          <p:cNvSpPr/>
          <p:nvPr/>
        </p:nvSpPr>
        <p:spPr>
          <a:xfrm>
            <a:off x="914400" y="338328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Scaling Out Policy: Triggered when ALB TargetResponseTime exceeds 1.5s or CPU &gt; 75% for 10 minutes.</a:t>
            </a:r>
            <a:endParaRPr lang="en-US" sz="850" dirty="0"/>
          </a:p>
        </p:txBody>
      </p:sp>
      <p:sp>
        <p:nvSpPr>
          <p:cNvPr id="17" name="Text 15"/>
          <p:cNvSpPr/>
          <p:nvPr/>
        </p:nvSpPr>
        <p:spPr>
          <a:xfrm>
            <a:off x="914400" y="425196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Scaling In Policy: Scales back down during nighttime off-peak hours to minimize cloud compute expenses.</a:t>
            </a:r>
            <a:endParaRPr lang="en-US" sz="850" dirty="0"/>
          </a:p>
        </p:txBody>
      </p:sp>
      <p:sp>
        <p:nvSpPr>
          <p:cNvPr id="18" name="Text 16"/>
          <p:cNvSpPr/>
          <p:nvPr/>
        </p:nvSpPr>
        <p:spPr>
          <a:xfrm>
            <a:off x="914400" y="512064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Stateless Containers: Node.js session data serialized in cookies and shared DB ensures seamless failover.</a:t>
            </a:r>
            <a:endParaRPr lang="en-US" sz="850" dirty="0"/>
          </a:p>
        </p:txBody>
      </p:sp>
      <p:sp>
        <p:nvSpPr>
          <p:cNvPr id="19" name="Shape 17"/>
          <p:cNvSpPr/>
          <p:nvPr/>
        </p:nvSpPr>
        <p:spPr>
          <a:xfrm>
            <a:off x="4343400" y="1600200"/>
            <a:ext cx="3474720" cy="4572000"/>
          </a:xfrm>
          <a:prstGeom prst="roundRect">
            <a:avLst>
              <a:gd name="adj" fmla="val 2632"/>
            </a:avLst>
          </a:prstGeom>
          <a:solidFill>
            <a:srgbClr val="FFFFFF"/>
          </a:solidFill>
          <a:ln w="12700">
            <a:solidFill>
              <a:srgbClr val="E2E8F0"/>
            </a:solidFill>
            <a:prstDash val="solid"/>
          </a:ln>
        </p:spPr>
      </p:sp>
      <p:sp>
        <p:nvSpPr>
          <p:cNvPr id="20" name="Shape 18"/>
          <p:cNvSpPr/>
          <p:nvPr/>
        </p:nvSpPr>
        <p:spPr>
          <a:xfrm>
            <a:off x="4343400" y="1600200"/>
            <a:ext cx="3474720" cy="73152"/>
          </a:xfrm>
          <a:prstGeom prst="rect">
            <a:avLst/>
          </a:prstGeom>
          <a:solidFill>
            <a:srgbClr val="0D9488"/>
          </a:solidFill>
          <a:ln w="12700">
            <a:solidFill>
              <a:srgbClr val="0D9488"/>
            </a:solidFill>
            <a:prstDash val="solid"/>
          </a:ln>
        </p:spPr>
      </p:sp>
      <p:sp>
        <p:nvSpPr>
          <p:cNvPr id="21" name="Text 19"/>
          <p:cNvSpPr/>
          <p:nvPr/>
        </p:nvSpPr>
        <p:spPr>
          <a:xfrm>
            <a:off x="4526280" y="1737360"/>
            <a:ext cx="3108960" cy="32004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Database Storage Auto-Scaling</a:t>
            </a:r>
            <a:endParaRPr lang="en-US" sz="1100" dirty="0"/>
          </a:p>
        </p:txBody>
      </p:sp>
      <p:sp>
        <p:nvSpPr>
          <p:cNvPr id="22" name="Shape 20"/>
          <p:cNvSpPr/>
          <p:nvPr/>
        </p:nvSpPr>
        <p:spPr>
          <a:xfrm>
            <a:off x="4526280" y="2103120"/>
            <a:ext cx="3108960" cy="274320"/>
          </a:xfrm>
          <a:prstGeom prst="roundRect">
            <a:avLst>
              <a:gd name="adj" fmla="val 16667"/>
            </a:avLst>
          </a:prstGeom>
          <a:solidFill>
            <a:srgbClr val="F8FAFC"/>
          </a:solidFill>
          <a:ln w="6350">
            <a:solidFill>
              <a:srgbClr val="E2E8F0"/>
            </a:solidFill>
            <a:prstDash val="solid"/>
          </a:ln>
        </p:spPr>
      </p:sp>
      <p:sp>
        <p:nvSpPr>
          <p:cNvPr id="23" name="Text 21"/>
          <p:cNvSpPr/>
          <p:nvPr/>
        </p:nvSpPr>
        <p:spPr>
          <a:xfrm>
            <a:off x="4526280" y="2103120"/>
            <a:ext cx="3108960" cy="274320"/>
          </a:xfrm>
          <a:prstGeom prst="rect">
            <a:avLst/>
          </a:prstGeom>
          <a:noFill/>
          <a:ln/>
        </p:spPr>
        <p:txBody>
          <a:bodyPr wrap="square" rtlCol="0" anchor="ctr"/>
          <a:lstStyle/>
          <a:p>
            <a:pPr algn="ctr" indent="0" marL="0">
              <a:buNone/>
            </a:pPr>
            <a:r>
              <a:rPr lang="en-US" sz="850" b="1" dirty="0">
                <a:solidFill>
                  <a:srgbClr val="0D9488"/>
                </a:solidFill>
                <a:latin typeface="Arial" pitchFamily="34" charset="0"/>
                <a:ea typeface="Arial" pitchFamily="34" charset="-122"/>
                <a:cs typeface="Arial" pitchFamily="34" charset="-120"/>
              </a:rPr>
              <a:t>50 GB to 500 GB gp3 SSD</a:t>
            </a:r>
            <a:endParaRPr lang="en-US" sz="850" dirty="0"/>
          </a:p>
        </p:txBody>
      </p:sp>
      <p:sp>
        <p:nvSpPr>
          <p:cNvPr id="24" name="Text 22"/>
          <p:cNvSpPr/>
          <p:nvPr/>
        </p:nvSpPr>
        <p:spPr>
          <a:xfrm>
            <a:off x="4526280" y="251460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Amazon RDS monitors FreeStorageSpace continuously via CloudWatch.</a:t>
            </a:r>
            <a:endParaRPr lang="en-US" sz="850" dirty="0"/>
          </a:p>
        </p:txBody>
      </p:sp>
      <p:sp>
        <p:nvSpPr>
          <p:cNvPr id="25" name="Text 23"/>
          <p:cNvSpPr/>
          <p:nvPr/>
        </p:nvSpPr>
        <p:spPr>
          <a:xfrm>
            <a:off x="4526280" y="338328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Dynamic Volume Growth: Automatically expands EBS volume by 10% without database downtime or restarting.</a:t>
            </a:r>
            <a:endParaRPr lang="en-US" sz="850" dirty="0"/>
          </a:p>
        </p:txBody>
      </p:sp>
      <p:sp>
        <p:nvSpPr>
          <p:cNvPr id="26" name="Text 24"/>
          <p:cNvSpPr/>
          <p:nvPr/>
        </p:nvSpPr>
        <p:spPr>
          <a:xfrm>
            <a:off x="4526280" y="425196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Provisioned IOPS: gp3 baseline delivers 3,000 IOPS and 125 MB/s throughput, handling bursty morning clinic queries.</a:t>
            </a:r>
            <a:endParaRPr lang="en-US" sz="850" dirty="0"/>
          </a:p>
        </p:txBody>
      </p:sp>
      <p:sp>
        <p:nvSpPr>
          <p:cNvPr id="27" name="Text 25"/>
          <p:cNvSpPr/>
          <p:nvPr/>
        </p:nvSpPr>
        <p:spPr>
          <a:xfrm>
            <a:off x="4526280" y="512064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Zero Storage Lockup: Guarantees clinical EHR note authoring is never blocked by full disk partitions.</a:t>
            </a:r>
            <a:endParaRPr lang="en-US" sz="850" dirty="0"/>
          </a:p>
        </p:txBody>
      </p:sp>
      <p:sp>
        <p:nvSpPr>
          <p:cNvPr id="28" name="Shape 26"/>
          <p:cNvSpPr/>
          <p:nvPr/>
        </p:nvSpPr>
        <p:spPr>
          <a:xfrm>
            <a:off x="7955280" y="1600200"/>
            <a:ext cx="3474720" cy="4572000"/>
          </a:xfrm>
          <a:prstGeom prst="roundRect">
            <a:avLst>
              <a:gd name="adj" fmla="val 2632"/>
            </a:avLst>
          </a:prstGeom>
          <a:solidFill>
            <a:srgbClr val="FFFFFF"/>
          </a:solidFill>
          <a:ln w="12700">
            <a:solidFill>
              <a:srgbClr val="E2E8F0"/>
            </a:solidFill>
            <a:prstDash val="solid"/>
          </a:ln>
        </p:spPr>
      </p:sp>
      <p:sp>
        <p:nvSpPr>
          <p:cNvPr id="29" name="Shape 27"/>
          <p:cNvSpPr/>
          <p:nvPr/>
        </p:nvSpPr>
        <p:spPr>
          <a:xfrm>
            <a:off x="7955280" y="1600200"/>
            <a:ext cx="3474720" cy="73152"/>
          </a:xfrm>
          <a:prstGeom prst="rect">
            <a:avLst/>
          </a:prstGeom>
          <a:solidFill>
            <a:srgbClr val="10B981"/>
          </a:solidFill>
          <a:ln w="12700">
            <a:solidFill>
              <a:srgbClr val="10B981"/>
            </a:solidFill>
            <a:prstDash val="solid"/>
          </a:ln>
        </p:spPr>
      </p:sp>
      <p:sp>
        <p:nvSpPr>
          <p:cNvPr id="30" name="Text 28"/>
          <p:cNvSpPr/>
          <p:nvPr/>
        </p:nvSpPr>
        <p:spPr>
          <a:xfrm>
            <a:off x="8138160" y="1737360"/>
            <a:ext cx="3108960" cy="320040"/>
          </a:xfrm>
          <a:prstGeom prst="rect">
            <a:avLst/>
          </a:prstGeom>
          <a:noFill/>
          <a:ln/>
        </p:spPr>
        <p:txBody>
          <a:bodyPr wrap="square" rtlCol="0" anchor="ctr"/>
          <a:lstStyle/>
          <a:p>
            <a:pPr indent="0" marL="0">
              <a:buNone/>
            </a:pPr>
            <a:r>
              <a:rPr lang="en-US" sz="1100" b="1" dirty="0">
                <a:solidFill>
                  <a:srgbClr val="0F2B46"/>
                </a:solidFill>
                <a:latin typeface="Arial" pitchFamily="34" charset="0"/>
                <a:ea typeface="Arial" pitchFamily="34" charset="-122"/>
                <a:cs typeface="Arial" pitchFamily="34" charset="-120"/>
              </a:rPr>
              <a:t>🛡️ Multi-AZ Fault Tolerance &amp; SLA</a:t>
            </a:r>
            <a:endParaRPr lang="en-US" sz="1100" dirty="0"/>
          </a:p>
        </p:txBody>
      </p:sp>
      <p:sp>
        <p:nvSpPr>
          <p:cNvPr id="31" name="Shape 29"/>
          <p:cNvSpPr/>
          <p:nvPr/>
        </p:nvSpPr>
        <p:spPr>
          <a:xfrm>
            <a:off x="8138160" y="2103120"/>
            <a:ext cx="3108960" cy="274320"/>
          </a:xfrm>
          <a:prstGeom prst="roundRect">
            <a:avLst>
              <a:gd name="adj" fmla="val 16667"/>
            </a:avLst>
          </a:prstGeom>
          <a:solidFill>
            <a:srgbClr val="F8FAFC"/>
          </a:solidFill>
          <a:ln w="6350">
            <a:solidFill>
              <a:srgbClr val="E2E8F0"/>
            </a:solidFill>
            <a:prstDash val="solid"/>
          </a:ln>
        </p:spPr>
      </p:sp>
      <p:sp>
        <p:nvSpPr>
          <p:cNvPr id="32" name="Text 30"/>
          <p:cNvSpPr/>
          <p:nvPr/>
        </p:nvSpPr>
        <p:spPr>
          <a:xfrm>
            <a:off x="8138160" y="2103120"/>
            <a:ext cx="3108960" cy="274320"/>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99.95% Availability Target</a:t>
            </a:r>
            <a:endParaRPr lang="en-US" sz="850" dirty="0"/>
          </a:p>
        </p:txBody>
      </p:sp>
      <p:sp>
        <p:nvSpPr>
          <p:cNvPr id="33" name="Text 31"/>
          <p:cNvSpPr/>
          <p:nvPr/>
        </p:nvSpPr>
        <p:spPr>
          <a:xfrm>
            <a:off x="8138160" y="251460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Redundant Availability Zones: Physical separation protects against localized data center floods or power failures.</a:t>
            </a:r>
            <a:endParaRPr lang="en-US" sz="850" dirty="0"/>
          </a:p>
        </p:txBody>
      </p:sp>
      <p:sp>
        <p:nvSpPr>
          <p:cNvPr id="34" name="Text 32"/>
          <p:cNvSpPr/>
          <p:nvPr/>
        </p:nvSpPr>
        <p:spPr>
          <a:xfrm>
            <a:off x="8138160" y="338328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Automatic DNS Failover: If RDS Primary fails, AWS redirects the CNAME to the synchronous standby in 60-120s.</a:t>
            </a:r>
            <a:endParaRPr lang="en-US" sz="850" dirty="0"/>
          </a:p>
        </p:txBody>
      </p:sp>
      <p:sp>
        <p:nvSpPr>
          <p:cNvPr id="35" name="Text 33"/>
          <p:cNvSpPr/>
          <p:nvPr/>
        </p:nvSpPr>
        <p:spPr>
          <a:xfrm>
            <a:off x="8138160" y="425196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Zero Data Loss: Synchronous commit replication guarantees committed medical records are never lost.</a:t>
            </a:r>
            <a:endParaRPr lang="en-US" sz="850" dirty="0"/>
          </a:p>
        </p:txBody>
      </p:sp>
      <p:sp>
        <p:nvSpPr>
          <p:cNvPr id="36" name="Text 34"/>
          <p:cNvSpPr/>
          <p:nvPr/>
        </p:nvSpPr>
        <p:spPr>
          <a:xfrm>
            <a:off x="8138160" y="5120640"/>
            <a:ext cx="3108960" cy="804672"/>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 ALB Health Polling: Directs traffic exclusively to healthy, responsive EC2 nodes.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3: EVALUATION &amp; RESULTS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Disaster Recovery: Quantitative RPO &amp; RTO Objectives</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Business continuity strategy, cryptographic snapshots, and safe restore verification</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sp>
        <p:nvSpPr>
          <p:cNvPr id="10" name="Shape 8"/>
          <p:cNvSpPr/>
          <p:nvPr/>
        </p:nvSpPr>
        <p:spPr>
          <a:xfrm>
            <a:off x="731520" y="1600200"/>
            <a:ext cx="5257800" cy="4572000"/>
          </a:xfrm>
          <a:prstGeom prst="roundRect">
            <a:avLst>
              <a:gd name="adj" fmla="val 2000"/>
            </a:avLst>
          </a:prstGeom>
          <a:solidFill>
            <a:srgbClr val="FFFFFF"/>
          </a:solidFill>
          <a:ln w="12700">
            <a:solidFill>
              <a:srgbClr val="E2E8F0"/>
            </a:solidFill>
            <a:prstDash val="solid"/>
          </a:ln>
        </p:spPr>
      </p:sp>
      <p:sp>
        <p:nvSpPr>
          <p:cNvPr id="11" name="Shape 9"/>
          <p:cNvSpPr/>
          <p:nvPr/>
        </p:nvSpPr>
        <p:spPr>
          <a:xfrm>
            <a:off x="731520" y="1600200"/>
            <a:ext cx="5257800" cy="411480"/>
          </a:xfrm>
          <a:prstGeom prst="rect">
            <a:avLst/>
          </a:prstGeom>
          <a:solidFill>
            <a:srgbClr val="0F2B46"/>
          </a:solidFill>
          <a:ln w="12700">
            <a:solidFill>
              <a:srgbClr val="0F2B46"/>
            </a:solidFill>
            <a:prstDash val="solid"/>
          </a:ln>
        </p:spPr>
      </p:sp>
      <p:sp>
        <p:nvSpPr>
          <p:cNvPr id="12" name="Text 10"/>
          <p:cNvSpPr/>
          <p:nvPr/>
        </p:nvSpPr>
        <p:spPr>
          <a:xfrm>
            <a:off x="914400" y="1600200"/>
            <a:ext cx="489204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QUANTITATIVE DISASTER RECOVERY METRICS</a:t>
            </a:r>
            <a:endParaRPr lang="en-US" sz="1000" dirty="0"/>
          </a:p>
        </p:txBody>
      </p:sp>
      <p:sp>
        <p:nvSpPr>
          <p:cNvPr id="13" name="Shape 11"/>
          <p:cNvSpPr/>
          <p:nvPr/>
        </p:nvSpPr>
        <p:spPr>
          <a:xfrm>
            <a:off x="914400" y="2148840"/>
            <a:ext cx="4892040" cy="1783080"/>
          </a:xfrm>
          <a:prstGeom prst="roundRect">
            <a:avLst>
              <a:gd name="adj" fmla="val 4103"/>
            </a:avLst>
          </a:prstGeom>
          <a:solidFill>
            <a:srgbClr val="CCFBF1"/>
          </a:solidFill>
          <a:ln w="12700">
            <a:solidFill>
              <a:srgbClr val="0D9488"/>
            </a:solidFill>
            <a:prstDash val="solid"/>
          </a:ln>
        </p:spPr>
      </p:sp>
      <p:sp>
        <p:nvSpPr>
          <p:cNvPr id="14" name="Text 12"/>
          <p:cNvSpPr/>
          <p:nvPr/>
        </p:nvSpPr>
        <p:spPr>
          <a:xfrm>
            <a:off x="1097280" y="2240280"/>
            <a:ext cx="3200400" cy="228600"/>
          </a:xfrm>
          <a:prstGeom prst="rect">
            <a:avLst/>
          </a:prstGeom>
          <a:noFill/>
          <a:ln/>
        </p:spPr>
        <p:txBody>
          <a:bodyPr wrap="square" rtlCol="0" anchor="ctr"/>
          <a:lstStyle/>
          <a:p>
            <a:pPr indent="0" marL="0">
              <a:buNone/>
            </a:pPr>
            <a:r>
              <a:rPr lang="en-US" sz="850" b="1" dirty="0">
                <a:solidFill>
                  <a:srgbClr val="115E59"/>
                </a:solidFill>
                <a:latin typeface="Arial" pitchFamily="34" charset="0"/>
                <a:ea typeface="Arial" pitchFamily="34" charset="-122"/>
                <a:cs typeface="Arial" pitchFamily="34" charset="-120"/>
              </a:rPr>
              <a:t>RECOVERY POINT OBJECTIVE (RPO)</a:t>
            </a:r>
            <a:endParaRPr lang="en-US" sz="850" dirty="0"/>
          </a:p>
        </p:txBody>
      </p:sp>
      <p:sp>
        <p:nvSpPr>
          <p:cNvPr id="15" name="Text 13"/>
          <p:cNvSpPr/>
          <p:nvPr/>
        </p:nvSpPr>
        <p:spPr>
          <a:xfrm>
            <a:off x="1097280" y="2468880"/>
            <a:ext cx="4572000" cy="411480"/>
          </a:xfrm>
          <a:prstGeom prst="rect">
            <a:avLst/>
          </a:prstGeom>
          <a:noFill/>
          <a:ln/>
        </p:spPr>
        <p:txBody>
          <a:bodyPr wrap="square" rtlCol="0" anchor="ctr"/>
          <a:lstStyle/>
          <a:p>
            <a:pPr indent="0" marL="0">
              <a:buNone/>
            </a:pPr>
            <a:r>
              <a:rPr lang="en-US" sz="2000" b="1" dirty="0">
                <a:solidFill>
                  <a:srgbClr val="115E59"/>
                </a:solidFill>
                <a:latin typeface="Arial" pitchFamily="34" charset="0"/>
                <a:ea typeface="Arial" pitchFamily="34" charset="-122"/>
                <a:cs typeface="Arial" pitchFamily="34" charset="-120"/>
              </a:rPr>
              <a:t>RPO &lt; 5 MINUTES</a:t>
            </a:r>
            <a:endParaRPr lang="en-US" sz="2000" dirty="0"/>
          </a:p>
        </p:txBody>
      </p:sp>
      <p:sp>
        <p:nvSpPr>
          <p:cNvPr id="16" name="Text 14"/>
          <p:cNvSpPr/>
          <p:nvPr/>
        </p:nvSpPr>
        <p:spPr>
          <a:xfrm>
            <a:off x="1097280" y="2926080"/>
            <a:ext cx="4526280" cy="868680"/>
          </a:xfrm>
          <a:prstGeom prst="rect">
            <a:avLst/>
          </a:prstGeom>
          <a:noFill/>
          <a:ln/>
        </p:spPr>
        <p:txBody>
          <a:bodyPr wrap="square" rtlCol="0" anchor="ctr"/>
          <a:lstStyle/>
          <a:p>
            <a:pPr indent="0" marL="0">
              <a:lnSpc>
                <a:spcPts val="1300"/>
              </a:lnSpc>
              <a:buNone/>
            </a:pPr>
            <a:r>
              <a:rPr lang="en-US" sz="820" dirty="0">
                <a:solidFill>
                  <a:srgbClr val="0F2B46"/>
                </a:solidFill>
                <a:latin typeface="Arial" pitchFamily="34" charset="0"/>
                <a:ea typeface="Arial" pitchFamily="34" charset="-122"/>
                <a:cs typeface="Arial" pitchFamily="34" charset="-120"/>
              </a:rPr>
              <a:t>Amazon RDS continuously ships binary transaction logs (binlogs) to S3 every 5 minutes. In the worst-case catastrophic failure, maximum potential uncommitted data loss is bounded to under 5 minutes.</a:t>
            </a:r>
            <a:endParaRPr lang="en-US" sz="820" dirty="0"/>
          </a:p>
        </p:txBody>
      </p:sp>
      <p:sp>
        <p:nvSpPr>
          <p:cNvPr id="17" name="Shape 15"/>
          <p:cNvSpPr/>
          <p:nvPr/>
        </p:nvSpPr>
        <p:spPr>
          <a:xfrm>
            <a:off x="914400" y="4069080"/>
            <a:ext cx="4892040" cy="1783080"/>
          </a:xfrm>
          <a:prstGeom prst="roundRect">
            <a:avLst>
              <a:gd name="adj" fmla="val 4103"/>
            </a:avLst>
          </a:prstGeom>
          <a:solidFill>
            <a:srgbClr val="E0F2FE"/>
          </a:solidFill>
          <a:ln w="12700">
            <a:solidFill>
              <a:srgbClr val="0284C7"/>
            </a:solidFill>
            <a:prstDash val="solid"/>
          </a:ln>
        </p:spPr>
      </p:sp>
      <p:sp>
        <p:nvSpPr>
          <p:cNvPr id="18" name="Text 16"/>
          <p:cNvSpPr/>
          <p:nvPr/>
        </p:nvSpPr>
        <p:spPr>
          <a:xfrm>
            <a:off x="1097280" y="4160520"/>
            <a:ext cx="320040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RECOVERY TIME OBJECTIVE (RTO)</a:t>
            </a:r>
            <a:endParaRPr lang="en-US" sz="850" dirty="0"/>
          </a:p>
        </p:txBody>
      </p:sp>
      <p:sp>
        <p:nvSpPr>
          <p:cNvPr id="19" name="Text 17"/>
          <p:cNvSpPr/>
          <p:nvPr/>
        </p:nvSpPr>
        <p:spPr>
          <a:xfrm>
            <a:off x="1097280" y="4389120"/>
            <a:ext cx="4572000" cy="411480"/>
          </a:xfrm>
          <a:prstGeom prst="rect">
            <a:avLst/>
          </a:prstGeom>
          <a:noFill/>
          <a:ln/>
        </p:spPr>
        <p:txBody>
          <a:bodyPr wrap="square" rtlCol="0" anchor="ctr"/>
          <a:lstStyle/>
          <a:p>
            <a:pPr indent="0" marL="0">
              <a:buNone/>
            </a:pPr>
            <a:r>
              <a:rPr lang="en-US" sz="2000" b="1" dirty="0">
                <a:solidFill>
                  <a:srgbClr val="1E3A8A"/>
                </a:solidFill>
                <a:latin typeface="Arial" pitchFamily="34" charset="0"/>
                <a:ea typeface="Arial" pitchFamily="34" charset="-122"/>
                <a:cs typeface="Arial" pitchFamily="34" charset="-120"/>
              </a:rPr>
              <a:t>RTO &lt; 15 MINUTES</a:t>
            </a:r>
            <a:endParaRPr lang="en-US" sz="2000" dirty="0"/>
          </a:p>
        </p:txBody>
      </p:sp>
      <p:sp>
        <p:nvSpPr>
          <p:cNvPr id="20" name="Text 18"/>
          <p:cNvSpPr/>
          <p:nvPr/>
        </p:nvSpPr>
        <p:spPr>
          <a:xfrm>
            <a:off x="1097280" y="4846320"/>
            <a:ext cx="4526280" cy="868680"/>
          </a:xfrm>
          <a:prstGeom prst="rect">
            <a:avLst/>
          </a:prstGeom>
          <a:noFill/>
          <a:ln/>
        </p:spPr>
        <p:txBody>
          <a:bodyPr wrap="square" rtlCol="0" anchor="ctr"/>
          <a:lstStyle/>
          <a:p>
            <a:pPr indent="0" marL="0">
              <a:lnSpc>
                <a:spcPts val="1300"/>
              </a:lnSpc>
              <a:buNone/>
            </a:pPr>
            <a:r>
              <a:rPr lang="en-US" sz="820" dirty="0">
                <a:solidFill>
                  <a:srgbClr val="0F2B46"/>
                </a:solidFill>
                <a:latin typeface="Arial" pitchFamily="34" charset="0"/>
                <a:ea typeface="Arial" pitchFamily="34" charset="-122"/>
                <a:cs typeface="Arial" pitchFamily="34" charset="-120"/>
              </a:rPr>
              <a:t>Automated Multi-AZ hardware failover completes in 60-120 seconds. Catastrophic disaster recovery provisioning a brand new RDS cluster from a point-in-time S3 snapshot completes in 10-14 minutes.</a:t>
            </a:r>
            <a:endParaRPr lang="en-US" sz="820" dirty="0"/>
          </a:p>
        </p:txBody>
      </p:sp>
      <p:sp>
        <p:nvSpPr>
          <p:cNvPr id="21" name="Shape 19"/>
          <p:cNvSpPr/>
          <p:nvPr/>
        </p:nvSpPr>
        <p:spPr>
          <a:xfrm>
            <a:off x="6199632" y="1600200"/>
            <a:ext cx="5257800" cy="4572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6199632" y="1600200"/>
            <a:ext cx="5257800" cy="411480"/>
          </a:xfrm>
          <a:prstGeom prst="rect">
            <a:avLst/>
          </a:prstGeom>
          <a:solidFill>
            <a:srgbClr val="0D9488"/>
          </a:solidFill>
          <a:ln w="12700">
            <a:solidFill>
              <a:srgbClr val="0D9488"/>
            </a:solidFill>
            <a:prstDash val="solid"/>
          </a:ln>
        </p:spPr>
      </p:sp>
      <p:sp>
        <p:nvSpPr>
          <p:cNvPr id="23" name="Text 21"/>
          <p:cNvSpPr/>
          <p:nvPr/>
        </p:nvSpPr>
        <p:spPr>
          <a:xfrm>
            <a:off x="6382512" y="1600200"/>
            <a:ext cx="4892040" cy="41148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PROTOTYPE CRYPTOGRAPHIC BACKUP &amp; SAFEGUARD</a:t>
            </a:r>
            <a:endParaRPr lang="en-US" sz="1000" dirty="0"/>
          </a:p>
        </p:txBody>
      </p:sp>
      <p:sp>
        <p:nvSpPr>
          <p:cNvPr id="24" name="Text 22"/>
          <p:cNvSpPr/>
          <p:nvPr/>
        </p:nvSpPr>
        <p:spPr>
          <a:xfrm>
            <a:off x="6382512" y="214884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1. Live SQLite Snapshot Creation</a:t>
            </a:r>
            <a:endParaRPr lang="en-US" sz="950" dirty="0"/>
          </a:p>
        </p:txBody>
      </p:sp>
      <p:sp>
        <p:nvSpPr>
          <p:cNvPr id="25" name="Text 23"/>
          <p:cNvSpPr/>
          <p:nvPr/>
        </p:nvSpPr>
        <p:spPr>
          <a:xfrm>
            <a:off x="6382512" y="2386584"/>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Administrators trigger POST /api/backup. The database uses native snapshot copying outside the web root (data/backups/) to prevent race conditions.</a:t>
            </a:r>
            <a:endParaRPr lang="en-US" sz="850" dirty="0"/>
          </a:p>
        </p:txBody>
      </p:sp>
      <p:sp>
        <p:nvSpPr>
          <p:cNvPr id="26" name="Text 24"/>
          <p:cNvSpPr/>
          <p:nvPr/>
        </p:nvSpPr>
        <p:spPr>
          <a:xfrm>
            <a:off x="6382512" y="306324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2. SHA-256 Cryptographic Checksum</a:t>
            </a:r>
            <a:endParaRPr lang="en-US" sz="950" dirty="0"/>
          </a:p>
        </p:txBody>
      </p:sp>
      <p:sp>
        <p:nvSpPr>
          <p:cNvPr id="27" name="Text 25"/>
          <p:cNvSpPr/>
          <p:nvPr/>
        </p:nvSpPr>
        <p:spPr>
          <a:xfrm>
            <a:off x="6382512" y="3300984"/>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Every generated backup computes an SHA-256 hash stored in the backup catalog. Before any restoration, the hash is re-computed to detect tampering.</a:t>
            </a:r>
            <a:endParaRPr lang="en-US" sz="850" dirty="0"/>
          </a:p>
        </p:txBody>
      </p:sp>
      <p:sp>
        <p:nvSpPr>
          <p:cNvPr id="28" name="Text 26"/>
          <p:cNvSpPr/>
          <p:nvPr/>
        </p:nvSpPr>
        <p:spPr>
          <a:xfrm>
            <a:off x="6382512" y="397764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3. Mandatory Pre-Restore Safeguard</a:t>
            </a:r>
            <a:endParaRPr lang="en-US" sz="950" dirty="0"/>
          </a:p>
        </p:txBody>
      </p:sp>
      <p:sp>
        <p:nvSpPr>
          <p:cNvPr id="29" name="Text 27"/>
          <p:cNvSpPr/>
          <p:nvPr/>
        </p:nvSpPr>
        <p:spPr>
          <a:xfrm>
            <a:off x="6382512" y="4215384"/>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Crucial safety feature: Prior to restoring an older backup, MediCloud automatically creates a safeguard snapshot of the active database. If restoration fails, rollback is instantaneous.</a:t>
            </a:r>
            <a:endParaRPr lang="en-US" sz="850" dirty="0"/>
          </a:p>
        </p:txBody>
      </p:sp>
      <p:sp>
        <p:nvSpPr>
          <p:cNvPr id="30" name="Text 28"/>
          <p:cNvSpPr/>
          <p:nvPr/>
        </p:nvSpPr>
        <p:spPr>
          <a:xfrm>
            <a:off x="6382512" y="4892040"/>
            <a:ext cx="4892040" cy="256032"/>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4. Cloud Retention Blueprint</a:t>
            </a:r>
            <a:endParaRPr lang="en-US" sz="950" dirty="0"/>
          </a:p>
        </p:txBody>
      </p:sp>
      <p:sp>
        <p:nvSpPr>
          <p:cNvPr id="31" name="Text 29"/>
          <p:cNvSpPr/>
          <p:nvPr/>
        </p:nvSpPr>
        <p:spPr>
          <a:xfrm>
            <a:off x="6382512" y="5129784"/>
            <a:ext cx="4892040" cy="594360"/>
          </a:xfrm>
          <a:prstGeom prst="rect">
            <a:avLst/>
          </a:prstGeom>
          <a:noFill/>
          <a:ln/>
        </p:spPr>
        <p:txBody>
          <a:bodyPr wrap="square" rtlCol="0" anchor="ctr"/>
          <a:lstStyle/>
          <a:p>
            <a:pPr indent="0" marL="0">
              <a:lnSpc>
                <a:spcPts val="1300"/>
              </a:lnSpc>
              <a:buNone/>
            </a:pPr>
            <a:r>
              <a:rPr lang="en-US" sz="850" dirty="0">
                <a:solidFill>
                  <a:srgbClr val="0F172A"/>
                </a:solidFill>
                <a:latin typeface="Arial" pitchFamily="34" charset="0"/>
                <a:ea typeface="Arial" pitchFamily="34" charset="-122"/>
                <a:cs typeface="Arial" pitchFamily="34" charset="-120"/>
              </a:rPr>
              <a:t>Automated daily snapshots retained for 35 days in Amazon S3 Glacier with cross-region replication to us-west-2 for geographic resilience.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3: EVALUATION &amp; RESULTS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Financial &amp; Cloud Cost Analysis (AWS US-East-1)</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Detailed component cost breakdown for small-to-medium clinical hospital practice</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2286000"/>
                <a:gridCol w="3474720"/>
                <a:gridCol w="2194560"/>
                <a:gridCol w="1645920"/>
                <a:gridCol w="1124712"/>
              </a:tblGrid>
              <a:tr h="0">
                <a:tc>
                  <a:txBody>
                    <a:bodyPr/>
                    <a:lstStyle/>
                    <a:p>
                      <a:pPr indent="0" marL="0">
                        <a:buNone/>
                      </a:pPr>
                      <a:r>
                        <a:rPr lang="en-US" sz="900" b="1" dirty="0">
                          <a:solidFill>
                            <a:srgbClr val="FFFFFF"/>
                          </a:solidFill>
                        </a:rPr>
                        <a:t>AWS Cloud Service Component</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00" b="1" dirty="0">
                          <a:solidFill>
                            <a:srgbClr val="FFFFFF"/>
                          </a:solidFill>
                        </a:rPr>
                        <a:t>Specification &amp; Sizing Tier</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00" b="1" dirty="0">
                          <a:solidFill>
                            <a:srgbClr val="FFFFFF"/>
                          </a:solidFill>
                        </a:rPr>
                        <a:t>Pricing Unit Basis</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900" b="1" dirty="0">
                          <a:solidFill>
                            <a:srgbClr val="FFFFFF"/>
                          </a:solidFill>
                        </a:rPr>
                        <a:t>Monthly Cost (USD)</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r>
                        <a:rPr lang="en-US" sz="900" b="1" dirty="0">
                          <a:solidFill>
                            <a:srgbClr val="FFFFFF"/>
                          </a:solidFill>
                        </a:rPr>
                        <a:t>Cost %</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r>
              <a:tr h="0">
                <a:tc>
                  <a:txBody>
                    <a:bodyPr/>
                    <a:lstStyle/>
                    <a:p>
                      <a:pPr indent="0" marL="0">
                        <a:buNone/>
                      </a:pPr>
                      <a:r>
                        <a:rPr lang="en-US" sz="850" b="1" dirty="0">
                          <a:solidFill>
                            <a:srgbClr val="000000"/>
                          </a:solidFill>
                        </a:rPr>
                        <a:t>AWS Elastic Beanstalk (EC2)</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2 x t3.small (2 vCPU, 2GB RAM) Auto-Scaling Group</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$0.0208 / hour x 730 hrs x 2</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F2B46"/>
                          </a:solidFill>
                        </a:rPr>
                        <a:t>$30.36</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15.6%</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Application Load Balancer (ALB)</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1 x ALB across 2 Public Subnets + LCU processing</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$0.0225 / hr + $0.008 / LCU</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F2B46"/>
                          </a:solidFill>
                        </a:rPr>
                        <a:t>$22.50</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11.6%</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Amazon RDS for MySQL 8.0</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db.t3.medium Multi-AZ (High Availability) + 50GB gp3</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$0.136 / hr Multi-AZ + storage</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115E59"/>
                          </a:solidFill>
                        </a:rPr>
                        <a:t>$98.40</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000000"/>
                          </a:solidFill>
                        </a:rPr>
                        <a:t>50.7%</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Amazon S3 (Encrypted Storage)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20 GB Standard Vault + KMS requests &amp; snapshots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$0.023 / GB + KMS request fees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F2B46"/>
                          </a:solidFill>
                        </a:rPr>
                        <a:t>$1.50</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0.8%</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Amazon CloudWatch &amp; CloudTrail</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10 metric alarms, 5 GB log ingestion &amp; retention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$0.10 / alarm + $0.50 / GB logs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F2B46"/>
                          </a:solidFill>
                        </a:rPr>
                        <a:t>$7.20</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3.7%</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50" b="1" dirty="0">
                          <a:solidFill>
                            <a:srgbClr val="000000"/>
                          </a:solidFill>
                        </a:rPr>
                        <a:t>NAT Gateway &amp; Data Egress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1 x NAT Gateway for Private Subnets + 10 GB egress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$0.045 / hr + $0.045 / GB processed</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b="1" dirty="0">
                          <a:solidFill>
                            <a:srgbClr val="0F2B46"/>
                          </a:solidFill>
                        </a:rPr>
                        <a:t>$34.10</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17.6%</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950" b="1" dirty="0">
                          <a:solidFill>
                            <a:srgbClr val="FFFFFF"/>
                          </a:solidFill>
                        </a:rPr>
                        <a:t>TOTAL ESTIMATED MONTHLY BUDGET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F"/>
                    </a:solidFill>
                  </a:tcPr>
                </a:tc>
                <a:tc>
                  <a:txBody>
                    <a:bodyPr/>
                    <a:lstStyle/>
                    <a:p>
                      <a:pPr indent="0" marL="0">
                        <a:buNone/>
                      </a:pPr>
                      <a:r>
                        <a:rPr lang="en-US" sz="850" b="1" dirty="0">
                          <a:solidFill>
                            <a:srgbClr val="FFFFFF"/>
                          </a:solidFill>
                        </a:rPr>
                        <a:t>Enterprise Cloud Deployment for 500 Active Patients/Day</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F"/>
                    </a:solidFill>
                  </a:tcPr>
                </a:tc>
                <a:tc>
                  <a:txBody>
                    <a:bodyPr/>
                    <a:lstStyle/>
                    <a:p>
                      <a:pPr indent="0" marL="0">
                        <a:buNone/>
                      </a:pPr>
                      <a:r>
                        <a:rPr lang="en-US" sz="850" b="1" dirty="0">
                          <a:solidFill>
                            <a:srgbClr val="FFFFFF"/>
                          </a:solidFill>
                        </a:rPr>
                        <a:t>US-East-1 On-Demand Baseline</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F"/>
                    </a:solidFill>
                  </a:tcPr>
                </a:tc>
                <a:tc>
                  <a:txBody>
                    <a:bodyPr/>
                    <a:lstStyle/>
                    <a:p>
                      <a:pPr indent="0" marL="0">
                        <a:buNone/>
                      </a:pPr>
                      <a:r>
                        <a:rPr lang="en-US" sz="1100" b="1" dirty="0">
                          <a:solidFill>
                            <a:srgbClr val="FFFFFF"/>
                          </a:solidFill>
                        </a:rPr>
                        <a:t>$194.06 / mo</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r>
                        <a:rPr lang="en-US" sz="900" b="1" dirty="0">
                          <a:solidFill>
                            <a:srgbClr val="FFFFFF"/>
                          </a:solidFill>
                        </a:rPr>
                        <a:t>100.0%</a:t>
                      </a:r>
                      <a:endParaRPr lang="en-US" sz="9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92F"/>
                    </a:solidFill>
                  </a:tcPr>
                </a:tc>
              </a:tr>
            </a:tbl>
          </a:graphicData>
        </a:graphic>
      </p:graphicFrame>
      <p:sp>
        <p:nvSpPr>
          <p:cNvPr id="11" name="Shape 8"/>
          <p:cNvSpPr/>
          <p:nvPr/>
        </p:nvSpPr>
        <p:spPr>
          <a:xfrm>
            <a:off x="731520" y="5120640"/>
            <a:ext cx="10725912" cy="1188720"/>
          </a:xfrm>
          <a:prstGeom prst="roundRect">
            <a:avLst>
              <a:gd name="adj" fmla="val 6154"/>
            </a:avLst>
          </a:prstGeom>
          <a:solidFill>
            <a:srgbClr val="FFFFFF"/>
          </a:solidFill>
          <a:ln w="12700">
            <a:solidFill>
              <a:srgbClr val="E2E8F0"/>
            </a:solidFill>
            <a:prstDash val="solid"/>
          </a:ln>
        </p:spPr>
      </p:sp>
      <p:sp>
        <p:nvSpPr>
          <p:cNvPr id="12" name="Shape 9"/>
          <p:cNvSpPr/>
          <p:nvPr/>
        </p:nvSpPr>
        <p:spPr>
          <a:xfrm>
            <a:off x="731520" y="5120640"/>
            <a:ext cx="91440" cy="1188720"/>
          </a:xfrm>
          <a:prstGeom prst="rect">
            <a:avLst/>
          </a:prstGeom>
          <a:solidFill>
            <a:srgbClr val="10B981"/>
          </a:solidFill>
          <a:ln w="12700">
            <a:solidFill>
              <a:srgbClr val="10B981"/>
            </a:solidFill>
            <a:prstDash val="solid"/>
          </a:ln>
        </p:spPr>
      </p:sp>
      <p:sp>
        <p:nvSpPr>
          <p:cNvPr id="13" name="Text 10"/>
          <p:cNvSpPr/>
          <p:nvPr/>
        </p:nvSpPr>
        <p:spPr>
          <a:xfrm>
            <a:off x="960120" y="5212080"/>
            <a:ext cx="10332720" cy="228600"/>
          </a:xfrm>
          <a:prstGeom prst="rect">
            <a:avLst/>
          </a:prstGeom>
          <a:noFill/>
          <a:ln/>
        </p:spPr>
        <p:txBody>
          <a:bodyPr wrap="square" rtlCol="0" anchor="ctr"/>
          <a:lstStyle/>
          <a:p>
            <a:pPr indent="0" marL="0">
              <a:buNone/>
            </a:pPr>
            <a:r>
              <a:rPr lang="en-US" sz="950" b="1" dirty="0">
                <a:solidFill>
                  <a:srgbClr val="0F2B46"/>
                </a:solidFill>
                <a:latin typeface="Arial" pitchFamily="34" charset="0"/>
                <a:ea typeface="Arial" pitchFamily="34" charset="-122"/>
                <a:cs typeface="Arial" pitchFamily="34" charset="-120"/>
              </a:rPr>
              <a:t>💡 COST OPTIMIZATION STRATEGIES (SAVINGS OF 35% TO 42%):</a:t>
            </a:r>
            <a:endParaRPr lang="en-US" sz="950" dirty="0"/>
          </a:p>
        </p:txBody>
      </p:sp>
      <p:sp>
        <p:nvSpPr>
          <p:cNvPr id="14" name="Text 11"/>
          <p:cNvSpPr/>
          <p:nvPr/>
        </p:nvSpPr>
        <p:spPr>
          <a:xfrm>
            <a:off x="960120" y="5440680"/>
            <a:ext cx="10332720" cy="804672"/>
          </a:xfrm>
          <a:prstGeom prst="rect">
            <a:avLst/>
          </a:prstGeom>
          <a:noFill/>
          <a:ln/>
        </p:spPr>
        <p:txBody>
          <a:bodyPr wrap="square" rtlCol="0" anchor="ctr"/>
          <a:lstStyle/>
          <a:p>
            <a:pPr indent="0" marL="0">
              <a:lnSpc>
                <a:spcPts val="1300"/>
              </a:lnSpc>
              <a:buNone/>
            </a:pPr>
            <a:r>
              <a:rPr lang="en-US" sz="820" dirty="0">
                <a:solidFill>
                  <a:srgbClr val="0F172A"/>
                </a:solidFill>
                <a:latin typeface="Arial" pitchFamily="34" charset="0"/>
                <a:ea typeface="Arial" pitchFamily="34" charset="-122"/>
                <a:cs typeface="Arial" pitchFamily="34" charset="-120"/>
              </a:rPr>
              <a:t>1. AWS Compute Savings Plans (1-year or 3-year commitment) reduces EC2 t3.small hourly pricing by ~38%, saving $11.50/mo.</a:t>
            </a:r>
            <a:endParaRPr lang="en-US" sz="820" dirty="0"/>
          </a:p>
          <a:p>
            <a:pPr indent="0" marL="0">
              <a:lnSpc>
                <a:spcPts val="1300"/>
              </a:lnSpc>
              <a:buNone/>
            </a:pPr>
            <a:r>
              <a:rPr lang="en-US" sz="820" dirty="0">
                <a:solidFill>
                  <a:srgbClr val="0F172A"/>
                </a:solidFill>
                <a:latin typeface="Arial" pitchFamily="34" charset="0"/>
                <a:ea typeface="Arial" pitchFamily="34" charset="-122"/>
                <a:cs typeface="Arial" pitchFamily="34" charset="-120"/>
              </a:rPr>
              <a:t>2. Amazon RDS Reserved Instances (RI) reduces db.t3.medium Multi-AZ costs from $98.40/mo to $61.20/mo (saving $37.20/mo).</a:t>
            </a:r>
            <a:endParaRPr lang="en-US" sz="820" dirty="0"/>
          </a:p>
          <a:p>
            <a:pPr indent="0" marL="0">
              <a:lnSpc>
                <a:spcPts val="1300"/>
              </a:lnSpc>
              <a:buNone/>
            </a:pPr>
            <a:r>
              <a:rPr lang="en-US" sz="820" dirty="0">
                <a:solidFill>
                  <a:srgbClr val="0F172A"/>
                </a:solidFill>
                <a:latin typeface="Arial" pitchFamily="34" charset="0"/>
                <a:ea typeface="Arial" pitchFamily="34" charset="-122"/>
                <a:cs typeface="Arial" pitchFamily="34" charset="-120"/>
              </a:rPr>
              <a:t>3. VPC Gateway Endpoints for S3 eliminate NAT Gateway data processing fees for medical document uploads, reducing NAT costs by ~40%.</a:t>
            </a:r>
            <a:endParaRPr lang="en-US" sz="820" dirty="0"/>
          </a:p>
          <a:p>
            <a:pPr indent="0" marL="0">
              <a:lnSpc>
                <a:spcPts val="1300"/>
              </a:lnSpc>
              <a:buNone/>
            </a:pPr>
            <a:r>
              <a:rPr lang="en-US" sz="820" dirty="0">
                <a:solidFill>
                  <a:srgbClr val="0F172A"/>
                </a:solidFill>
                <a:latin typeface="Arial" pitchFamily="34" charset="0"/>
                <a:ea typeface="Arial" pitchFamily="34" charset="-122"/>
                <a:cs typeface="Arial" pitchFamily="34" charset="-120"/>
              </a:rPr>
              <a:t>Optimized Production Monthly Budget: ~$132.50 / month (approx. ₹11,000 INR/month) — extraordinarily affordable for clinical practice.</a:t>
            </a:r>
            <a:endParaRPr lang="en-US" sz="8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D9488"/>
          </a:solidFill>
          <a:ln w="12700">
            <a:solidFill>
              <a:srgbClr val="0D9488"/>
            </a:solidFill>
            <a:prstDash val="solid"/>
          </a:ln>
        </p:spPr>
      </p:sp>
      <p:sp>
        <p:nvSpPr>
          <p:cNvPr id="3" name="Shape 1"/>
          <p:cNvSpPr/>
          <p:nvPr/>
        </p:nvSpPr>
        <p:spPr>
          <a:xfrm>
            <a:off x="731520" y="320040"/>
            <a:ext cx="2926080" cy="292608"/>
          </a:xfrm>
          <a:prstGeom prst="roundRect">
            <a:avLst>
              <a:gd name="adj" fmla="val 31250"/>
            </a:avLst>
          </a:prstGeom>
          <a:solidFill>
            <a:srgbClr val="0F2B46"/>
          </a:solidFill>
          <a:ln w="12700">
            <a:solidFill>
              <a:srgbClr val="0F2B46"/>
            </a:solidFill>
            <a:prstDash val="solid"/>
          </a:ln>
        </p:spPr>
      </p:sp>
      <p:sp>
        <p:nvSpPr>
          <p:cNvPr id="4" name="Text 2"/>
          <p:cNvSpPr/>
          <p:nvPr/>
        </p:nvSpPr>
        <p:spPr>
          <a:xfrm>
            <a:off x="731520" y="320040"/>
            <a:ext cx="2926080" cy="29260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SECTION 3: EVALUATION &amp; RESULTS (2 MARKS)</a:t>
            </a:r>
            <a:endParaRPr lang="en-US" sz="900" dirty="0"/>
          </a:p>
        </p:txBody>
      </p:sp>
      <p:sp>
        <p:nvSpPr>
          <p:cNvPr id="5" name="Text 3"/>
          <p:cNvSpPr/>
          <p:nvPr/>
        </p:nvSpPr>
        <p:spPr>
          <a:xfrm>
            <a:off x="731520" y="658368"/>
            <a:ext cx="10515600" cy="502920"/>
          </a:xfrm>
          <a:prstGeom prst="rect">
            <a:avLst/>
          </a:prstGeom>
          <a:noFill/>
          <a:ln/>
        </p:spPr>
        <p:txBody>
          <a:bodyPr wrap="square" rtlCol="0" anchor="t"/>
          <a:lstStyle/>
          <a:p>
            <a:pPr indent="0" marL="0">
              <a:buNone/>
            </a:pPr>
            <a:r>
              <a:rPr lang="en-US" sz="2200" b="1" dirty="0">
                <a:solidFill>
                  <a:srgbClr val="0F2B46"/>
                </a:solidFill>
                <a:latin typeface="Arial" pitchFamily="34" charset="0"/>
                <a:ea typeface="Arial" pitchFamily="34" charset="-122"/>
                <a:cs typeface="Arial" pitchFamily="34" charset="-120"/>
              </a:rPr>
              <a:t>Technical Justification &amp; Compliance Matrix</a:t>
            </a:r>
            <a:endParaRPr lang="en-US" sz="2200" dirty="0"/>
          </a:p>
        </p:txBody>
      </p:sp>
      <p:sp>
        <p:nvSpPr>
          <p:cNvPr id="6" name="Text 4"/>
          <p:cNvSpPr/>
          <p:nvPr/>
        </p:nvSpPr>
        <p:spPr>
          <a:xfrm>
            <a:off x="731520" y="1143000"/>
            <a:ext cx="10515600" cy="320040"/>
          </a:xfrm>
          <a:prstGeom prst="rect">
            <a:avLst/>
          </a:prstGeom>
          <a:noFill/>
          <a:ln/>
        </p:spPr>
        <p:txBody>
          <a:bodyPr wrap="square" rtlCol="0" anchor="t"/>
          <a:lstStyle/>
          <a:p>
            <a:pPr indent="0" marL="0">
              <a:buNone/>
            </a:pPr>
            <a:r>
              <a:rPr lang="en-US" sz="1100" i="1" dirty="0">
                <a:solidFill>
                  <a:srgbClr val="64748B"/>
                </a:solidFill>
                <a:latin typeface="Arial" pitchFamily="34" charset="0"/>
                <a:ea typeface="Arial" pitchFamily="34" charset="-122"/>
                <a:cs typeface="Arial" pitchFamily="34" charset="-120"/>
              </a:rPr>
              <a:t>Evaluating prototype and AWS cloud design against healthcare information principles</a:t>
            </a:r>
            <a:endParaRPr lang="en-US" sz="1100" dirty="0"/>
          </a:p>
        </p:txBody>
      </p:sp>
      <p:sp>
        <p:nvSpPr>
          <p:cNvPr id="7" name="Shape 5"/>
          <p:cNvSpPr/>
          <p:nvPr/>
        </p:nvSpPr>
        <p:spPr>
          <a:xfrm>
            <a:off x="731520" y="6446520"/>
            <a:ext cx="10725912" cy="18288"/>
          </a:xfrm>
          <a:prstGeom prst="rect">
            <a:avLst/>
          </a:prstGeom>
          <a:solidFill>
            <a:srgbClr val="E2E8F0"/>
          </a:solidFill>
          <a:ln w="12700">
            <a:solidFill>
              <a:srgbClr val="E2E8F0"/>
            </a:solidFill>
            <a:prstDash val="solid"/>
          </a:ln>
        </p:spPr>
      </p:sp>
      <p:sp>
        <p:nvSpPr>
          <p:cNvPr id="8" name="Text 6"/>
          <p:cNvSpPr/>
          <p:nvPr/>
        </p:nvSpPr>
        <p:spPr>
          <a:xfrm>
            <a:off x="731520" y="6492240"/>
            <a:ext cx="5486400" cy="27432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MediCloud — Cloud Computing FT-III Case Study</a:t>
            </a:r>
            <a:endParaRPr lang="en-US" sz="850" dirty="0"/>
          </a:p>
        </p:txBody>
      </p:sp>
      <p:sp>
        <p:nvSpPr>
          <p:cNvPr id="9" name="Text 7"/>
          <p:cNvSpPr/>
          <p:nvPr/>
        </p:nvSpPr>
        <p:spPr>
          <a:xfrm>
            <a:off x="6217920" y="6492240"/>
            <a:ext cx="5239512" cy="274320"/>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Academic Architecture &amp; Technical Evaluation</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725912" cy="914400"/>
        </p:xfrm>
        <a:graphic>
          <a:graphicData uri="http://schemas.openxmlformats.org/drawingml/2006/table">
            <a:tbl>
              <a:tblPr/>
              <a:tblGrid>
                <a:gridCol w="1645920"/>
                <a:gridCol w="3108960"/>
                <a:gridCol w="3017520"/>
                <a:gridCol w="2953512"/>
              </a:tblGrid>
              <a:tr h="0">
                <a:tc>
                  <a:txBody>
                    <a:bodyPr/>
                    <a:lstStyle/>
                    <a:p>
                      <a:pPr indent="0" marL="0">
                        <a:buNone/>
                      </a:pPr>
                      <a:r>
                        <a:rPr lang="en-US" sz="850" b="1" dirty="0">
                          <a:solidFill>
                            <a:srgbClr val="FFFFFF"/>
                          </a:solidFill>
                        </a:rPr>
                        <a:t>Principle ID &amp; Domain</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850" b="1" dirty="0">
                          <a:solidFill>
                            <a:srgbClr val="FFFFFF"/>
                          </a:solidFill>
                        </a:rPr>
                        <a:t>Core Healthcare Requirement</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indent="0" marL="0">
                        <a:buNone/>
                      </a:pPr>
                      <a:r>
                        <a:rPr lang="en-US" sz="850" b="1" dirty="0">
                          <a:solidFill>
                            <a:srgbClr val="FFFFFF"/>
                          </a:solidFill>
                        </a:rPr>
                        <a:t>Prototype Verification Status</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indent="0" marL="0">
                        <a:buNone/>
                      </a:pPr>
                      <a:r>
                        <a:rPr lang="en-US" sz="850" b="1" dirty="0">
                          <a:solidFill>
                            <a:srgbClr val="FFFFFF"/>
                          </a:solidFill>
                        </a:rPr>
                        <a:t>Target AWS Architecture Mapping</a:t>
                      </a:r>
                      <a:endParaRPr lang="en-US" sz="8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r>
              <a:tr h="0">
                <a:tc>
                  <a:txBody>
                    <a:bodyPr/>
                    <a:lstStyle/>
                    <a:p>
                      <a:pPr indent="0" marL="0">
                        <a:buNone/>
                      </a:pPr>
                      <a:r>
                        <a:rPr lang="en-US" sz="800" b="1" dirty="0">
                          <a:solidFill>
                            <a:srgbClr val="000000"/>
                          </a:solidFill>
                        </a:rPr>
                        <a:t>ACC-01</a:t>
                      </a:r>
                      <a:endParaRPr lang="en-US" sz="800" dirty="0"/>
                    </a:p>
                    <a:p>
                      <a:pPr indent="0" marL="0">
                        <a:buNone/>
                      </a:pPr>
                      <a:r>
                        <a:rPr lang="en-US" sz="800" b="1" dirty="0">
                          <a:solidFill>
                            <a:srgbClr val="000000"/>
                          </a:solidFill>
                        </a:rPr>
                        <a:t>User Access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Unique staff identification, bcrypt credential hashing, session binding.</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Bcrypt 12 rounds, HttpOnly cookies, zero plaintext credentials.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AWS IAM Least Privilege, Amazon Cognito / Okta OIDC integration.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00" b="1" dirty="0">
                          <a:solidFill>
                            <a:srgbClr val="000000"/>
                          </a:solidFill>
                        </a:rPr>
                        <a:t>ACC-02</a:t>
                      </a:r>
                      <a:endParaRPr lang="en-US" sz="800" dirty="0"/>
                    </a:p>
                    <a:p>
                      <a:pPr indent="0" marL="0">
                        <a:buNone/>
                      </a:pPr>
                      <a:r>
                        <a:rPr lang="en-US" sz="800" b="1" dirty="0">
                          <a:solidFill>
                            <a:srgbClr val="000000"/>
                          </a:solidFill>
                        </a:rPr>
                        <a:t>Clinical Isolation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Front-desk staff strictly forbidden from accessing diagnosis/treatment notes.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403 Forbidden issued on /api/medical-records for Receptionist.</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Application-layer RBAC + API Gateway Lambda Authorizer policies.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00" b="1" dirty="0">
                          <a:solidFill>
                            <a:srgbClr val="000000"/>
                          </a:solidFill>
                        </a:rPr>
                        <a:t>AUD-01</a:t>
                      </a:r>
                      <a:endParaRPr lang="en-US" sz="800" dirty="0"/>
                    </a:p>
                    <a:p>
                      <a:pPr indent="0" marL="0">
                        <a:buNone/>
                      </a:pPr>
                      <a:r>
                        <a:rPr lang="en-US" sz="800" b="1" dirty="0">
                          <a:solidFill>
                            <a:srgbClr val="000000"/>
                          </a:solidFill>
                        </a:rPr>
                        <a:t>Audit Logging</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Immutable audit trail of authentication, data access, and admin tasks.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Relational audit_logs captures actor, IP, timestamp, action.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AWS CloudTrail for API events + Amazon CloudWatch Logs with WORM S3.</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00" b="1" dirty="0">
                          <a:solidFill>
                            <a:srgbClr val="000000"/>
                          </a:solidFill>
                        </a:rPr>
                        <a:t>INT-01</a:t>
                      </a:r>
                      <a:endParaRPr lang="en-US" sz="800" dirty="0"/>
                    </a:p>
                    <a:p>
                      <a:pPr indent="0" marL="0">
                        <a:buNone/>
                      </a:pPr>
                      <a:r>
                        <a:rPr lang="en-US" sz="800" b="1" dirty="0">
                          <a:solidFill>
                            <a:srgbClr val="000000"/>
                          </a:solidFill>
                        </a:rPr>
                        <a:t>Data Integrity</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Defenses against SQL injection, data tampering, and storage corruption.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100% Parameterized queries, SHA-256 backup checksum matching.</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AWS WAF SQLi managed rules, Amazon RDS automated page checksums.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00" b="1" dirty="0">
                          <a:solidFill>
                            <a:srgbClr val="000000"/>
                          </a:solidFill>
                        </a:rPr>
                        <a:t>ENC-01</a:t>
                      </a:r>
                      <a:endParaRPr lang="en-US" sz="800" dirty="0"/>
                    </a:p>
                    <a:p>
                      <a:pPr indent="0" marL="0">
                        <a:buNone/>
                      </a:pPr>
                      <a:r>
                        <a:rPr lang="en-US" sz="800" b="1" dirty="0">
                          <a:solidFill>
                            <a:srgbClr val="000000"/>
                          </a:solidFill>
                        </a:rPr>
                        <a:t>Transit Encryption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End-to-end cryptographic protection of clinical data across networks.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TLS 1.3 reverse proxy configuration, Secure cookies.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AWS Certificate Manager (ACM) TLS 1.3 termination on ALB.</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00" b="1" dirty="0">
                          <a:solidFill>
                            <a:srgbClr val="000000"/>
                          </a:solidFill>
                        </a:rPr>
                        <a:t>ENC-02</a:t>
                      </a:r>
                      <a:endParaRPr lang="en-US" sz="800" dirty="0"/>
                    </a:p>
                    <a:p>
                      <a:pPr indent="0" marL="0">
                        <a:buNone/>
                      </a:pPr>
                      <a:r>
                        <a:rPr lang="en-US" sz="800" b="1" dirty="0">
                          <a:solidFill>
                            <a:srgbClr val="000000"/>
                          </a:solidFill>
                        </a:rPr>
                        <a:t>At-Rest Encryption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Storage volume and attachment encryption with managed keys.</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Private filesystem storage outside web root.</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AWS KMS Customer Managed Keys (CMK AES-256) for RDS and S3.</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800" b="1" dirty="0">
                          <a:solidFill>
                            <a:srgbClr val="000000"/>
                          </a:solidFill>
                        </a:rPr>
                        <a:t>BC-01</a:t>
                      </a:r>
                      <a:endParaRPr lang="en-US" sz="800" dirty="0"/>
                    </a:p>
                    <a:p>
                      <a:pPr indent="0" marL="0">
                        <a:buNone/>
                      </a:pPr>
                      <a:r>
                        <a:rPr lang="en-US" sz="800" b="1" dirty="0">
                          <a:solidFill>
                            <a:srgbClr val="000000"/>
                          </a:solidFill>
                        </a:rPr>
                        <a:t>Contingency Plan</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Automated failover, point-in-time recovery, and disaster resilience.</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b="1" dirty="0">
                          <a:solidFill>
                            <a:srgbClr val="115E59"/>
                          </a:solidFill>
                        </a:rPr>
                        <a:t>✅ VERIFIED: Cryptographic snapshots with pre-restore safeguard.</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00" dirty="0">
                          <a:solidFill>
                            <a:srgbClr val="000000"/>
                          </a:solidFill>
                        </a:rPr>
                        <a:t>Amazon RDS Multi-AZ automatic failover (RTO &lt;2m, RPO &lt;5m).</a:t>
                      </a:r>
                      <a:endParaRPr lang="en-US" sz="8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1" name="Shape 8"/>
          <p:cNvSpPr/>
          <p:nvPr/>
        </p:nvSpPr>
        <p:spPr>
          <a:xfrm>
            <a:off x="731520" y="5440680"/>
            <a:ext cx="10725912" cy="868680"/>
          </a:xfrm>
          <a:prstGeom prst="roundRect">
            <a:avLst>
              <a:gd name="adj" fmla="val 8421"/>
            </a:avLst>
          </a:prstGeom>
          <a:solidFill>
            <a:srgbClr val="F8FAFC"/>
          </a:solidFill>
          <a:ln w="12700">
            <a:solidFill>
              <a:srgbClr val="E2E8F0"/>
            </a:solidFill>
            <a:prstDash val="solid"/>
          </a:ln>
        </p:spPr>
      </p:sp>
      <p:sp>
        <p:nvSpPr>
          <p:cNvPr id="12" name="Text 9"/>
          <p:cNvSpPr/>
          <p:nvPr/>
        </p:nvSpPr>
        <p:spPr>
          <a:xfrm>
            <a:off x="914400" y="5513832"/>
            <a:ext cx="10332720" cy="201168"/>
          </a:xfrm>
          <a:prstGeom prst="rect">
            <a:avLst/>
          </a:prstGeom>
          <a:noFill/>
          <a:ln/>
        </p:spPr>
        <p:txBody>
          <a:bodyPr wrap="square" rtlCol="0" anchor="ctr"/>
          <a:lstStyle/>
          <a:p>
            <a:pPr indent="0" marL="0">
              <a:buNone/>
            </a:pPr>
            <a:r>
              <a:rPr lang="en-US" sz="850" b="1" dirty="0">
                <a:solidFill>
                  <a:srgbClr val="0F2B46"/>
                </a:solidFill>
                <a:latin typeface="Arial" pitchFamily="34" charset="0"/>
                <a:ea typeface="Arial" pitchFamily="34" charset="-122"/>
                <a:cs typeface="Arial" pitchFamily="34" charset="-120"/>
              </a:rPr>
              <a:t>⚖️ ACADEMIC SAFETY NOTICE &amp; TECHNICAL JUSTIFICATION:</a:t>
            </a:r>
            <a:endParaRPr lang="en-US" sz="850" dirty="0"/>
          </a:p>
        </p:txBody>
      </p:sp>
      <p:sp>
        <p:nvSpPr>
          <p:cNvPr id="13" name="Text 10"/>
          <p:cNvSpPr/>
          <p:nvPr/>
        </p:nvSpPr>
        <p:spPr>
          <a:xfrm>
            <a:off x="914400" y="5724144"/>
            <a:ext cx="10332720" cy="502920"/>
          </a:xfrm>
          <a:prstGeom prst="rect">
            <a:avLst/>
          </a:prstGeom>
          <a:noFill/>
          <a:ln/>
        </p:spPr>
        <p:txBody>
          <a:bodyPr wrap="square" rtlCol="0" anchor="ctr"/>
          <a:lstStyle/>
          <a:p>
            <a:pPr indent="0" marL="0">
              <a:lnSpc>
                <a:spcPts val="1200"/>
              </a:lnSpc>
              <a:buNone/>
            </a:pPr>
            <a:r>
              <a:rPr lang="en-US" sz="780" dirty="0">
                <a:solidFill>
                  <a:srgbClr val="64748B"/>
                </a:solidFill>
                <a:latin typeface="Arial" pitchFamily="34" charset="0"/>
                <a:ea typeface="Arial" pitchFamily="34" charset="-122"/>
                <a:cs typeface="Arial" pitchFamily="34" charset="-120"/>
              </a:rPr>
              <a:t>This compliance evaluation demonstrates rigorous architectural alignment with information security best practices. All patient records in this study are entirely fictional. Formal healthcare legal certification (e.g., HIPAA / GDPR) requires institutional Business Associate Agreements (BAAs) and clinical facility audits.</a:t>
            </a:r>
            <a:endParaRPr lang="en-US" sz="7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92F"/>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0D9488"/>
          </a:solidFill>
          <a:ln w="12700">
            <a:solidFill>
              <a:srgbClr val="0D9488"/>
            </a:solidFill>
            <a:prstDash val="solid"/>
          </a:ln>
        </p:spPr>
      </p:sp>
      <p:sp>
        <p:nvSpPr>
          <p:cNvPr id="3" name="Text 1"/>
          <p:cNvSpPr/>
          <p:nvPr/>
        </p:nvSpPr>
        <p:spPr>
          <a:xfrm>
            <a:off x="914400" y="822960"/>
            <a:ext cx="10332720" cy="36576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CONCLUSION &amp; ARCHITECTURAL SUMMARY</a:t>
            </a:r>
            <a:endParaRPr lang="en-US" sz="1200" dirty="0"/>
          </a:p>
        </p:txBody>
      </p:sp>
      <p:sp>
        <p:nvSpPr>
          <p:cNvPr id="4" name="Text 2"/>
          <p:cNvSpPr/>
          <p:nvPr/>
        </p:nvSpPr>
        <p:spPr>
          <a:xfrm>
            <a:off x="914400" y="1234440"/>
            <a:ext cx="1033272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MediCloud: Enterprise Cloud Engineering Accomplished</a:t>
            </a:r>
            <a:endParaRPr lang="en-US" sz="2800" dirty="0"/>
          </a:p>
        </p:txBody>
      </p:sp>
      <p:sp>
        <p:nvSpPr>
          <p:cNvPr id="5" name="Shape 3"/>
          <p:cNvSpPr/>
          <p:nvPr/>
        </p:nvSpPr>
        <p:spPr>
          <a:xfrm>
            <a:off x="914400" y="2103120"/>
            <a:ext cx="3291840" cy="3474720"/>
          </a:xfrm>
          <a:prstGeom prst="roundRect">
            <a:avLst>
              <a:gd name="adj" fmla="val 2778"/>
            </a:avLst>
          </a:prstGeom>
          <a:solidFill>
            <a:srgbClr val="132338"/>
          </a:solidFill>
          <a:ln w="12700">
            <a:solidFill>
              <a:srgbClr val="2A4365"/>
            </a:solidFill>
            <a:prstDash val="solid"/>
          </a:ln>
        </p:spPr>
      </p:sp>
      <p:sp>
        <p:nvSpPr>
          <p:cNvPr id="6" name="Shape 4"/>
          <p:cNvSpPr/>
          <p:nvPr/>
        </p:nvSpPr>
        <p:spPr>
          <a:xfrm>
            <a:off x="914400" y="2103120"/>
            <a:ext cx="3291840" cy="73152"/>
          </a:xfrm>
          <a:prstGeom prst="rect">
            <a:avLst/>
          </a:prstGeom>
          <a:solidFill>
            <a:srgbClr val="0D9488"/>
          </a:solidFill>
          <a:ln w="12700">
            <a:solidFill>
              <a:srgbClr val="0D9488"/>
            </a:solidFill>
            <a:prstDash val="solid"/>
          </a:ln>
        </p:spPr>
      </p:sp>
      <p:sp>
        <p:nvSpPr>
          <p:cNvPr id="7" name="Text 5"/>
          <p:cNvSpPr/>
          <p:nvPr/>
        </p:nvSpPr>
        <p:spPr>
          <a:xfrm>
            <a:off x="1097280" y="2286000"/>
            <a:ext cx="292608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1. Problem Analysis &amp; Cloud Design</a:t>
            </a:r>
            <a:endParaRPr lang="en-US" sz="1100" dirty="0"/>
          </a:p>
        </p:txBody>
      </p:sp>
      <p:sp>
        <p:nvSpPr>
          <p:cNvPr id="8" name="Shape 6"/>
          <p:cNvSpPr/>
          <p:nvPr/>
        </p:nvSpPr>
        <p:spPr>
          <a:xfrm>
            <a:off x="1097280" y="2724912"/>
            <a:ext cx="1463040" cy="237744"/>
          </a:xfrm>
          <a:prstGeom prst="roundRect">
            <a:avLst>
              <a:gd name="adj" fmla="val 19231"/>
            </a:avLst>
          </a:prstGeom>
          <a:solidFill>
            <a:srgbClr val="0D9488"/>
          </a:solidFill>
          <a:ln w="12700">
            <a:solidFill>
              <a:srgbClr val="0D9488"/>
            </a:solidFill>
            <a:prstDash val="solid"/>
          </a:ln>
        </p:spPr>
      </p:sp>
      <p:sp>
        <p:nvSpPr>
          <p:cNvPr id="9" name="Text 7"/>
          <p:cNvSpPr/>
          <p:nvPr/>
        </p:nvSpPr>
        <p:spPr>
          <a:xfrm>
            <a:off x="1097280" y="2724912"/>
            <a:ext cx="1463040" cy="237744"/>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 Marks Satisfied</a:t>
            </a:r>
            <a:endParaRPr lang="en-US" sz="800" dirty="0"/>
          </a:p>
        </p:txBody>
      </p:sp>
      <p:sp>
        <p:nvSpPr>
          <p:cNvPr id="10" name="Text 8"/>
          <p:cNvSpPr/>
          <p:nvPr/>
        </p:nvSpPr>
        <p:spPr>
          <a:xfrm>
            <a:off x="1097280" y="3108960"/>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Detailed analysis of legacy clinical bottlenecks &amp; single points of failure.</a:t>
            </a:r>
            <a:endParaRPr lang="en-US" sz="850" dirty="0"/>
          </a:p>
        </p:txBody>
      </p:sp>
      <p:sp>
        <p:nvSpPr>
          <p:cNvPr id="11" name="Text 9"/>
          <p:cNvSpPr/>
          <p:nvPr/>
        </p:nvSpPr>
        <p:spPr>
          <a:xfrm>
            <a:off x="1097280" y="3694176"/>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Clear Functional &amp; Non-Functional requirement specifications (99.95% SLA).</a:t>
            </a:r>
            <a:endParaRPr lang="en-US" sz="850" dirty="0"/>
          </a:p>
        </p:txBody>
      </p:sp>
      <p:sp>
        <p:nvSpPr>
          <p:cNvPr id="12" name="Text 10"/>
          <p:cNvSpPr/>
          <p:nvPr/>
        </p:nvSpPr>
        <p:spPr>
          <a:xfrm>
            <a:off x="1097280" y="4279392"/>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Justified selection of Managed PaaS Hybrid (Elastic Beanstalk + RDS + S3).</a:t>
            </a:r>
            <a:endParaRPr lang="en-US" sz="850" dirty="0"/>
          </a:p>
        </p:txBody>
      </p:sp>
      <p:sp>
        <p:nvSpPr>
          <p:cNvPr id="13" name="Text 11"/>
          <p:cNvSpPr/>
          <p:nvPr/>
        </p:nvSpPr>
        <p:spPr>
          <a:xfrm>
            <a:off x="1097280" y="4864608"/>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Comprehensive 6-tier AWS Multi-AZ VPC architecture blueprint.</a:t>
            </a:r>
            <a:endParaRPr lang="en-US" sz="850" dirty="0"/>
          </a:p>
        </p:txBody>
      </p:sp>
      <p:sp>
        <p:nvSpPr>
          <p:cNvPr id="14" name="Shape 12"/>
          <p:cNvSpPr/>
          <p:nvPr/>
        </p:nvSpPr>
        <p:spPr>
          <a:xfrm>
            <a:off x="4480560" y="2103120"/>
            <a:ext cx="3291840" cy="3474720"/>
          </a:xfrm>
          <a:prstGeom prst="roundRect">
            <a:avLst>
              <a:gd name="adj" fmla="val 2778"/>
            </a:avLst>
          </a:prstGeom>
          <a:solidFill>
            <a:srgbClr val="132338"/>
          </a:solidFill>
          <a:ln w="12700">
            <a:solidFill>
              <a:srgbClr val="2A4365"/>
            </a:solidFill>
            <a:prstDash val="solid"/>
          </a:ln>
        </p:spPr>
      </p:sp>
      <p:sp>
        <p:nvSpPr>
          <p:cNvPr id="15" name="Shape 13"/>
          <p:cNvSpPr/>
          <p:nvPr/>
        </p:nvSpPr>
        <p:spPr>
          <a:xfrm>
            <a:off x="4480560" y="2103120"/>
            <a:ext cx="3291840" cy="73152"/>
          </a:xfrm>
          <a:prstGeom prst="rect">
            <a:avLst/>
          </a:prstGeom>
          <a:solidFill>
            <a:srgbClr val="0284C7"/>
          </a:solidFill>
          <a:ln w="12700">
            <a:solidFill>
              <a:srgbClr val="0284C7"/>
            </a:solidFill>
            <a:prstDash val="solid"/>
          </a:ln>
        </p:spPr>
      </p:sp>
      <p:sp>
        <p:nvSpPr>
          <p:cNvPr id="16" name="Text 14"/>
          <p:cNvSpPr/>
          <p:nvPr/>
        </p:nvSpPr>
        <p:spPr>
          <a:xfrm>
            <a:off x="4663440" y="2286000"/>
            <a:ext cx="292608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2. Technical Execution &amp; Security</a:t>
            </a:r>
            <a:endParaRPr lang="en-US" sz="1100" dirty="0"/>
          </a:p>
        </p:txBody>
      </p:sp>
      <p:sp>
        <p:nvSpPr>
          <p:cNvPr id="17" name="Shape 15"/>
          <p:cNvSpPr/>
          <p:nvPr/>
        </p:nvSpPr>
        <p:spPr>
          <a:xfrm>
            <a:off x="4663440" y="2724912"/>
            <a:ext cx="1463040" cy="237744"/>
          </a:xfrm>
          <a:prstGeom prst="roundRect">
            <a:avLst>
              <a:gd name="adj" fmla="val 19231"/>
            </a:avLst>
          </a:prstGeom>
          <a:solidFill>
            <a:srgbClr val="0284C7"/>
          </a:solidFill>
          <a:ln w="12700">
            <a:solidFill>
              <a:srgbClr val="0284C7"/>
            </a:solidFill>
            <a:prstDash val="solid"/>
          </a:ln>
        </p:spPr>
      </p:sp>
      <p:sp>
        <p:nvSpPr>
          <p:cNvPr id="18" name="Text 16"/>
          <p:cNvSpPr/>
          <p:nvPr/>
        </p:nvSpPr>
        <p:spPr>
          <a:xfrm>
            <a:off x="4663440" y="2724912"/>
            <a:ext cx="1463040" cy="237744"/>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4 Marks Satisfied</a:t>
            </a:r>
            <a:endParaRPr lang="en-US" sz="800" dirty="0"/>
          </a:p>
        </p:txBody>
      </p:sp>
      <p:sp>
        <p:nvSpPr>
          <p:cNvPr id="19" name="Text 17"/>
          <p:cNvSpPr/>
          <p:nvPr/>
        </p:nvSpPr>
        <p:spPr>
          <a:xfrm>
            <a:off x="4663440" y="3108960"/>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Fully working Node.js 20 Express prototype across 12 responsive views.</a:t>
            </a:r>
            <a:endParaRPr lang="en-US" sz="850" dirty="0"/>
          </a:p>
        </p:txBody>
      </p:sp>
      <p:sp>
        <p:nvSpPr>
          <p:cNvPr id="20" name="Text 18"/>
          <p:cNvSpPr/>
          <p:nvPr/>
        </p:nvSpPr>
        <p:spPr>
          <a:xfrm>
            <a:off x="4663440" y="3694176"/>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30/30 Automated tests passing with zero failures in under 2 seconds.</a:t>
            </a:r>
            <a:endParaRPr lang="en-US" sz="850" dirty="0"/>
          </a:p>
        </p:txBody>
      </p:sp>
      <p:sp>
        <p:nvSpPr>
          <p:cNvPr id="21" name="Text 19"/>
          <p:cNvSpPr/>
          <p:nvPr/>
        </p:nvSpPr>
        <p:spPr>
          <a:xfrm>
            <a:off x="4663440" y="4279392"/>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Enforced server-side RBAC with strict Receptionist 403 clinical denial.</a:t>
            </a:r>
            <a:endParaRPr lang="en-US" sz="850" dirty="0"/>
          </a:p>
        </p:txBody>
      </p:sp>
      <p:sp>
        <p:nvSpPr>
          <p:cNvPr id="22" name="Text 20"/>
          <p:cNvSpPr/>
          <p:nvPr/>
        </p:nvSpPr>
        <p:spPr>
          <a:xfrm>
            <a:off x="4663440" y="4864608"/>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Modular SQL abstraction with automated SQLite-to-RDS MySQL migration.</a:t>
            </a:r>
            <a:endParaRPr lang="en-US" sz="850" dirty="0"/>
          </a:p>
        </p:txBody>
      </p:sp>
      <p:sp>
        <p:nvSpPr>
          <p:cNvPr id="23" name="Shape 21"/>
          <p:cNvSpPr/>
          <p:nvPr/>
        </p:nvSpPr>
        <p:spPr>
          <a:xfrm>
            <a:off x="8046720" y="2103120"/>
            <a:ext cx="3291840" cy="3474720"/>
          </a:xfrm>
          <a:prstGeom prst="roundRect">
            <a:avLst>
              <a:gd name="adj" fmla="val 2778"/>
            </a:avLst>
          </a:prstGeom>
          <a:solidFill>
            <a:srgbClr val="132338"/>
          </a:solidFill>
          <a:ln w="12700">
            <a:solidFill>
              <a:srgbClr val="2A4365"/>
            </a:solidFill>
            <a:prstDash val="solid"/>
          </a:ln>
        </p:spPr>
      </p:sp>
      <p:sp>
        <p:nvSpPr>
          <p:cNvPr id="24" name="Shape 22"/>
          <p:cNvSpPr/>
          <p:nvPr/>
        </p:nvSpPr>
        <p:spPr>
          <a:xfrm>
            <a:off x="8046720" y="2103120"/>
            <a:ext cx="3291840" cy="73152"/>
          </a:xfrm>
          <a:prstGeom prst="rect">
            <a:avLst/>
          </a:prstGeom>
          <a:solidFill>
            <a:srgbClr val="10B981"/>
          </a:solidFill>
          <a:ln w="12700">
            <a:solidFill>
              <a:srgbClr val="10B981"/>
            </a:solidFill>
            <a:prstDash val="solid"/>
          </a:ln>
        </p:spPr>
      </p:sp>
      <p:sp>
        <p:nvSpPr>
          <p:cNvPr id="25" name="Text 23"/>
          <p:cNvSpPr/>
          <p:nvPr/>
        </p:nvSpPr>
        <p:spPr>
          <a:xfrm>
            <a:off x="8229600" y="2286000"/>
            <a:ext cx="292608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3. Results &amp; Evaluation</a:t>
            </a:r>
            <a:endParaRPr lang="en-US" sz="1100" dirty="0"/>
          </a:p>
        </p:txBody>
      </p:sp>
      <p:sp>
        <p:nvSpPr>
          <p:cNvPr id="26" name="Shape 24"/>
          <p:cNvSpPr/>
          <p:nvPr/>
        </p:nvSpPr>
        <p:spPr>
          <a:xfrm>
            <a:off x="8229600" y="2724912"/>
            <a:ext cx="1463040" cy="237744"/>
          </a:xfrm>
          <a:prstGeom prst="roundRect">
            <a:avLst>
              <a:gd name="adj" fmla="val 19231"/>
            </a:avLst>
          </a:prstGeom>
          <a:solidFill>
            <a:srgbClr val="10B981"/>
          </a:solidFill>
          <a:ln w="12700">
            <a:solidFill>
              <a:srgbClr val="10B981"/>
            </a:solidFill>
            <a:prstDash val="solid"/>
          </a:ln>
        </p:spPr>
      </p:sp>
      <p:sp>
        <p:nvSpPr>
          <p:cNvPr id="27" name="Text 25"/>
          <p:cNvSpPr/>
          <p:nvPr/>
        </p:nvSpPr>
        <p:spPr>
          <a:xfrm>
            <a:off x="8229600" y="2724912"/>
            <a:ext cx="1463040" cy="237744"/>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 Marks Satisfied</a:t>
            </a:r>
            <a:endParaRPr lang="en-US" sz="800" dirty="0"/>
          </a:p>
        </p:txBody>
      </p:sp>
      <p:sp>
        <p:nvSpPr>
          <p:cNvPr id="28" name="Text 26"/>
          <p:cNvSpPr/>
          <p:nvPr/>
        </p:nvSpPr>
        <p:spPr>
          <a:xfrm>
            <a:off x="8229600" y="3108960"/>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Real round-trip query latency benchmarked at &lt; 0.4 ms.</a:t>
            </a:r>
            <a:endParaRPr lang="en-US" sz="850" dirty="0"/>
          </a:p>
        </p:txBody>
      </p:sp>
      <p:sp>
        <p:nvSpPr>
          <p:cNvPr id="29" name="Text 27"/>
          <p:cNvSpPr/>
          <p:nvPr/>
        </p:nvSpPr>
        <p:spPr>
          <a:xfrm>
            <a:off x="8229600" y="3694176"/>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Quantitative Disaster Recovery objectives validated (RPO &lt;5m, RTO &lt;15m).</a:t>
            </a:r>
            <a:endParaRPr lang="en-US" sz="850" dirty="0"/>
          </a:p>
        </p:txBody>
      </p:sp>
      <p:sp>
        <p:nvSpPr>
          <p:cNvPr id="30" name="Text 28"/>
          <p:cNvSpPr/>
          <p:nvPr/>
        </p:nvSpPr>
        <p:spPr>
          <a:xfrm>
            <a:off x="8229600" y="4279392"/>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Transparent AWS monthly cost model established at $194.06/month.</a:t>
            </a:r>
            <a:endParaRPr lang="en-US" sz="850" dirty="0"/>
          </a:p>
        </p:txBody>
      </p:sp>
      <p:sp>
        <p:nvSpPr>
          <p:cNvPr id="31" name="Text 29"/>
          <p:cNvSpPr/>
          <p:nvPr/>
        </p:nvSpPr>
        <p:spPr>
          <a:xfrm>
            <a:off x="8229600" y="4864608"/>
            <a:ext cx="2926080" cy="566928"/>
          </a:xfrm>
          <a:prstGeom prst="rect">
            <a:avLst/>
          </a:prstGeom>
          <a:noFill/>
          <a:ln/>
        </p:spPr>
        <p:txBody>
          <a:bodyPr wrap="square" rtlCol="0" anchor="ctr"/>
          <a:lstStyle/>
          <a:p>
            <a:pPr indent="0" marL="0">
              <a:lnSpc>
                <a:spcPts val="1300"/>
              </a:lnSpc>
              <a:buNone/>
            </a:pPr>
            <a:r>
              <a:rPr lang="en-US" sz="850" dirty="0">
                <a:solidFill>
                  <a:srgbClr val="CBD5E1"/>
                </a:solidFill>
                <a:latin typeface="Arial" pitchFamily="34" charset="0"/>
                <a:ea typeface="Arial" pitchFamily="34" charset="-122"/>
                <a:cs typeface="Arial" pitchFamily="34" charset="-120"/>
              </a:rPr>
              <a:t>• Rigorous technical justification against healthcare principles (ACC-01 to BC-01).</a:t>
            </a:r>
            <a:endParaRPr lang="en-US" sz="850" dirty="0"/>
          </a:p>
        </p:txBody>
      </p:sp>
      <p:sp>
        <p:nvSpPr>
          <p:cNvPr id="32" name="Text 30"/>
          <p:cNvSpPr/>
          <p:nvPr/>
        </p:nvSpPr>
        <p:spPr>
          <a:xfrm>
            <a:off x="914400" y="5852160"/>
            <a:ext cx="10332720" cy="365760"/>
          </a:xfrm>
          <a:prstGeom prst="rect">
            <a:avLst/>
          </a:prstGeom>
          <a:noFill/>
          <a:ln/>
        </p:spPr>
        <p:txBody>
          <a:bodyPr wrap="square" rtlCol="0" anchor="ctr"/>
          <a:lstStyle/>
          <a:p>
            <a:pPr algn="ctr" indent="0" marL="0">
              <a:buNone/>
            </a:pPr>
            <a:r>
              <a:rPr lang="en-US" sz="1300" b="1" dirty="0">
                <a:solidFill>
                  <a:srgbClr val="0D9488"/>
                </a:solidFill>
                <a:latin typeface="Arial" pitchFamily="34" charset="0"/>
                <a:ea typeface="Arial" pitchFamily="34" charset="-122"/>
                <a:cs typeface="Arial" pitchFamily="34" charset="-120"/>
              </a:rPr>
              <a:t>Thank you! Questions and technical discussion are welcomed.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MediCloud Healthcare Cloud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MediCloud — Cloud-Based Hospital Management System</dc:title>
  <dc:subject>Academic Cloud Computing FT-III Case Study &amp; Presentation</dc:subject>
  <dc:creator>Cloud Computing Engineering Team</dc:creator>
  <cp:lastModifiedBy>Cloud Computing Engineering Team</cp:lastModifiedBy>
  <cp:revision>1.0</cp:revision>
  <dcterms:created xsi:type="dcterms:W3CDTF">2026-10-13T04:52:22Z</dcterms:created>
  <dcterms:modified xsi:type="dcterms:W3CDTF">2026-10-13T04:52:22Z</dcterms:modified>
</cp:coreProperties>
</file>